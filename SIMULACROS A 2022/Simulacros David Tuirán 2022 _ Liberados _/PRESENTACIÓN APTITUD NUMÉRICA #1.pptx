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League Spartan" charset="1" panose="00000800000000000000"/>
      <p:regular r:id="rId10"/>
    </p:embeddedFont>
    <p:embeddedFont>
      <p:font typeface="Quicksand" charset="1" panose="00000600000000000000"/>
      <p:regular r:id="rId11"/>
    </p:embeddedFont>
    <p:embeddedFont>
      <p:font typeface="Quicksand Bold" charset="1" panose="000008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slides/slide1.xml" Type="http://schemas.openxmlformats.org/officeDocument/2006/relationships/slide"/><Relationship Id="rId14" Target="slides/slide2.xml" Type="http://schemas.openxmlformats.org/officeDocument/2006/relationships/slide"/><Relationship Id="rId15" Target="slides/slide3.xml" Type="http://schemas.openxmlformats.org/officeDocument/2006/relationships/slide"/><Relationship Id="rId16" Target="slides/slide4.xml" Type="http://schemas.openxmlformats.org/officeDocument/2006/relationships/slide"/><Relationship Id="rId17" Target="slides/slide5.xml" Type="http://schemas.openxmlformats.org/officeDocument/2006/relationships/slide"/><Relationship Id="rId18" Target="slides/slide6.xml" Type="http://schemas.openxmlformats.org/officeDocument/2006/relationships/slide"/><Relationship Id="rId19" Target="slides/slide7.xml" Type="http://schemas.openxmlformats.org/officeDocument/2006/relationships/slide"/><Relationship Id="rId2" Target="presProps.xml" Type="http://schemas.openxmlformats.org/officeDocument/2006/relationships/presProps"/><Relationship Id="rId20" Target="slides/slide8.xml" Type="http://schemas.openxmlformats.org/officeDocument/2006/relationships/slide"/><Relationship Id="rId21" Target="slides/slide9.xml" Type="http://schemas.openxmlformats.org/officeDocument/2006/relationships/slide"/><Relationship Id="rId22" Target="slides/slide10.xml" Type="http://schemas.openxmlformats.org/officeDocument/2006/relationships/slide"/><Relationship Id="rId23" Target="slides/slide11.xml" Type="http://schemas.openxmlformats.org/officeDocument/2006/relationships/slide"/><Relationship Id="rId24" Target="slides/slide12.xml" Type="http://schemas.openxmlformats.org/officeDocument/2006/relationships/slide"/><Relationship Id="rId25" Target="slides/slide13.xml" Type="http://schemas.openxmlformats.org/officeDocument/2006/relationships/slide"/><Relationship Id="rId26" Target="slides/slide14.xml" Type="http://schemas.openxmlformats.org/officeDocument/2006/relationships/slide"/><Relationship Id="rId27" Target="slides/slide15.xml" Type="http://schemas.openxmlformats.org/officeDocument/2006/relationships/slide"/><Relationship Id="rId28" Target="slides/slide16.xml" Type="http://schemas.openxmlformats.org/officeDocument/2006/relationships/slide"/><Relationship Id="rId29" Target="slides/slide17.xml" Type="http://schemas.openxmlformats.org/officeDocument/2006/relationships/slide"/><Relationship Id="rId3" Target="viewProps.xml" Type="http://schemas.openxmlformats.org/officeDocument/2006/relationships/viewProps"/><Relationship Id="rId30" Target="slides/slide18.xml" Type="http://schemas.openxmlformats.org/officeDocument/2006/relationships/slide"/><Relationship Id="rId31" Target="slides/slide19.xml" Type="http://schemas.openxmlformats.org/officeDocument/2006/relationships/slide"/><Relationship Id="rId32" Target="slides/slide20.xml" Type="http://schemas.openxmlformats.org/officeDocument/2006/relationships/slide"/><Relationship Id="rId33" Target="slides/slide21.xml" Type="http://schemas.openxmlformats.org/officeDocument/2006/relationships/slide"/><Relationship Id="rId34" Target="slides/slide22.xml" Type="http://schemas.openxmlformats.org/officeDocument/2006/relationships/slide"/><Relationship Id="rId35" Target="slides/slide23.xml" Type="http://schemas.openxmlformats.org/officeDocument/2006/relationships/slide"/><Relationship Id="rId36" Target="slides/slide24.xml" Type="http://schemas.openxmlformats.org/officeDocument/2006/relationships/slide"/><Relationship Id="rId37" Target="slides/slide25.xml" Type="http://schemas.openxmlformats.org/officeDocument/2006/relationships/slide"/><Relationship Id="rId38" Target="slides/slide26.xml" Type="http://schemas.openxmlformats.org/officeDocument/2006/relationships/slide"/><Relationship Id="rId39" Target="slides/slide27.xml" Type="http://schemas.openxmlformats.org/officeDocument/2006/relationships/slide"/><Relationship Id="rId4" Target="theme/theme1.xml" Type="http://schemas.openxmlformats.org/officeDocument/2006/relationships/theme"/><Relationship Id="rId40" Target="slides/slide28.xml" Type="http://schemas.openxmlformats.org/officeDocument/2006/relationships/slide"/><Relationship Id="rId41" Target="slides/slide29.xml" Type="http://schemas.openxmlformats.org/officeDocument/2006/relationships/slide"/><Relationship Id="rId42" Target="slides/slide30.xml" Type="http://schemas.openxmlformats.org/officeDocument/2006/relationships/slide"/><Relationship Id="rId43" Target="slides/slide31.xml" Type="http://schemas.openxmlformats.org/officeDocument/2006/relationships/slide"/><Relationship Id="rId44" Target="slides/slide32.xml" Type="http://schemas.openxmlformats.org/officeDocument/2006/relationships/slide"/><Relationship Id="rId45" Target="slides/slide33.xml" Type="http://schemas.openxmlformats.org/officeDocument/2006/relationships/slid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2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3486215">
            <a:off x="14264700" y="-1534787"/>
            <a:ext cx="4677353" cy="5739084"/>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2887680">
            <a:off x="-532557" y="-1349864"/>
            <a:ext cx="5026146" cy="6340322"/>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205189" y="5979780"/>
            <a:ext cx="4208766" cy="487972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0">
            <a:off x="3802002" y="2461984"/>
            <a:ext cx="5026146" cy="6340322"/>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0" t="0" r="0" b="0"/>
          <a:stretch>
            <a:fillRect/>
          </a:stretch>
        </p:blipFill>
        <p:spPr>
          <a:xfrm flipH="false" flipV="false" rot="0">
            <a:off x="12323785" y="4800515"/>
            <a:ext cx="6166915" cy="6058994"/>
          </a:xfrm>
          <a:prstGeom prst="rect">
            <a:avLst/>
          </a:prstGeom>
        </p:spPr>
      </p:pic>
      <p:pic>
        <p:nvPicPr>
          <p:cNvPr name="Picture 7" id="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0" t="0" r="0" b="0"/>
          <a:stretch>
            <a:fillRect/>
          </a:stretch>
        </p:blipFill>
        <p:spPr>
          <a:xfrm flipH="false" flipV="false" rot="-3277726">
            <a:off x="7112652" y="-2136520"/>
            <a:ext cx="6419936" cy="7913635"/>
          </a:xfrm>
          <a:prstGeom prst="rect">
            <a:avLst/>
          </a:prstGeom>
        </p:spPr>
      </p:pic>
      <p:grpSp>
        <p:nvGrpSpPr>
          <p:cNvPr name="Group 8" id="8"/>
          <p:cNvGrpSpPr/>
          <p:nvPr/>
        </p:nvGrpSpPr>
        <p:grpSpPr>
          <a:xfrm rot="0">
            <a:off x="4485341" y="2314575"/>
            <a:ext cx="9317319" cy="5657850"/>
            <a:chOff x="0" y="0"/>
            <a:chExt cx="3151784" cy="1913890"/>
          </a:xfrm>
        </p:grpSpPr>
        <p:sp>
          <p:nvSpPr>
            <p:cNvPr name="Freeform 9" id="9"/>
            <p:cNvSpPr/>
            <p:nvPr/>
          </p:nvSpPr>
          <p:spPr>
            <a:xfrm>
              <a:off x="0" y="0"/>
              <a:ext cx="3151784" cy="1913890"/>
            </a:xfrm>
            <a:custGeom>
              <a:avLst/>
              <a:gdLst/>
              <a:ahLst/>
              <a:cxnLst/>
              <a:rect r="r" b="b" t="t" l="l"/>
              <a:pathLst>
                <a:path h="1913890" w="3151784">
                  <a:moveTo>
                    <a:pt x="0" y="0"/>
                  </a:moveTo>
                  <a:lnTo>
                    <a:pt x="3151784" y="0"/>
                  </a:lnTo>
                  <a:lnTo>
                    <a:pt x="3151784" y="1913890"/>
                  </a:lnTo>
                  <a:lnTo>
                    <a:pt x="0" y="1913890"/>
                  </a:lnTo>
                  <a:close/>
                </a:path>
              </a:pathLst>
            </a:custGeom>
            <a:solidFill>
              <a:srgbClr val="FFFFFF"/>
            </a:solidFill>
          </p:spPr>
        </p:sp>
      </p:grpSp>
      <p:pic>
        <p:nvPicPr>
          <p:cNvPr name="Picture 10" id="10"/>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0" t="0" r="0" b="0"/>
          <a:stretch>
            <a:fillRect/>
          </a:stretch>
        </p:blipFill>
        <p:spPr>
          <a:xfrm flipH="true" flipV="true" rot="0">
            <a:off x="5237998" y="8419644"/>
            <a:ext cx="6432830" cy="6167476"/>
          </a:xfrm>
          <a:prstGeom prst="rect">
            <a:avLst/>
          </a:prstGeom>
        </p:spPr>
      </p:pic>
      <p:sp>
        <p:nvSpPr>
          <p:cNvPr name="TextBox 11" id="11"/>
          <p:cNvSpPr txBox="true"/>
          <p:nvPr/>
        </p:nvSpPr>
        <p:spPr>
          <a:xfrm rot="0">
            <a:off x="4485341" y="2674605"/>
            <a:ext cx="9432955" cy="3305175"/>
          </a:xfrm>
          <a:prstGeom prst="rect">
            <a:avLst/>
          </a:prstGeom>
        </p:spPr>
        <p:txBody>
          <a:bodyPr anchor="t" rtlCol="false" tIns="0" lIns="0" bIns="0" rIns="0">
            <a:spAutoFit/>
          </a:bodyPr>
          <a:lstStyle/>
          <a:p>
            <a:pPr algn="ctr">
              <a:lnSpc>
                <a:spcPts val="13073"/>
              </a:lnSpc>
            </a:pPr>
            <a:r>
              <a:rPr lang="en-US" spc="926" sz="10894">
                <a:solidFill>
                  <a:srgbClr val="000000"/>
                </a:solidFill>
                <a:latin typeface="League Spartan"/>
              </a:rPr>
              <a:t>APTITUD NUMÉRICA</a:t>
            </a:r>
          </a:p>
        </p:txBody>
      </p:sp>
      <p:sp>
        <p:nvSpPr>
          <p:cNvPr name="TextBox 12" id="12"/>
          <p:cNvSpPr txBox="true"/>
          <p:nvPr/>
        </p:nvSpPr>
        <p:spPr>
          <a:xfrm rot="0">
            <a:off x="4485341" y="7031358"/>
            <a:ext cx="9317319" cy="418336"/>
          </a:xfrm>
          <a:prstGeom prst="rect">
            <a:avLst/>
          </a:prstGeom>
        </p:spPr>
        <p:txBody>
          <a:bodyPr anchor="t" rtlCol="false" tIns="0" lIns="0" bIns="0" rIns="0">
            <a:spAutoFit/>
          </a:bodyPr>
          <a:lstStyle/>
          <a:p>
            <a:pPr algn="ctr">
              <a:lnSpc>
                <a:spcPts val="2765"/>
              </a:lnSpc>
            </a:pPr>
            <a:r>
              <a:rPr lang="en-US" spc="336" sz="4320">
                <a:solidFill>
                  <a:srgbClr val="000000"/>
                </a:solidFill>
                <a:latin typeface="Quicksand"/>
              </a:rPr>
              <a:t>DOCENTE: DARWIN VIVIESCAS</a:t>
            </a:r>
          </a:p>
        </p:txBody>
      </p:sp>
      <p:pic>
        <p:nvPicPr>
          <p:cNvPr name="Picture 13" id="13"/>
          <p:cNvPicPr>
            <a:picLocks noChangeAspect="true"/>
          </p:cNvPicPr>
          <p:nvPr/>
        </p:nvPicPr>
        <p:blipFill>
          <a:blip r:embed="rId16"/>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38445" y="1427070"/>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47870" y="1427070"/>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45500" y="1938206"/>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35452" y="1764873"/>
            <a:ext cx="1581111"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3247870" y="3251952"/>
            <a:ext cx="11792260" cy="3191548"/>
            <a:chOff x="0" y="0"/>
            <a:chExt cx="3988987" cy="1079610"/>
          </a:xfrm>
        </p:grpSpPr>
        <p:sp>
          <p:nvSpPr>
            <p:cNvPr name="Freeform 26" id="26"/>
            <p:cNvSpPr/>
            <p:nvPr/>
          </p:nvSpPr>
          <p:spPr>
            <a:xfrm>
              <a:off x="0" y="0"/>
              <a:ext cx="3988987" cy="1079610"/>
            </a:xfrm>
            <a:custGeom>
              <a:avLst/>
              <a:gdLst/>
              <a:ahLst/>
              <a:cxnLst/>
              <a:rect r="r" b="b" t="t" l="l"/>
              <a:pathLst>
                <a:path h="1079610" w="3988987">
                  <a:moveTo>
                    <a:pt x="0" y="0"/>
                  </a:moveTo>
                  <a:lnTo>
                    <a:pt x="3988987" y="0"/>
                  </a:lnTo>
                  <a:lnTo>
                    <a:pt x="3988987" y="1079610"/>
                  </a:lnTo>
                  <a:lnTo>
                    <a:pt x="0" y="1079610"/>
                  </a:lnTo>
                  <a:close/>
                </a:path>
              </a:pathLst>
            </a:custGeom>
            <a:solidFill>
              <a:srgbClr val="FFFFFF"/>
            </a:solidFill>
          </p:spPr>
        </p:sp>
      </p:grpSp>
      <p:sp>
        <p:nvSpPr>
          <p:cNvPr name="TextBox 27" id="27"/>
          <p:cNvSpPr txBox="true"/>
          <p:nvPr/>
        </p:nvSpPr>
        <p:spPr>
          <a:xfrm rot="0">
            <a:off x="3699845" y="3807758"/>
            <a:ext cx="10922816" cy="2195618"/>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Carlos corre diariamente 8 kilómetros, Juan corre 6 kilómetros y María corre el 60% del promedio de Juan y Carlos. ¿Cuánto corre María en 5 días?</a:t>
            </a:r>
          </a:p>
        </p:txBody>
      </p:sp>
      <p:sp>
        <p:nvSpPr>
          <p:cNvPr name="TextBox 28" id="28"/>
          <p:cNvSpPr txBox="true"/>
          <p:nvPr/>
        </p:nvSpPr>
        <p:spPr>
          <a:xfrm rot="0">
            <a:off x="3393671" y="8458375"/>
            <a:ext cx="2301204"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35 Km</a:t>
            </a:r>
          </a:p>
        </p:txBody>
      </p:sp>
      <p:sp>
        <p:nvSpPr>
          <p:cNvPr name="TextBox 29" id="29"/>
          <p:cNvSpPr txBox="true"/>
          <p:nvPr/>
        </p:nvSpPr>
        <p:spPr>
          <a:xfrm rot="0">
            <a:off x="6466095" y="8458375"/>
            <a:ext cx="2289324"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38 Km</a:t>
            </a:r>
          </a:p>
        </p:txBody>
      </p:sp>
      <p:sp>
        <p:nvSpPr>
          <p:cNvPr name="TextBox 30" id="30"/>
          <p:cNvSpPr txBox="true"/>
          <p:nvPr/>
        </p:nvSpPr>
        <p:spPr>
          <a:xfrm rot="0">
            <a:off x="9659337" y="8458375"/>
            <a:ext cx="2242549"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21 Km</a:t>
            </a:r>
          </a:p>
        </p:txBody>
      </p:sp>
      <p:sp>
        <p:nvSpPr>
          <p:cNvPr name="TextBox 31" id="31"/>
          <p:cNvSpPr txBox="true"/>
          <p:nvPr/>
        </p:nvSpPr>
        <p:spPr>
          <a:xfrm rot="0">
            <a:off x="12599065" y="8458375"/>
            <a:ext cx="2289324"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42 Km</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38445" y="1427070"/>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47870" y="1427070"/>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45500" y="1938206"/>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35452" y="1757917"/>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3247870" y="3251952"/>
            <a:ext cx="11792260" cy="3191548"/>
            <a:chOff x="0" y="0"/>
            <a:chExt cx="3988987" cy="1079610"/>
          </a:xfrm>
        </p:grpSpPr>
        <p:sp>
          <p:nvSpPr>
            <p:cNvPr name="Freeform 26" id="26"/>
            <p:cNvSpPr/>
            <p:nvPr/>
          </p:nvSpPr>
          <p:spPr>
            <a:xfrm>
              <a:off x="0" y="0"/>
              <a:ext cx="3988987" cy="1079610"/>
            </a:xfrm>
            <a:custGeom>
              <a:avLst/>
              <a:gdLst/>
              <a:ahLst/>
              <a:cxnLst/>
              <a:rect r="r" b="b" t="t" l="l"/>
              <a:pathLst>
                <a:path h="1079610" w="3988987">
                  <a:moveTo>
                    <a:pt x="0" y="0"/>
                  </a:moveTo>
                  <a:lnTo>
                    <a:pt x="3988987" y="0"/>
                  </a:lnTo>
                  <a:lnTo>
                    <a:pt x="3988987" y="1079610"/>
                  </a:lnTo>
                  <a:lnTo>
                    <a:pt x="0" y="1079610"/>
                  </a:lnTo>
                  <a:close/>
                </a:path>
              </a:pathLst>
            </a:custGeom>
            <a:solidFill>
              <a:srgbClr val="FFFFFF"/>
            </a:solidFill>
          </p:spPr>
        </p:sp>
      </p:grpSp>
      <p:sp>
        <p:nvSpPr>
          <p:cNvPr name="TextBox 27" id="27"/>
          <p:cNvSpPr txBox="true"/>
          <p:nvPr/>
        </p:nvSpPr>
        <p:spPr>
          <a:xfrm rot="0">
            <a:off x="3699845" y="3807758"/>
            <a:ext cx="10922816" cy="2195618"/>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El camión de José carga 30 cajas diarias de 5 kilos cada una, pero el día 2 llevo 25, el día 3 llevo 20 cajas. ¿Cuántos kilos llevo en los 3 días?</a:t>
            </a:r>
          </a:p>
        </p:txBody>
      </p:sp>
      <p:sp>
        <p:nvSpPr>
          <p:cNvPr name="TextBox 28" id="28"/>
          <p:cNvSpPr txBox="true"/>
          <p:nvPr/>
        </p:nvSpPr>
        <p:spPr>
          <a:xfrm rot="0">
            <a:off x="3247870"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375 kilos</a:t>
            </a:r>
          </a:p>
        </p:txBody>
      </p:sp>
      <p:sp>
        <p:nvSpPr>
          <p:cNvPr name="TextBox 29" id="29"/>
          <p:cNvSpPr txBox="true"/>
          <p:nvPr/>
        </p:nvSpPr>
        <p:spPr>
          <a:xfrm rot="0">
            <a:off x="6314355"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260 kilos</a:t>
            </a:r>
          </a:p>
        </p:txBody>
      </p:sp>
      <p:sp>
        <p:nvSpPr>
          <p:cNvPr name="TextBox 30" id="30"/>
          <p:cNvSpPr txBox="true"/>
          <p:nvPr/>
        </p:nvSpPr>
        <p:spPr>
          <a:xfrm rot="0">
            <a:off x="9380840"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325 kilos</a:t>
            </a:r>
          </a:p>
        </p:txBody>
      </p:sp>
      <p:sp>
        <p:nvSpPr>
          <p:cNvPr name="TextBox 31" id="31"/>
          <p:cNvSpPr txBox="true"/>
          <p:nvPr/>
        </p:nvSpPr>
        <p:spPr>
          <a:xfrm rot="0">
            <a:off x="12447324"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410 kilos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38445" y="1427070"/>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47870" y="1427070"/>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45500" y="1938206"/>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35452" y="1757917"/>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3</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3247870" y="3251952"/>
            <a:ext cx="11792260" cy="3191548"/>
            <a:chOff x="0" y="0"/>
            <a:chExt cx="3988987" cy="1079610"/>
          </a:xfrm>
        </p:grpSpPr>
        <p:sp>
          <p:nvSpPr>
            <p:cNvPr name="Freeform 26" id="26"/>
            <p:cNvSpPr/>
            <p:nvPr/>
          </p:nvSpPr>
          <p:spPr>
            <a:xfrm>
              <a:off x="0" y="0"/>
              <a:ext cx="3988987" cy="1079610"/>
            </a:xfrm>
            <a:custGeom>
              <a:avLst/>
              <a:gdLst/>
              <a:ahLst/>
              <a:cxnLst/>
              <a:rect r="r" b="b" t="t" l="l"/>
              <a:pathLst>
                <a:path h="1079610" w="3988987">
                  <a:moveTo>
                    <a:pt x="0" y="0"/>
                  </a:moveTo>
                  <a:lnTo>
                    <a:pt x="3988987" y="0"/>
                  </a:lnTo>
                  <a:lnTo>
                    <a:pt x="3988987" y="1079610"/>
                  </a:lnTo>
                  <a:lnTo>
                    <a:pt x="0" y="1079610"/>
                  </a:lnTo>
                  <a:close/>
                </a:path>
              </a:pathLst>
            </a:custGeom>
            <a:solidFill>
              <a:srgbClr val="FFFFFF"/>
            </a:solidFill>
          </p:spPr>
        </p:sp>
      </p:grpSp>
      <p:sp>
        <p:nvSpPr>
          <p:cNvPr name="TextBox 27" id="27"/>
          <p:cNvSpPr txBox="true"/>
          <p:nvPr/>
        </p:nvSpPr>
        <p:spPr>
          <a:xfrm rot="0">
            <a:off x="3699845" y="3807758"/>
            <a:ext cx="10922816" cy="2195618"/>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En un frasco hay 1800 bolas, 26% son azules, el 13% son amarillas, el 21% son naranjadas. ¿Cuántas bolas serían las moradas?</a:t>
            </a:r>
          </a:p>
        </p:txBody>
      </p:sp>
      <p:sp>
        <p:nvSpPr>
          <p:cNvPr name="TextBox 28" id="28"/>
          <p:cNvSpPr txBox="true"/>
          <p:nvPr/>
        </p:nvSpPr>
        <p:spPr>
          <a:xfrm rot="0">
            <a:off x="3247870"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532 bolas</a:t>
            </a:r>
          </a:p>
        </p:txBody>
      </p:sp>
      <p:sp>
        <p:nvSpPr>
          <p:cNvPr name="TextBox 29" id="29"/>
          <p:cNvSpPr txBox="true"/>
          <p:nvPr/>
        </p:nvSpPr>
        <p:spPr>
          <a:xfrm rot="0">
            <a:off x="6314355"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720 bolas</a:t>
            </a:r>
          </a:p>
        </p:txBody>
      </p:sp>
      <p:sp>
        <p:nvSpPr>
          <p:cNvPr name="TextBox 30" id="30"/>
          <p:cNvSpPr txBox="true"/>
          <p:nvPr/>
        </p:nvSpPr>
        <p:spPr>
          <a:xfrm rot="0">
            <a:off x="9380840"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605 bolas</a:t>
            </a:r>
          </a:p>
        </p:txBody>
      </p:sp>
      <p:sp>
        <p:nvSpPr>
          <p:cNvPr name="TextBox 31" id="31"/>
          <p:cNvSpPr txBox="true"/>
          <p:nvPr/>
        </p:nvSpPr>
        <p:spPr>
          <a:xfrm rot="0">
            <a:off x="12447324"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453 bolas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38445" y="1427070"/>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47870" y="1427070"/>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45500" y="1938206"/>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35452" y="1757917"/>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4</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3247870" y="3251952"/>
            <a:ext cx="11792260" cy="3191548"/>
            <a:chOff x="0" y="0"/>
            <a:chExt cx="3988987" cy="1079610"/>
          </a:xfrm>
        </p:grpSpPr>
        <p:sp>
          <p:nvSpPr>
            <p:cNvPr name="Freeform 26" id="26"/>
            <p:cNvSpPr/>
            <p:nvPr/>
          </p:nvSpPr>
          <p:spPr>
            <a:xfrm>
              <a:off x="0" y="0"/>
              <a:ext cx="3988987" cy="1079610"/>
            </a:xfrm>
            <a:custGeom>
              <a:avLst/>
              <a:gdLst/>
              <a:ahLst/>
              <a:cxnLst/>
              <a:rect r="r" b="b" t="t" l="l"/>
              <a:pathLst>
                <a:path h="1079610" w="3988987">
                  <a:moveTo>
                    <a:pt x="0" y="0"/>
                  </a:moveTo>
                  <a:lnTo>
                    <a:pt x="3988987" y="0"/>
                  </a:lnTo>
                  <a:lnTo>
                    <a:pt x="3988987" y="1079610"/>
                  </a:lnTo>
                  <a:lnTo>
                    <a:pt x="0" y="1079610"/>
                  </a:lnTo>
                  <a:close/>
                </a:path>
              </a:pathLst>
            </a:custGeom>
            <a:solidFill>
              <a:srgbClr val="FFFFFF"/>
            </a:solidFill>
          </p:spPr>
        </p:sp>
      </p:grpSp>
      <p:sp>
        <p:nvSpPr>
          <p:cNvPr name="TextBox 27" id="27"/>
          <p:cNvSpPr txBox="true"/>
          <p:nvPr/>
        </p:nvSpPr>
        <p:spPr>
          <a:xfrm rot="0">
            <a:off x="3699845" y="3625589"/>
            <a:ext cx="10922816" cy="2377787"/>
          </a:xfrm>
          <a:prstGeom prst="rect">
            <a:avLst/>
          </a:prstGeom>
        </p:spPr>
        <p:txBody>
          <a:bodyPr anchor="t" rtlCol="false" tIns="0" lIns="0" bIns="0" rIns="0">
            <a:spAutoFit/>
          </a:bodyPr>
          <a:lstStyle/>
          <a:p>
            <a:pPr algn="ctr">
              <a:lnSpc>
                <a:spcPts val="4714"/>
              </a:lnSpc>
            </a:pPr>
            <a:r>
              <a:rPr lang="en-US" spc="237" sz="4405">
                <a:solidFill>
                  <a:srgbClr val="000000"/>
                </a:solidFill>
                <a:latin typeface="Quicksand"/>
              </a:rPr>
              <a:t>En un grupo de 45 personas que asiste a una fiesta, se sabe que hay 3 niños por cada 2 niñas. El número de niñas que hay en la fiesta es:</a:t>
            </a:r>
          </a:p>
        </p:txBody>
      </p:sp>
      <p:sp>
        <p:nvSpPr>
          <p:cNvPr name="TextBox 28" id="28"/>
          <p:cNvSpPr txBox="true"/>
          <p:nvPr/>
        </p:nvSpPr>
        <p:spPr>
          <a:xfrm rot="0">
            <a:off x="3247870"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18 niñas.</a:t>
            </a:r>
          </a:p>
        </p:txBody>
      </p:sp>
      <p:sp>
        <p:nvSpPr>
          <p:cNvPr name="TextBox 29" id="29"/>
          <p:cNvSpPr txBox="true"/>
          <p:nvPr/>
        </p:nvSpPr>
        <p:spPr>
          <a:xfrm rot="0">
            <a:off x="6314355"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30 niñas.</a:t>
            </a:r>
          </a:p>
        </p:txBody>
      </p:sp>
      <p:sp>
        <p:nvSpPr>
          <p:cNvPr name="TextBox 30" id="30"/>
          <p:cNvSpPr txBox="true"/>
          <p:nvPr/>
        </p:nvSpPr>
        <p:spPr>
          <a:xfrm rot="0">
            <a:off x="9380840"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15 niñas.</a:t>
            </a:r>
          </a:p>
        </p:txBody>
      </p:sp>
      <p:sp>
        <p:nvSpPr>
          <p:cNvPr name="TextBox 31" id="31"/>
          <p:cNvSpPr txBox="true"/>
          <p:nvPr/>
        </p:nvSpPr>
        <p:spPr>
          <a:xfrm rot="0">
            <a:off x="12447324"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27 niñas.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5</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856892" y="2205620"/>
            <a:ext cx="16004572" cy="4120648"/>
          </a:xfrm>
          <a:prstGeom prst="rect">
            <a:avLst/>
          </a:prstGeom>
        </p:spPr>
        <p:txBody>
          <a:bodyPr anchor="t" rtlCol="false" tIns="0" lIns="0" bIns="0" rIns="0">
            <a:spAutoFit/>
          </a:bodyPr>
          <a:lstStyle/>
          <a:p>
            <a:pPr>
              <a:lnSpc>
                <a:spcPts val="4082"/>
              </a:lnSpc>
            </a:pPr>
            <a:r>
              <a:rPr lang="en-US" spc="206" sz="3815">
                <a:solidFill>
                  <a:srgbClr val="000000"/>
                </a:solidFill>
                <a:latin typeface="Quicksand"/>
              </a:rPr>
              <a:t>En una estación intermunicipal de buses, hay tres rutas de buses que pasan en los siguientes horarios:</a:t>
            </a:r>
          </a:p>
          <a:p>
            <a:pPr>
              <a:lnSpc>
                <a:spcPts val="4082"/>
              </a:lnSpc>
            </a:pPr>
            <a:r>
              <a:rPr lang="en-US" spc="81" sz="3815">
                <a:solidFill>
                  <a:srgbClr val="000000"/>
                </a:solidFill>
                <a:latin typeface="Arimo"/>
              </a:rPr>
              <a:t>- La ruta al mar pasa cada 12 horas</a:t>
            </a:r>
          </a:p>
          <a:p>
            <a:pPr>
              <a:lnSpc>
                <a:spcPts val="4082"/>
              </a:lnSpc>
            </a:pPr>
            <a:r>
              <a:rPr lang="en-US" spc="81" sz="3815">
                <a:solidFill>
                  <a:srgbClr val="000000"/>
                </a:solidFill>
                <a:latin typeface="Arimo"/>
              </a:rPr>
              <a:t>- La ruta al centro del país, pasa cada 8 horas.</a:t>
            </a:r>
          </a:p>
          <a:p>
            <a:pPr>
              <a:lnSpc>
                <a:spcPts val="4082"/>
              </a:lnSpc>
            </a:pPr>
            <a:r>
              <a:rPr lang="en-US" spc="81" sz="3815">
                <a:solidFill>
                  <a:srgbClr val="000000"/>
                </a:solidFill>
                <a:latin typeface="Arimo"/>
              </a:rPr>
              <a:t>- La ruta hacia el norte del país, pasa cada 16 horas.</a:t>
            </a:r>
          </a:p>
          <a:p>
            <a:pPr>
              <a:lnSpc>
                <a:spcPts val="4082"/>
              </a:lnSpc>
            </a:pPr>
            <a:r>
              <a:rPr lang="en-US" spc="81" sz="3815">
                <a:solidFill>
                  <a:srgbClr val="000000"/>
                </a:solidFill>
                <a:latin typeface="Arimo"/>
              </a:rPr>
              <a:t>Si en un momento han coincidido las tres rutas en la misma estación, ¿Cuántas horas deben transcurrir para que vuelvan a coincidir?</a:t>
            </a:r>
          </a:p>
        </p:txBody>
      </p:sp>
      <p:sp>
        <p:nvSpPr>
          <p:cNvPr name="TextBox 28" id="28"/>
          <p:cNvSpPr txBox="true"/>
          <p:nvPr/>
        </p:nvSpPr>
        <p:spPr>
          <a:xfrm rot="0">
            <a:off x="3247870"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56 horas</a:t>
            </a:r>
          </a:p>
        </p:txBody>
      </p:sp>
      <p:sp>
        <p:nvSpPr>
          <p:cNvPr name="TextBox 29" id="29"/>
          <p:cNvSpPr txBox="true"/>
          <p:nvPr/>
        </p:nvSpPr>
        <p:spPr>
          <a:xfrm rot="0">
            <a:off x="6314355"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48 horas</a:t>
            </a:r>
          </a:p>
        </p:txBody>
      </p:sp>
      <p:sp>
        <p:nvSpPr>
          <p:cNvPr name="TextBox 30" id="30"/>
          <p:cNvSpPr txBox="true"/>
          <p:nvPr/>
        </p:nvSpPr>
        <p:spPr>
          <a:xfrm rot="0">
            <a:off x="9380840"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210 horas</a:t>
            </a:r>
          </a:p>
        </p:txBody>
      </p:sp>
      <p:sp>
        <p:nvSpPr>
          <p:cNvPr name="TextBox 31" id="31"/>
          <p:cNvSpPr txBox="true"/>
          <p:nvPr/>
        </p:nvSpPr>
        <p:spPr>
          <a:xfrm rot="0">
            <a:off x="12447324"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84 horas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6</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319354" y="1793342"/>
            <a:ext cx="17636008" cy="4867962"/>
            <a:chOff x="0" y="0"/>
            <a:chExt cx="5965761" cy="1646693"/>
          </a:xfrm>
        </p:grpSpPr>
        <p:sp>
          <p:nvSpPr>
            <p:cNvPr name="Freeform 26" id="26"/>
            <p:cNvSpPr/>
            <p:nvPr/>
          </p:nvSpPr>
          <p:spPr>
            <a:xfrm>
              <a:off x="0" y="0"/>
              <a:ext cx="5965761" cy="1646693"/>
            </a:xfrm>
            <a:custGeom>
              <a:avLst/>
              <a:gdLst/>
              <a:ahLst/>
              <a:cxnLst/>
              <a:rect r="r" b="b" t="t" l="l"/>
              <a:pathLst>
                <a:path h="1646693" w="5965761">
                  <a:moveTo>
                    <a:pt x="0" y="0"/>
                  </a:moveTo>
                  <a:lnTo>
                    <a:pt x="5965761" y="0"/>
                  </a:lnTo>
                  <a:lnTo>
                    <a:pt x="5965761" y="1646693"/>
                  </a:lnTo>
                  <a:lnTo>
                    <a:pt x="0" y="1646693"/>
                  </a:lnTo>
                  <a:close/>
                </a:path>
              </a:pathLst>
            </a:custGeom>
            <a:solidFill>
              <a:srgbClr val="FFFFFF"/>
            </a:solidFill>
          </p:spPr>
        </p:sp>
      </p:grpSp>
      <p:sp>
        <p:nvSpPr>
          <p:cNvPr name="TextBox 27" id="27"/>
          <p:cNvSpPr txBox="true"/>
          <p:nvPr/>
        </p:nvSpPr>
        <p:spPr>
          <a:xfrm rot="0">
            <a:off x="503194" y="1991291"/>
            <a:ext cx="17281612" cy="4310428"/>
          </a:xfrm>
          <a:prstGeom prst="rect">
            <a:avLst/>
          </a:prstGeom>
        </p:spPr>
        <p:txBody>
          <a:bodyPr anchor="t" rtlCol="false" tIns="0" lIns="0" bIns="0" rIns="0">
            <a:spAutoFit/>
          </a:bodyPr>
          <a:lstStyle/>
          <a:p>
            <a:pPr>
              <a:lnSpc>
                <a:spcPts val="3418"/>
              </a:lnSpc>
            </a:pPr>
            <a:r>
              <a:rPr lang="en-US" spc="172" sz="3195">
                <a:solidFill>
                  <a:srgbClr val="000000"/>
                </a:solidFill>
                <a:latin typeface="Quicksand"/>
              </a:rPr>
              <a:t>El señor Smith decidió acercarse al concesionario a averiguar el carro de sus sueños y le dieron el precio de 50 millones de pesos, precio que le pareció razonable; pero tenía que solicitar un crédito al banco para completar el dinero.</a:t>
            </a:r>
          </a:p>
          <a:p>
            <a:pPr>
              <a:lnSpc>
                <a:spcPts val="3418"/>
              </a:lnSpc>
            </a:pPr>
            <a:r>
              <a:rPr lang="en-US" spc="87" sz="3195">
                <a:solidFill>
                  <a:srgbClr val="000000"/>
                </a:solidFill>
                <a:latin typeface="Arimo"/>
              </a:rPr>
              <a:t>Pasados 15 días, le informaron telefónicamente que el nuevo precio oficial del vehículo había subido un 15% por los aranceles como resultado de la finalización del tratado de libre comercio con el país de donde provenía el vehículo, razón por la cual el señor Smith tuvo que aumentar su solicitud de crédito para completar el dinero. 15 días después, el señor Smith se acerca al concesionario a comprar el vehículo y le informan que hay un descuento del 10% sobre el último precio oficial. ¿Cuánto dinero le sobró al señor Smith?</a:t>
            </a:r>
          </a:p>
        </p:txBody>
      </p:sp>
      <p:sp>
        <p:nvSpPr>
          <p:cNvPr name="TextBox 28" id="28"/>
          <p:cNvSpPr txBox="true"/>
          <p:nvPr/>
        </p:nvSpPr>
        <p:spPr>
          <a:xfrm rot="0">
            <a:off x="3247870" y="8528752"/>
            <a:ext cx="2592806" cy="486503"/>
          </a:xfrm>
          <a:prstGeom prst="rect">
            <a:avLst/>
          </a:prstGeom>
        </p:spPr>
        <p:txBody>
          <a:bodyPr anchor="t" rtlCol="false" tIns="0" lIns="0" bIns="0" rIns="0">
            <a:spAutoFit/>
          </a:bodyPr>
          <a:lstStyle/>
          <a:p>
            <a:pPr algn="ctr">
              <a:lnSpc>
                <a:spcPts val="3751"/>
              </a:lnSpc>
            </a:pPr>
            <a:r>
              <a:rPr lang="en-US" spc="189" sz="3505">
                <a:solidFill>
                  <a:srgbClr val="000000"/>
                </a:solidFill>
                <a:latin typeface="Quicksand"/>
              </a:rPr>
              <a:t>$7.500.000</a:t>
            </a:r>
          </a:p>
        </p:txBody>
      </p:sp>
      <p:pic>
        <p:nvPicPr>
          <p:cNvPr name="Picture 29" id="29"/>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
        <p:nvSpPr>
          <p:cNvPr name="TextBox 30" id="30"/>
          <p:cNvSpPr txBox="true"/>
          <p:nvPr/>
        </p:nvSpPr>
        <p:spPr>
          <a:xfrm rot="0">
            <a:off x="6314355" y="8528752"/>
            <a:ext cx="2592806" cy="486503"/>
          </a:xfrm>
          <a:prstGeom prst="rect">
            <a:avLst/>
          </a:prstGeom>
        </p:spPr>
        <p:txBody>
          <a:bodyPr anchor="t" rtlCol="false" tIns="0" lIns="0" bIns="0" rIns="0">
            <a:spAutoFit/>
          </a:bodyPr>
          <a:lstStyle/>
          <a:p>
            <a:pPr algn="ctr">
              <a:lnSpc>
                <a:spcPts val="3751"/>
              </a:lnSpc>
            </a:pPr>
            <a:r>
              <a:rPr lang="en-US" spc="189" sz="3505">
                <a:solidFill>
                  <a:srgbClr val="000000"/>
                </a:solidFill>
                <a:latin typeface="Quicksand"/>
              </a:rPr>
              <a:t>$5.750.000</a:t>
            </a:r>
          </a:p>
        </p:txBody>
      </p:sp>
      <p:sp>
        <p:nvSpPr>
          <p:cNvPr name="TextBox 31" id="31"/>
          <p:cNvSpPr txBox="true"/>
          <p:nvPr/>
        </p:nvSpPr>
        <p:spPr>
          <a:xfrm rot="0">
            <a:off x="9380840" y="8528752"/>
            <a:ext cx="2592806" cy="486503"/>
          </a:xfrm>
          <a:prstGeom prst="rect">
            <a:avLst/>
          </a:prstGeom>
        </p:spPr>
        <p:txBody>
          <a:bodyPr anchor="t" rtlCol="false" tIns="0" lIns="0" bIns="0" rIns="0">
            <a:spAutoFit/>
          </a:bodyPr>
          <a:lstStyle/>
          <a:p>
            <a:pPr algn="ctr">
              <a:lnSpc>
                <a:spcPts val="3751"/>
              </a:lnSpc>
            </a:pPr>
            <a:r>
              <a:rPr lang="en-US" spc="189" sz="3505">
                <a:solidFill>
                  <a:srgbClr val="000000"/>
                </a:solidFill>
                <a:latin typeface="Quicksand"/>
              </a:rPr>
              <a:t>$2.500.000</a:t>
            </a:r>
          </a:p>
        </p:txBody>
      </p:sp>
      <p:sp>
        <p:nvSpPr>
          <p:cNvPr name="TextBox 32" id="32"/>
          <p:cNvSpPr txBox="true"/>
          <p:nvPr/>
        </p:nvSpPr>
        <p:spPr>
          <a:xfrm rot="0">
            <a:off x="12447324" y="8528752"/>
            <a:ext cx="2592806" cy="486503"/>
          </a:xfrm>
          <a:prstGeom prst="rect">
            <a:avLst/>
          </a:prstGeom>
        </p:spPr>
        <p:txBody>
          <a:bodyPr anchor="t" rtlCol="false" tIns="0" lIns="0" bIns="0" rIns="0">
            <a:spAutoFit/>
          </a:bodyPr>
          <a:lstStyle/>
          <a:p>
            <a:pPr algn="ctr">
              <a:lnSpc>
                <a:spcPts val="3751"/>
              </a:lnSpc>
            </a:pPr>
            <a:r>
              <a:rPr lang="en-US" spc="189" sz="3505">
                <a:solidFill>
                  <a:srgbClr val="000000"/>
                </a:solidFill>
                <a:latin typeface="Quicksand"/>
              </a:rPr>
              <a:t>$5.500.000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7</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856892" y="2427235"/>
            <a:ext cx="16004572" cy="3899032"/>
          </a:xfrm>
          <a:prstGeom prst="rect">
            <a:avLst/>
          </a:prstGeom>
        </p:spPr>
        <p:txBody>
          <a:bodyPr anchor="t" rtlCol="false" tIns="0" lIns="0" bIns="0" rIns="0">
            <a:spAutoFit/>
          </a:bodyPr>
          <a:lstStyle/>
          <a:p>
            <a:pPr>
              <a:lnSpc>
                <a:spcPts val="5152"/>
              </a:lnSpc>
            </a:pPr>
            <a:r>
              <a:rPr lang="en-US" spc="260" sz="4815">
                <a:solidFill>
                  <a:srgbClr val="000000"/>
                </a:solidFill>
                <a:latin typeface="Quicksand"/>
              </a:rPr>
              <a:t>Un campesino en su primera temporada obtuvo que su siembra inicial de plantas se multiplico 15 veces y esta a su vez, volvió a multiplicarse en poco tiempo 6 veces, obteniendo un resultado final de 28080 plantas sembradas. ¿Cuántas plantas sembró inicialmente?</a:t>
            </a:r>
          </a:p>
        </p:txBody>
      </p:sp>
      <p:sp>
        <p:nvSpPr>
          <p:cNvPr name="TextBox 28" id="28"/>
          <p:cNvSpPr txBox="true"/>
          <p:nvPr/>
        </p:nvSpPr>
        <p:spPr>
          <a:xfrm rot="0">
            <a:off x="3265123" y="8299521"/>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221 plantas</a:t>
            </a:r>
          </a:p>
        </p:txBody>
      </p:sp>
      <p:sp>
        <p:nvSpPr>
          <p:cNvPr name="TextBox 29" id="29"/>
          <p:cNvSpPr txBox="true"/>
          <p:nvPr/>
        </p:nvSpPr>
        <p:spPr>
          <a:xfrm rot="0">
            <a:off x="6266373" y="8298818"/>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512 plantas</a:t>
            </a:r>
          </a:p>
        </p:txBody>
      </p:sp>
      <p:sp>
        <p:nvSpPr>
          <p:cNvPr name="TextBox 30" id="30"/>
          <p:cNvSpPr txBox="true"/>
          <p:nvPr/>
        </p:nvSpPr>
        <p:spPr>
          <a:xfrm rot="0">
            <a:off x="9380840"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321 plantas</a:t>
            </a:r>
          </a:p>
        </p:txBody>
      </p:sp>
      <p:sp>
        <p:nvSpPr>
          <p:cNvPr name="TextBox 31" id="31"/>
          <p:cNvSpPr txBox="true"/>
          <p:nvPr/>
        </p:nvSpPr>
        <p:spPr>
          <a:xfrm rot="0">
            <a:off x="12447324"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312 plantas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8</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856892" y="2427235"/>
            <a:ext cx="16004572" cy="3899032"/>
          </a:xfrm>
          <a:prstGeom prst="rect">
            <a:avLst/>
          </a:prstGeom>
        </p:spPr>
        <p:txBody>
          <a:bodyPr anchor="t" rtlCol="false" tIns="0" lIns="0" bIns="0" rIns="0">
            <a:spAutoFit/>
          </a:bodyPr>
          <a:lstStyle/>
          <a:p>
            <a:pPr>
              <a:lnSpc>
                <a:spcPts val="5152"/>
              </a:lnSpc>
            </a:pPr>
            <a:r>
              <a:rPr lang="en-US" spc="260" sz="4815">
                <a:solidFill>
                  <a:srgbClr val="000000"/>
                </a:solidFill>
                <a:latin typeface="Quicksand"/>
              </a:rPr>
              <a:t>Un buque parte del principal puerto colombiano a las 8:35 am haciendo tráfico en el canal de panamá por más de 2 horas y finalmente llegando a su puerto de destino a las 4:30 pm del mismo día. ¿Cuántos minutos se demoró el buque de un puerto a otro?</a:t>
            </a:r>
          </a:p>
        </p:txBody>
      </p:sp>
      <p:sp>
        <p:nvSpPr>
          <p:cNvPr name="TextBox 28" id="28"/>
          <p:cNvSpPr txBox="true"/>
          <p:nvPr/>
        </p:nvSpPr>
        <p:spPr>
          <a:xfrm rot="0">
            <a:off x="3265123" y="8299521"/>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425 minutos.</a:t>
            </a:r>
          </a:p>
        </p:txBody>
      </p:sp>
      <p:sp>
        <p:nvSpPr>
          <p:cNvPr name="TextBox 29" id="29"/>
          <p:cNvSpPr txBox="true"/>
          <p:nvPr/>
        </p:nvSpPr>
        <p:spPr>
          <a:xfrm rot="0">
            <a:off x="6266373" y="8298818"/>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475 minutos.</a:t>
            </a:r>
          </a:p>
        </p:txBody>
      </p:sp>
      <p:sp>
        <p:nvSpPr>
          <p:cNvPr name="TextBox 30" id="30"/>
          <p:cNvSpPr txBox="true"/>
          <p:nvPr/>
        </p:nvSpPr>
        <p:spPr>
          <a:xfrm rot="0">
            <a:off x="9380840"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515 minutos.</a:t>
            </a:r>
          </a:p>
        </p:txBody>
      </p:sp>
      <p:sp>
        <p:nvSpPr>
          <p:cNvPr name="TextBox 31" id="31"/>
          <p:cNvSpPr txBox="true"/>
          <p:nvPr/>
        </p:nvSpPr>
        <p:spPr>
          <a:xfrm rot="0">
            <a:off x="12447324"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375 minutos.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9</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856892" y="2587129"/>
            <a:ext cx="16004572" cy="3739139"/>
          </a:xfrm>
          <a:prstGeom prst="rect">
            <a:avLst/>
          </a:prstGeom>
        </p:spPr>
        <p:txBody>
          <a:bodyPr anchor="t" rtlCol="false" tIns="0" lIns="0" bIns="0" rIns="0">
            <a:spAutoFit/>
          </a:bodyPr>
          <a:lstStyle/>
          <a:p>
            <a:pPr>
              <a:lnSpc>
                <a:spcPts val="5901"/>
              </a:lnSpc>
            </a:pPr>
            <a:r>
              <a:rPr lang="en-US" spc="297" sz="5515">
                <a:solidFill>
                  <a:srgbClr val="000000"/>
                </a:solidFill>
                <a:latin typeface="Quicksand"/>
              </a:rPr>
              <a:t>Si el edificio A, es el doble de alto que el edificio B y B tiene la cuarta parte de altura que el edificio C que tiene de altura 80 metros. ¿Qué altura total tienen los tres edificios?</a:t>
            </a:r>
          </a:p>
        </p:txBody>
      </p:sp>
      <p:sp>
        <p:nvSpPr>
          <p:cNvPr name="TextBox 28" id="28"/>
          <p:cNvSpPr txBox="true"/>
          <p:nvPr/>
        </p:nvSpPr>
        <p:spPr>
          <a:xfrm rot="0">
            <a:off x="3265123" y="8299521"/>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100 metros.</a:t>
            </a:r>
          </a:p>
        </p:txBody>
      </p:sp>
      <p:sp>
        <p:nvSpPr>
          <p:cNvPr name="TextBox 29" id="29"/>
          <p:cNvSpPr txBox="true"/>
          <p:nvPr/>
        </p:nvSpPr>
        <p:spPr>
          <a:xfrm rot="0">
            <a:off x="6266373" y="8298818"/>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140 metros.</a:t>
            </a:r>
          </a:p>
        </p:txBody>
      </p:sp>
      <p:sp>
        <p:nvSpPr>
          <p:cNvPr name="TextBox 30" id="30"/>
          <p:cNvSpPr txBox="true"/>
          <p:nvPr/>
        </p:nvSpPr>
        <p:spPr>
          <a:xfrm rot="0">
            <a:off x="9380840"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80 metros.</a:t>
            </a:r>
          </a:p>
        </p:txBody>
      </p:sp>
      <p:sp>
        <p:nvSpPr>
          <p:cNvPr name="TextBox 31" id="31"/>
          <p:cNvSpPr txBox="true"/>
          <p:nvPr/>
        </p:nvSpPr>
        <p:spPr>
          <a:xfrm rot="0">
            <a:off x="12447324"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120 metros.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10</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856892" y="2474705"/>
            <a:ext cx="16076463" cy="3690185"/>
          </a:xfrm>
          <a:prstGeom prst="rect">
            <a:avLst/>
          </a:prstGeom>
        </p:spPr>
        <p:txBody>
          <a:bodyPr anchor="t" rtlCol="false" tIns="0" lIns="0" bIns="0" rIns="0">
            <a:spAutoFit/>
          </a:bodyPr>
          <a:lstStyle/>
          <a:p>
            <a:pPr>
              <a:lnSpc>
                <a:spcPts val="5815"/>
              </a:lnSpc>
            </a:pPr>
            <a:r>
              <a:rPr lang="en-US" spc="293" sz="5435">
                <a:solidFill>
                  <a:srgbClr val="000000"/>
                </a:solidFill>
                <a:latin typeface="Quicksand"/>
              </a:rPr>
              <a:t>Una colonia de hormigas en jornada laboral de 12 horas diarias tarda 5 días en armar 12.000 túneles en su nido; si aumentáramos a 16 horas diarias su jornada de trabajo ¿En cuántos días fabricarían 8000 túneles?</a:t>
            </a:r>
          </a:p>
        </p:txBody>
      </p:sp>
      <p:sp>
        <p:nvSpPr>
          <p:cNvPr name="TextBox 28" id="28"/>
          <p:cNvSpPr txBox="true"/>
          <p:nvPr/>
        </p:nvSpPr>
        <p:spPr>
          <a:xfrm rot="0">
            <a:off x="3247870" y="8544253"/>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2.5 días.</a:t>
            </a:r>
          </a:p>
        </p:txBody>
      </p:sp>
      <p:sp>
        <p:nvSpPr>
          <p:cNvPr name="TextBox 29" id="29"/>
          <p:cNvSpPr txBox="true"/>
          <p:nvPr/>
        </p:nvSpPr>
        <p:spPr>
          <a:xfrm rot="0">
            <a:off x="6266373" y="8534728"/>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3.5 días.</a:t>
            </a:r>
          </a:p>
        </p:txBody>
      </p:sp>
      <p:sp>
        <p:nvSpPr>
          <p:cNvPr name="TextBox 30" id="30"/>
          <p:cNvSpPr txBox="true"/>
          <p:nvPr/>
        </p:nvSpPr>
        <p:spPr>
          <a:xfrm rot="0">
            <a:off x="9380840" y="853979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3 días.</a:t>
            </a:r>
          </a:p>
        </p:txBody>
      </p:sp>
      <p:sp>
        <p:nvSpPr>
          <p:cNvPr name="TextBox 31" id="31"/>
          <p:cNvSpPr txBox="true"/>
          <p:nvPr/>
        </p:nvSpPr>
        <p:spPr>
          <a:xfrm rot="0">
            <a:off x="12464578" y="853979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4 días.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11</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856892" y="2474705"/>
            <a:ext cx="16076463" cy="3690185"/>
          </a:xfrm>
          <a:prstGeom prst="rect">
            <a:avLst/>
          </a:prstGeom>
        </p:spPr>
        <p:txBody>
          <a:bodyPr anchor="t" rtlCol="false" tIns="0" lIns="0" bIns="0" rIns="0">
            <a:spAutoFit/>
          </a:bodyPr>
          <a:lstStyle/>
          <a:p>
            <a:pPr>
              <a:lnSpc>
                <a:spcPts val="5815"/>
              </a:lnSpc>
            </a:pPr>
            <a:r>
              <a:rPr lang="en-US" spc="293" sz="5435">
                <a:solidFill>
                  <a:srgbClr val="000000"/>
                </a:solidFill>
                <a:latin typeface="Quicksand"/>
              </a:rPr>
              <a:t>Si con una cisterna de 100 galones de gasolina, tanqueamos motos y cada moto se tanquea con un quinto de galón. ¿Cuántas motos podemos tanquear con la cisterna?</a:t>
            </a:r>
          </a:p>
        </p:txBody>
      </p:sp>
      <p:sp>
        <p:nvSpPr>
          <p:cNvPr name="TextBox 28" id="28"/>
          <p:cNvSpPr txBox="true"/>
          <p:nvPr/>
        </p:nvSpPr>
        <p:spPr>
          <a:xfrm rot="0">
            <a:off x="3247870" y="8185252"/>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500 motos.</a:t>
            </a:r>
          </a:p>
        </p:txBody>
      </p:sp>
      <p:sp>
        <p:nvSpPr>
          <p:cNvPr name="TextBox 29" id="29"/>
          <p:cNvSpPr txBox="true"/>
          <p:nvPr/>
        </p:nvSpPr>
        <p:spPr>
          <a:xfrm rot="0">
            <a:off x="6266373" y="8154035"/>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50 motos.</a:t>
            </a:r>
          </a:p>
        </p:txBody>
      </p:sp>
      <p:sp>
        <p:nvSpPr>
          <p:cNvPr name="TextBox 30" id="30"/>
          <p:cNvSpPr txBox="true"/>
          <p:nvPr/>
        </p:nvSpPr>
        <p:spPr>
          <a:xfrm rot="0">
            <a:off x="9380840" y="8152637"/>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100 motos.</a:t>
            </a:r>
          </a:p>
        </p:txBody>
      </p:sp>
      <p:sp>
        <p:nvSpPr>
          <p:cNvPr name="TextBox 31" id="31"/>
          <p:cNvSpPr txBox="true"/>
          <p:nvPr/>
        </p:nvSpPr>
        <p:spPr>
          <a:xfrm rot="0">
            <a:off x="12447324" y="8154035"/>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20 motos.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12</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856892" y="2142091"/>
            <a:ext cx="16076463" cy="4022799"/>
          </a:xfrm>
          <a:prstGeom prst="rect">
            <a:avLst/>
          </a:prstGeom>
        </p:spPr>
        <p:txBody>
          <a:bodyPr anchor="t" rtlCol="false" tIns="0" lIns="0" bIns="0" rIns="0">
            <a:spAutoFit/>
          </a:bodyPr>
          <a:lstStyle/>
          <a:p>
            <a:pPr>
              <a:lnSpc>
                <a:spcPts val="4531"/>
              </a:lnSpc>
            </a:pPr>
            <a:r>
              <a:rPr lang="en-US" spc="228" sz="4235">
                <a:solidFill>
                  <a:srgbClr val="000000"/>
                </a:solidFill>
                <a:latin typeface="Quicksand"/>
              </a:rPr>
              <a:t>Un transmilenio a las 5 de la mañana inicia su recorrido y en la primera estación suben 40 pasajeros, en la segunda estación se baja el 50% de los pasajeros y suben 28 pasajeros, seguidamente en la próxima estación se baja el 25% y sube el 25% de los pasajeros que subieron en la primera parada. ¿Con cuántos pasajeros llega el transmilenio a su próxima parada?</a:t>
            </a:r>
          </a:p>
        </p:txBody>
      </p:sp>
      <p:sp>
        <p:nvSpPr>
          <p:cNvPr name="TextBox 28" id="28"/>
          <p:cNvSpPr txBox="true"/>
          <p:nvPr/>
        </p:nvSpPr>
        <p:spPr>
          <a:xfrm rot="0">
            <a:off x="3286831" y="8271973"/>
            <a:ext cx="2514883" cy="920159"/>
          </a:xfrm>
          <a:prstGeom prst="rect">
            <a:avLst/>
          </a:prstGeom>
        </p:spPr>
        <p:txBody>
          <a:bodyPr anchor="t" rtlCol="false" tIns="0" lIns="0" bIns="0" rIns="0">
            <a:spAutoFit/>
          </a:bodyPr>
          <a:lstStyle/>
          <a:p>
            <a:pPr algn="ctr">
              <a:lnSpc>
                <a:spcPts val="3664"/>
              </a:lnSpc>
            </a:pPr>
            <a:r>
              <a:rPr lang="en-US" spc="184" sz="3424">
                <a:solidFill>
                  <a:srgbClr val="000000"/>
                </a:solidFill>
                <a:latin typeface="Quicksand"/>
              </a:rPr>
              <a:t>40 Pasajeros.</a:t>
            </a:r>
          </a:p>
        </p:txBody>
      </p:sp>
      <p:sp>
        <p:nvSpPr>
          <p:cNvPr name="TextBox 29" id="29"/>
          <p:cNvSpPr txBox="true"/>
          <p:nvPr/>
        </p:nvSpPr>
        <p:spPr>
          <a:xfrm rot="0">
            <a:off x="6314355" y="8273381"/>
            <a:ext cx="2640787" cy="984919"/>
          </a:xfrm>
          <a:prstGeom prst="rect">
            <a:avLst/>
          </a:prstGeom>
        </p:spPr>
        <p:txBody>
          <a:bodyPr anchor="t" rtlCol="false" tIns="0" lIns="0" bIns="0" rIns="0">
            <a:spAutoFit/>
          </a:bodyPr>
          <a:lstStyle/>
          <a:p>
            <a:pPr algn="ctr">
              <a:lnSpc>
                <a:spcPts val="3801"/>
              </a:lnSpc>
            </a:pPr>
            <a:r>
              <a:rPr lang="en-US" spc="191" sz="3552">
                <a:solidFill>
                  <a:srgbClr val="000000"/>
                </a:solidFill>
                <a:latin typeface="Quicksand"/>
              </a:rPr>
              <a:t>46 Pasajeros.</a:t>
            </a:r>
          </a:p>
        </p:txBody>
      </p:sp>
      <p:sp>
        <p:nvSpPr>
          <p:cNvPr name="TextBox 30" id="30"/>
          <p:cNvSpPr txBox="true"/>
          <p:nvPr/>
        </p:nvSpPr>
        <p:spPr>
          <a:xfrm rot="0">
            <a:off x="9484208" y="8282906"/>
            <a:ext cx="2592806" cy="974444"/>
          </a:xfrm>
          <a:prstGeom prst="rect">
            <a:avLst/>
          </a:prstGeom>
        </p:spPr>
        <p:txBody>
          <a:bodyPr anchor="t" rtlCol="false" tIns="0" lIns="0" bIns="0" rIns="0">
            <a:spAutoFit/>
          </a:bodyPr>
          <a:lstStyle/>
          <a:p>
            <a:pPr algn="ctr">
              <a:lnSpc>
                <a:spcPts val="3797"/>
              </a:lnSpc>
            </a:pPr>
            <a:r>
              <a:rPr lang="en-US" spc="191" sz="3549">
                <a:solidFill>
                  <a:srgbClr val="000000"/>
                </a:solidFill>
                <a:latin typeface="Quicksand"/>
              </a:rPr>
              <a:t>38 Pasajeros.</a:t>
            </a:r>
          </a:p>
        </p:txBody>
      </p:sp>
      <p:sp>
        <p:nvSpPr>
          <p:cNvPr name="TextBox 31" id="31"/>
          <p:cNvSpPr txBox="true"/>
          <p:nvPr/>
        </p:nvSpPr>
        <p:spPr>
          <a:xfrm rot="0">
            <a:off x="12554380" y="8275925"/>
            <a:ext cx="2503004" cy="982375"/>
          </a:xfrm>
          <a:prstGeom prst="rect">
            <a:avLst/>
          </a:prstGeom>
        </p:spPr>
        <p:txBody>
          <a:bodyPr anchor="t" rtlCol="false" tIns="0" lIns="0" bIns="0" rIns="0">
            <a:spAutoFit/>
          </a:bodyPr>
          <a:lstStyle/>
          <a:p>
            <a:pPr algn="ctr">
              <a:lnSpc>
                <a:spcPts val="3862"/>
              </a:lnSpc>
            </a:pPr>
            <a:r>
              <a:rPr lang="en-US" spc="194" sz="3609">
                <a:solidFill>
                  <a:srgbClr val="000000"/>
                </a:solidFill>
                <a:latin typeface="Quicksand"/>
              </a:rPr>
              <a:t>48 Pasajeros.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13</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439476"/>
            <a:ext cx="15861946" cy="3504524"/>
          </a:xfrm>
          <a:prstGeom prst="rect">
            <a:avLst/>
          </a:prstGeom>
        </p:spPr>
        <p:txBody>
          <a:bodyPr anchor="t" rtlCol="false" tIns="0" lIns="0" bIns="0" rIns="0">
            <a:spAutoFit/>
          </a:bodyPr>
          <a:lstStyle/>
          <a:p>
            <a:pPr>
              <a:lnSpc>
                <a:spcPts val="5511"/>
              </a:lnSpc>
            </a:pPr>
            <a:r>
              <a:rPr lang="en-US" spc="278" sz="5151">
                <a:solidFill>
                  <a:srgbClr val="000000"/>
                </a:solidFill>
                <a:latin typeface="Quicksand"/>
              </a:rPr>
              <a:t>Un mensajero a quien la empresa para la cual trabaja le consigna el total de los viáticos del día, se gasta en 2 horas un cuarto (1/4) del total de viáticos del día, ¿Qué porcentaje de los viáticos se gastará en seis horas?</a:t>
            </a:r>
          </a:p>
        </p:txBody>
      </p:sp>
      <p:sp>
        <p:nvSpPr>
          <p:cNvPr name="TextBox 28" id="28"/>
          <p:cNvSpPr txBox="true"/>
          <p:nvPr/>
        </p:nvSpPr>
        <p:spPr>
          <a:xfrm rot="0">
            <a:off x="3247870"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100%</a:t>
            </a:r>
          </a:p>
        </p:txBody>
      </p:sp>
      <p:sp>
        <p:nvSpPr>
          <p:cNvPr name="TextBox 29" id="29"/>
          <p:cNvSpPr txBox="true"/>
          <p:nvPr/>
        </p:nvSpPr>
        <p:spPr>
          <a:xfrm rot="0">
            <a:off x="6314355"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65%</a:t>
            </a:r>
          </a:p>
        </p:txBody>
      </p:sp>
      <p:sp>
        <p:nvSpPr>
          <p:cNvPr name="TextBox 30" id="30"/>
          <p:cNvSpPr txBox="true"/>
          <p:nvPr/>
        </p:nvSpPr>
        <p:spPr>
          <a:xfrm rot="0">
            <a:off x="9380840"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60%</a:t>
            </a:r>
          </a:p>
        </p:txBody>
      </p:sp>
      <p:sp>
        <p:nvSpPr>
          <p:cNvPr name="TextBox 31" id="31"/>
          <p:cNvSpPr txBox="true"/>
          <p:nvPr/>
        </p:nvSpPr>
        <p:spPr>
          <a:xfrm rot="0">
            <a:off x="12464578"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75%</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14</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205620"/>
            <a:ext cx="15861946" cy="3973281"/>
          </a:xfrm>
          <a:prstGeom prst="rect">
            <a:avLst/>
          </a:prstGeom>
        </p:spPr>
        <p:txBody>
          <a:bodyPr anchor="t" rtlCol="false" tIns="0" lIns="0" bIns="0" rIns="0">
            <a:spAutoFit/>
          </a:bodyPr>
          <a:lstStyle/>
          <a:p>
            <a:pPr>
              <a:lnSpc>
                <a:spcPts val="6260"/>
              </a:lnSpc>
            </a:pPr>
            <a:r>
              <a:rPr lang="en-US" spc="315" sz="5851">
                <a:solidFill>
                  <a:srgbClr val="000000"/>
                </a:solidFill>
                <a:latin typeface="Quicksand"/>
              </a:rPr>
              <a:t>En una canasta con pollitos blancos y amarillos, hay un 40% de pollitos blancos, si en la canasta hay 120 pollitos, ¿Cuántos pollitos son amarillos?</a:t>
            </a:r>
          </a:p>
        </p:txBody>
      </p:sp>
      <p:sp>
        <p:nvSpPr>
          <p:cNvPr name="TextBox 28" id="28"/>
          <p:cNvSpPr txBox="true"/>
          <p:nvPr/>
        </p:nvSpPr>
        <p:spPr>
          <a:xfrm rot="0">
            <a:off x="3247870" y="8299521"/>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60 pollitos</a:t>
            </a:r>
          </a:p>
        </p:txBody>
      </p:sp>
      <p:sp>
        <p:nvSpPr>
          <p:cNvPr name="TextBox 29" id="29"/>
          <p:cNvSpPr txBox="true"/>
          <p:nvPr/>
        </p:nvSpPr>
        <p:spPr>
          <a:xfrm rot="0">
            <a:off x="6314355"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72 pollitos</a:t>
            </a:r>
          </a:p>
        </p:txBody>
      </p:sp>
      <p:sp>
        <p:nvSpPr>
          <p:cNvPr name="TextBox 30" id="30"/>
          <p:cNvSpPr txBox="true"/>
          <p:nvPr/>
        </p:nvSpPr>
        <p:spPr>
          <a:xfrm rot="0">
            <a:off x="9380840" y="8298818"/>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48 pollitos</a:t>
            </a:r>
          </a:p>
        </p:txBody>
      </p:sp>
      <p:sp>
        <p:nvSpPr>
          <p:cNvPr name="TextBox 31" id="31"/>
          <p:cNvSpPr txBox="true"/>
          <p:nvPr/>
        </p:nvSpPr>
        <p:spPr>
          <a:xfrm rot="0">
            <a:off x="12464578" y="8289996"/>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52 pollitos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15</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455810"/>
            <a:ext cx="15861946" cy="3723090"/>
          </a:xfrm>
          <a:prstGeom prst="rect">
            <a:avLst/>
          </a:prstGeom>
        </p:spPr>
        <p:txBody>
          <a:bodyPr anchor="t" rtlCol="false" tIns="0" lIns="0" bIns="0" rIns="0">
            <a:spAutoFit/>
          </a:bodyPr>
          <a:lstStyle/>
          <a:p>
            <a:pPr>
              <a:lnSpc>
                <a:spcPts val="7330"/>
              </a:lnSpc>
            </a:pPr>
            <a:r>
              <a:rPr lang="en-US" spc="369" sz="6851">
                <a:solidFill>
                  <a:srgbClr val="000000"/>
                </a:solidFill>
                <a:latin typeface="Quicksand"/>
              </a:rPr>
              <a:t>Si al triple de la edad que tengo le quito mi edad aumentado en 8 años tendría 16 años. ¿Qué edad tengo?</a:t>
            </a:r>
          </a:p>
        </p:txBody>
      </p:sp>
      <p:sp>
        <p:nvSpPr>
          <p:cNvPr name="TextBox 28" id="28"/>
          <p:cNvSpPr txBox="true"/>
          <p:nvPr/>
        </p:nvSpPr>
        <p:spPr>
          <a:xfrm rot="0">
            <a:off x="3247870" y="8308343"/>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10 años</a:t>
            </a:r>
          </a:p>
        </p:txBody>
      </p:sp>
      <p:sp>
        <p:nvSpPr>
          <p:cNvPr name="TextBox 29" id="29"/>
          <p:cNvSpPr txBox="true"/>
          <p:nvPr/>
        </p:nvSpPr>
        <p:spPr>
          <a:xfrm rot="0">
            <a:off x="6314355"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11 años</a:t>
            </a:r>
          </a:p>
        </p:txBody>
      </p:sp>
      <p:sp>
        <p:nvSpPr>
          <p:cNvPr name="TextBox 30" id="30"/>
          <p:cNvSpPr txBox="true"/>
          <p:nvPr/>
        </p:nvSpPr>
        <p:spPr>
          <a:xfrm rot="0">
            <a:off x="9380840"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14 años</a:t>
            </a:r>
          </a:p>
        </p:txBody>
      </p:sp>
      <p:sp>
        <p:nvSpPr>
          <p:cNvPr name="TextBox 31" id="31"/>
          <p:cNvSpPr txBox="true"/>
          <p:nvPr/>
        </p:nvSpPr>
        <p:spPr>
          <a:xfrm rot="0">
            <a:off x="12464578"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12 años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16</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929739"/>
            <a:ext cx="15861946" cy="2799165"/>
          </a:xfrm>
          <a:prstGeom prst="rect">
            <a:avLst/>
          </a:prstGeom>
        </p:spPr>
        <p:txBody>
          <a:bodyPr anchor="t" rtlCol="false" tIns="0" lIns="0" bIns="0" rIns="0">
            <a:spAutoFit/>
          </a:bodyPr>
          <a:lstStyle/>
          <a:p>
            <a:pPr>
              <a:lnSpc>
                <a:spcPts val="7330"/>
              </a:lnSpc>
            </a:pPr>
            <a:r>
              <a:rPr lang="en-US" spc="369" sz="6851">
                <a:solidFill>
                  <a:srgbClr val="000000"/>
                </a:solidFill>
                <a:latin typeface="Quicksand"/>
              </a:rPr>
              <a:t>Andrés tendrá dentro de 9 años el triple de la edad que tenía hace 7 años. ¿Cuántos años tiene Andrés?</a:t>
            </a:r>
          </a:p>
        </p:txBody>
      </p:sp>
      <p:sp>
        <p:nvSpPr>
          <p:cNvPr name="TextBox 28" id="28"/>
          <p:cNvSpPr txBox="true"/>
          <p:nvPr/>
        </p:nvSpPr>
        <p:spPr>
          <a:xfrm rot="0">
            <a:off x="3247870" y="8308343"/>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10 años</a:t>
            </a:r>
          </a:p>
        </p:txBody>
      </p:sp>
      <p:sp>
        <p:nvSpPr>
          <p:cNvPr name="TextBox 29" id="29"/>
          <p:cNvSpPr txBox="true"/>
          <p:nvPr/>
        </p:nvSpPr>
        <p:spPr>
          <a:xfrm rot="0">
            <a:off x="6314355"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16 años</a:t>
            </a:r>
          </a:p>
        </p:txBody>
      </p:sp>
      <p:sp>
        <p:nvSpPr>
          <p:cNvPr name="TextBox 30" id="30"/>
          <p:cNvSpPr txBox="true"/>
          <p:nvPr/>
        </p:nvSpPr>
        <p:spPr>
          <a:xfrm rot="0">
            <a:off x="9380840"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30 años</a:t>
            </a:r>
          </a:p>
        </p:txBody>
      </p:sp>
      <p:sp>
        <p:nvSpPr>
          <p:cNvPr name="TextBox 31" id="31"/>
          <p:cNvSpPr txBox="true"/>
          <p:nvPr/>
        </p:nvSpPr>
        <p:spPr>
          <a:xfrm rot="0">
            <a:off x="12464578"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15 años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17</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335554"/>
            <a:ext cx="15861946" cy="3690452"/>
          </a:xfrm>
          <a:prstGeom prst="rect">
            <a:avLst/>
          </a:prstGeom>
        </p:spPr>
        <p:txBody>
          <a:bodyPr anchor="t" rtlCol="false" tIns="0" lIns="0" bIns="0" rIns="0">
            <a:spAutoFit/>
          </a:bodyPr>
          <a:lstStyle/>
          <a:p>
            <a:pPr>
              <a:lnSpc>
                <a:spcPts val="5832"/>
              </a:lnSpc>
            </a:pPr>
            <a:r>
              <a:rPr lang="en-US" spc="294" sz="5451">
                <a:solidFill>
                  <a:srgbClr val="000000"/>
                </a:solidFill>
                <a:latin typeface="Quicksand"/>
              </a:rPr>
              <a:t>Camila tiene 21 conejos y raciones de alimento para 45 días. Como su amiga Paula le regala algunos conejos más, las raciones le alcanzarán solo para 35 días. ¿Cuántos conejos le regaló Paula a Camila?</a:t>
            </a:r>
          </a:p>
        </p:txBody>
      </p:sp>
      <p:sp>
        <p:nvSpPr>
          <p:cNvPr name="TextBox 28" id="28"/>
          <p:cNvSpPr txBox="true"/>
          <p:nvPr/>
        </p:nvSpPr>
        <p:spPr>
          <a:xfrm rot="0">
            <a:off x="3247870" y="8308343"/>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1 conejo</a:t>
            </a:r>
          </a:p>
        </p:txBody>
      </p:sp>
      <p:sp>
        <p:nvSpPr>
          <p:cNvPr name="TextBox 29" id="29"/>
          <p:cNvSpPr txBox="true"/>
          <p:nvPr/>
        </p:nvSpPr>
        <p:spPr>
          <a:xfrm rot="0">
            <a:off x="6314355"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2 conejos</a:t>
            </a:r>
          </a:p>
        </p:txBody>
      </p:sp>
      <p:sp>
        <p:nvSpPr>
          <p:cNvPr name="TextBox 30" id="30"/>
          <p:cNvSpPr txBox="true"/>
          <p:nvPr/>
        </p:nvSpPr>
        <p:spPr>
          <a:xfrm rot="0">
            <a:off x="9380840"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5 conejos</a:t>
            </a:r>
          </a:p>
        </p:txBody>
      </p:sp>
      <p:sp>
        <p:nvSpPr>
          <p:cNvPr name="TextBox 31" id="31"/>
          <p:cNvSpPr txBox="true"/>
          <p:nvPr/>
        </p:nvSpPr>
        <p:spPr>
          <a:xfrm rot="0">
            <a:off x="12464578" y="83038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6 conejos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1028700" y="150137"/>
            <a:ext cx="16389810" cy="4993363"/>
            <a:chOff x="0" y="0"/>
            <a:chExt cx="5544207" cy="1689113"/>
          </a:xfrm>
        </p:grpSpPr>
        <p:sp>
          <p:nvSpPr>
            <p:cNvPr name="Freeform 8" id="8"/>
            <p:cNvSpPr/>
            <p:nvPr/>
          </p:nvSpPr>
          <p:spPr>
            <a:xfrm>
              <a:off x="0" y="0"/>
              <a:ext cx="5544207" cy="1689113"/>
            </a:xfrm>
            <a:custGeom>
              <a:avLst/>
              <a:gdLst/>
              <a:ahLst/>
              <a:cxnLst/>
              <a:rect r="r" b="b" t="t" l="l"/>
              <a:pathLst>
                <a:path h="1689113" w="5544207">
                  <a:moveTo>
                    <a:pt x="0" y="0"/>
                  </a:moveTo>
                  <a:lnTo>
                    <a:pt x="5544207" y="0"/>
                  </a:lnTo>
                  <a:lnTo>
                    <a:pt x="5544207" y="1689113"/>
                  </a:lnTo>
                  <a:lnTo>
                    <a:pt x="0" y="1689113"/>
                  </a:lnTo>
                  <a:close/>
                </a:path>
              </a:pathLst>
            </a:custGeom>
            <a:solidFill>
              <a:srgbClr val="FFFFFF"/>
            </a:solidFill>
          </p:spPr>
        </p:sp>
      </p:grpSp>
      <p:pic>
        <p:nvPicPr>
          <p:cNvPr name="Picture 9" id="9"/>
          <p:cNvPicPr>
            <a:picLocks noChangeAspect="true"/>
          </p:cNvPicPr>
          <p:nvPr/>
        </p:nvPicPr>
        <p:blipFill>
          <a:blip r:embed="rId10"/>
          <a:srcRect l="0" t="0" r="0" b="0"/>
          <a:stretch>
            <a:fillRect/>
          </a:stretch>
        </p:blipFill>
        <p:spPr>
          <a:xfrm flipH="false" flipV="false" rot="0">
            <a:off x="3818373" y="4746760"/>
            <a:ext cx="10651253" cy="5358150"/>
          </a:xfrm>
          <a:prstGeom prst="rect">
            <a:avLst/>
          </a:prstGeom>
        </p:spPr>
      </p:pic>
      <p:sp>
        <p:nvSpPr>
          <p:cNvPr name="TextBox 10" id="10"/>
          <p:cNvSpPr txBox="true"/>
          <p:nvPr/>
        </p:nvSpPr>
        <p:spPr>
          <a:xfrm rot="0">
            <a:off x="1240466" y="177430"/>
            <a:ext cx="16026047" cy="4966070"/>
          </a:xfrm>
          <a:prstGeom prst="rect">
            <a:avLst/>
          </a:prstGeom>
        </p:spPr>
        <p:txBody>
          <a:bodyPr anchor="t" rtlCol="false" tIns="0" lIns="0" bIns="0" rIns="0">
            <a:spAutoFit/>
          </a:bodyPr>
          <a:lstStyle/>
          <a:p>
            <a:pPr algn="ctr">
              <a:lnSpc>
                <a:spcPts val="3933"/>
              </a:lnSpc>
            </a:pPr>
            <a:r>
              <a:rPr lang="en-US" spc="198" sz="3676">
                <a:solidFill>
                  <a:srgbClr val="000000"/>
                </a:solidFill>
                <a:latin typeface="Quicksand"/>
              </a:rPr>
              <a:t>RESPONDA LAS PREGUNTAS 18 A 20 DE ACUERDO CON LA SIGUIENTE INFORMACIÓN</a:t>
            </a:r>
          </a:p>
          <a:p>
            <a:pPr>
              <a:lnSpc>
                <a:spcPts val="3933"/>
              </a:lnSpc>
            </a:pPr>
            <a:r>
              <a:rPr lang="en-US" spc="8" sz="3676">
                <a:solidFill>
                  <a:srgbClr val="000000"/>
                </a:solidFill>
                <a:latin typeface="Arimo"/>
              </a:rPr>
              <a:t>Un futuro es un contrato entre dos partes, en el que una de ellas se compromete a comprar a la</a:t>
            </a:r>
          </a:p>
          <a:p>
            <a:pPr>
              <a:lnSpc>
                <a:spcPts val="3933"/>
              </a:lnSpc>
            </a:pPr>
            <a:r>
              <a:rPr lang="en-US" spc="8" sz="3676">
                <a:solidFill>
                  <a:srgbClr val="000000"/>
                </a:solidFill>
                <a:latin typeface="Arimo"/>
              </a:rPr>
              <a:t>otra un producto a un precio y en una fecha pactados en el momento de firmar el contrato.</a:t>
            </a:r>
          </a:p>
          <a:p>
            <a:pPr>
              <a:lnSpc>
                <a:spcPts val="3933"/>
              </a:lnSpc>
            </a:pPr>
            <a:r>
              <a:rPr lang="en-US" spc="198" sz="3676">
                <a:solidFill>
                  <a:srgbClr val="000000"/>
                </a:solidFill>
                <a:latin typeface="Quicksand"/>
              </a:rPr>
              <a:t>En un futuro de divisas, por ejemplo, del dólar estadounidense, se especifica en el contrato el</a:t>
            </a:r>
          </a:p>
          <a:p>
            <a:pPr>
              <a:lnSpc>
                <a:spcPts val="3933"/>
              </a:lnSpc>
            </a:pPr>
            <a:r>
              <a:rPr lang="en-US" spc="198" sz="3676">
                <a:solidFill>
                  <a:srgbClr val="000000"/>
                </a:solidFill>
                <a:latin typeface="Quicksand"/>
              </a:rPr>
              <a:t>valor al que se va a transar el dólar y la fecha futura de la transacción.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18</a:t>
            </a:r>
          </a:p>
        </p:txBody>
      </p:sp>
      <p:sp>
        <p:nvSpPr>
          <p:cNvPr name="TextBox 21" id="21"/>
          <p:cNvSpPr txBox="true"/>
          <p:nvPr/>
        </p:nvSpPr>
        <p:spPr>
          <a:xfrm rot="0">
            <a:off x="3500794" y="6956546"/>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6956546"/>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6956546"/>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6956546"/>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158306"/>
            <a:ext cx="15861946" cy="4285193"/>
          </a:xfrm>
          <a:prstGeom prst="rect">
            <a:avLst/>
          </a:prstGeom>
        </p:spPr>
        <p:txBody>
          <a:bodyPr anchor="t" rtlCol="false" tIns="0" lIns="0" bIns="0" rIns="0">
            <a:spAutoFit/>
          </a:bodyPr>
          <a:lstStyle/>
          <a:p>
            <a:pPr>
              <a:lnSpc>
                <a:spcPts val="4869"/>
              </a:lnSpc>
            </a:pPr>
            <a:r>
              <a:rPr lang="en-US" spc="245" sz="4551">
                <a:solidFill>
                  <a:srgbClr val="000000"/>
                </a:solidFill>
                <a:latin typeface="Quicksand"/>
              </a:rPr>
              <a:t>En un futuro de divisas, se especificó en el contrato que el precio de intercambio del dólar</a:t>
            </a:r>
          </a:p>
          <a:p>
            <a:pPr>
              <a:lnSpc>
                <a:spcPts val="4869"/>
              </a:lnSpc>
            </a:pPr>
            <a:r>
              <a:rPr lang="en-US" spc="16" sz="4551">
                <a:solidFill>
                  <a:srgbClr val="000000"/>
                </a:solidFill>
                <a:latin typeface="Arimo"/>
              </a:rPr>
              <a:t>estadounidense sería $1.795. La transacción se llevó a cabo entre el 8 y el 22 de abril de 2012,</a:t>
            </a:r>
          </a:p>
          <a:p>
            <a:pPr>
              <a:lnSpc>
                <a:spcPts val="4869"/>
              </a:lnSpc>
            </a:pPr>
            <a:r>
              <a:rPr lang="en-US" spc="16" sz="4551">
                <a:solidFill>
                  <a:srgbClr val="000000"/>
                </a:solidFill>
                <a:latin typeface="Arimo"/>
              </a:rPr>
              <a:t>y se ejecutó el día que más beneficio dio a quien entregó los dólares. ¿Qué día se realizó la</a:t>
            </a:r>
          </a:p>
          <a:p>
            <a:pPr>
              <a:lnSpc>
                <a:spcPts val="4869"/>
              </a:lnSpc>
            </a:pPr>
            <a:r>
              <a:rPr lang="en-US" spc="16" sz="4551">
                <a:solidFill>
                  <a:srgbClr val="000000"/>
                </a:solidFill>
                <a:latin typeface="Arimo"/>
              </a:rPr>
              <a:t>transacción?</a:t>
            </a:r>
          </a:p>
        </p:txBody>
      </p:sp>
      <p:sp>
        <p:nvSpPr>
          <p:cNvPr name="TextBox 28" id="28"/>
          <p:cNvSpPr txBox="true"/>
          <p:nvPr/>
        </p:nvSpPr>
        <p:spPr>
          <a:xfrm rot="0">
            <a:off x="3374332" y="7836945"/>
            <a:ext cx="2466344" cy="1566138"/>
          </a:xfrm>
          <a:prstGeom prst="rect">
            <a:avLst/>
          </a:prstGeom>
        </p:spPr>
        <p:txBody>
          <a:bodyPr anchor="t" rtlCol="false" tIns="0" lIns="0" bIns="0" rIns="0">
            <a:spAutoFit/>
          </a:bodyPr>
          <a:lstStyle/>
          <a:p>
            <a:pPr algn="ctr">
              <a:lnSpc>
                <a:spcPts val="4178"/>
              </a:lnSpc>
            </a:pPr>
            <a:r>
              <a:rPr lang="en-US" spc="210" sz="3905">
                <a:solidFill>
                  <a:srgbClr val="000000"/>
                </a:solidFill>
                <a:latin typeface="Quicksand"/>
              </a:rPr>
              <a:t>El 9 de abril de 2012.</a:t>
            </a:r>
          </a:p>
        </p:txBody>
      </p:sp>
      <p:pic>
        <p:nvPicPr>
          <p:cNvPr name="Picture 29" id="29"/>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
        <p:nvSpPr>
          <p:cNvPr name="TextBox 30" id="30"/>
          <p:cNvSpPr txBox="true"/>
          <p:nvPr/>
        </p:nvSpPr>
        <p:spPr>
          <a:xfrm rot="0">
            <a:off x="6377586" y="7836510"/>
            <a:ext cx="2466344" cy="1566138"/>
          </a:xfrm>
          <a:prstGeom prst="rect">
            <a:avLst/>
          </a:prstGeom>
        </p:spPr>
        <p:txBody>
          <a:bodyPr anchor="t" rtlCol="false" tIns="0" lIns="0" bIns="0" rIns="0">
            <a:spAutoFit/>
          </a:bodyPr>
          <a:lstStyle/>
          <a:p>
            <a:pPr algn="ctr">
              <a:lnSpc>
                <a:spcPts val="4178"/>
              </a:lnSpc>
            </a:pPr>
            <a:r>
              <a:rPr lang="en-US" spc="210" sz="3905">
                <a:solidFill>
                  <a:srgbClr val="000000"/>
                </a:solidFill>
                <a:latin typeface="Quicksand"/>
              </a:rPr>
              <a:t>El 11 de abril de 2012.</a:t>
            </a:r>
          </a:p>
        </p:txBody>
      </p:sp>
      <p:sp>
        <p:nvSpPr>
          <p:cNvPr name="TextBox 31" id="31"/>
          <p:cNvSpPr txBox="true"/>
          <p:nvPr/>
        </p:nvSpPr>
        <p:spPr>
          <a:xfrm rot="0">
            <a:off x="9444071" y="7836510"/>
            <a:ext cx="2466344" cy="1566138"/>
          </a:xfrm>
          <a:prstGeom prst="rect">
            <a:avLst/>
          </a:prstGeom>
        </p:spPr>
        <p:txBody>
          <a:bodyPr anchor="t" rtlCol="false" tIns="0" lIns="0" bIns="0" rIns="0">
            <a:spAutoFit/>
          </a:bodyPr>
          <a:lstStyle/>
          <a:p>
            <a:pPr algn="ctr">
              <a:lnSpc>
                <a:spcPts val="4178"/>
              </a:lnSpc>
            </a:pPr>
            <a:r>
              <a:rPr lang="en-US" spc="210" sz="3905">
                <a:solidFill>
                  <a:srgbClr val="000000"/>
                </a:solidFill>
                <a:latin typeface="Quicksand"/>
              </a:rPr>
              <a:t>El 16 de abril de 2012.</a:t>
            </a:r>
          </a:p>
        </p:txBody>
      </p:sp>
      <p:sp>
        <p:nvSpPr>
          <p:cNvPr name="TextBox 32" id="32"/>
          <p:cNvSpPr txBox="true"/>
          <p:nvPr/>
        </p:nvSpPr>
        <p:spPr>
          <a:xfrm rot="0">
            <a:off x="12591039" y="7836945"/>
            <a:ext cx="2466344" cy="1566138"/>
          </a:xfrm>
          <a:prstGeom prst="rect">
            <a:avLst/>
          </a:prstGeom>
        </p:spPr>
        <p:txBody>
          <a:bodyPr anchor="t" rtlCol="false" tIns="0" lIns="0" bIns="0" rIns="0">
            <a:spAutoFit/>
          </a:bodyPr>
          <a:lstStyle/>
          <a:p>
            <a:pPr algn="ctr">
              <a:lnSpc>
                <a:spcPts val="4178"/>
              </a:lnSpc>
            </a:pPr>
            <a:r>
              <a:rPr lang="en-US" spc="210" sz="3905">
                <a:solidFill>
                  <a:srgbClr val="000000"/>
                </a:solidFill>
                <a:latin typeface="Quicksand"/>
              </a:rPr>
              <a:t>El 22 de abril de 2012.</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19</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319354" y="1793342"/>
            <a:ext cx="17552237" cy="4800945"/>
            <a:chOff x="0" y="0"/>
            <a:chExt cx="5937423" cy="1624023"/>
          </a:xfrm>
        </p:grpSpPr>
        <p:sp>
          <p:nvSpPr>
            <p:cNvPr name="Freeform 26" id="26"/>
            <p:cNvSpPr/>
            <p:nvPr/>
          </p:nvSpPr>
          <p:spPr>
            <a:xfrm>
              <a:off x="0" y="0"/>
              <a:ext cx="5937423" cy="1624023"/>
            </a:xfrm>
            <a:custGeom>
              <a:avLst/>
              <a:gdLst/>
              <a:ahLst/>
              <a:cxnLst/>
              <a:rect r="r" b="b" t="t" l="l"/>
              <a:pathLst>
                <a:path h="1624023" w="5937423">
                  <a:moveTo>
                    <a:pt x="0" y="0"/>
                  </a:moveTo>
                  <a:lnTo>
                    <a:pt x="5937423" y="0"/>
                  </a:lnTo>
                  <a:lnTo>
                    <a:pt x="5937423" y="1624023"/>
                  </a:lnTo>
                  <a:lnTo>
                    <a:pt x="0" y="1624023"/>
                  </a:lnTo>
                  <a:close/>
                </a:path>
              </a:pathLst>
            </a:custGeom>
            <a:solidFill>
              <a:srgbClr val="FFFFFF"/>
            </a:solidFill>
          </p:spPr>
        </p:sp>
      </p:grpSp>
      <p:sp>
        <p:nvSpPr>
          <p:cNvPr name="TextBox 27" id="27"/>
          <p:cNvSpPr txBox="true"/>
          <p:nvPr/>
        </p:nvSpPr>
        <p:spPr>
          <a:xfrm rot="0">
            <a:off x="527375" y="1994776"/>
            <a:ext cx="17156400" cy="4484074"/>
          </a:xfrm>
          <a:prstGeom prst="rect">
            <a:avLst/>
          </a:prstGeom>
        </p:spPr>
        <p:txBody>
          <a:bodyPr anchor="t" rtlCol="false" tIns="0" lIns="0" bIns="0" rIns="0">
            <a:spAutoFit/>
          </a:bodyPr>
          <a:lstStyle/>
          <a:p>
            <a:pPr>
              <a:lnSpc>
                <a:spcPts val="3561"/>
              </a:lnSpc>
            </a:pPr>
            <a:r>
              <a:rPr lang="en-US" spc="179" sz="3328">
                <a:solidFill>
                  <a:srgbClr val="000000"/>
                </a:solidFill>
                <a:latin typeface="Quicksand"/>
              </a:rPr>
              <a:t>Entre el 8 de abril y el 22 de abril de 2012, una casa de cambio realiza 4 transacciones en dólares estadounidenses, rigiéndose por los valores presentados en la gráfica para cada fecha, tanto en la compra como en la venta de la divisa. Las siguientes son las fechas de las transacciones:</a:t>
            </a:r>
          </a:p>
          <a:p>
            <a:pPr>
              <a:lnSpc>
                <a:spcPts val="3561"/>
              </a:lnSpc>
            </a:pPr>
            <a:r>
              <a:rPr lang="en-US" spc="67" sz="3328">
                <a:solidFill>
                  <a:srgbClr val="000000"/>
                </a:solidFill>
                <a:latin typeface="Arimo"/>
              </a:rPr>
              <a:t>I. Compró el 9 de abril y vendió el 11 de abril.</a:t>
            </a:r>
          </a:p>
          <a:p>
            <a:pPr>
              <a:lnSpc>
                <a:spcPts val="3561"/>
              </a:lnSpc>
            </a:pPr>
            <a:r>
              <a:rPr lang="en-US" spc="67" sz="3328">
                <a:solidFill>
                  <a:srgbClr val="000000"/>
                </a:solidFill>
                <a:latin typeface="Arimo"/>
              </a:rPr>
              <a:t>II. Compró el 12 de abril y vendió el 15 de abril.</a:t>
            </a:r>
          </a:p>
          <a:p>
            <a:pPr>
              <a:lnSpc>
                <a:spcPts val="3561"/>
              </a:lnSpc>
            </a:pPr>
            <a:r>
              <a:rPr lang="en-US" spc="67" sz="3328">
                <a:solidFill>
                  <a:srgbClr val="000000"/>
                </a:solidFill>
                <a:latin typeface="Arimo"/>
              </a:rPr>
              <a:t>III. Compró el 16 de abril y vendió el 17 de abril.</a:t>
            </a:r>
          </a:p>
          <a:p>
            <a:pPr>
              <a:lnSpc>
                <a:spcPts val="3561"/>
              </a:lnSpc>
            </a:pPr>
            <a:r>
              <a:rPr lang="en-US" spc="67" sz="3328">
                <a:solidFill>
                  <a:srgbClr val="000000"/>
                </a:solidFill>
                <a:latin typeface="Arimo"/>
              </a:rPr>
              <a:t>IV. Compró el 20 de abril y vendió el 22 de abril.</a:t>
            </a:r>
          </a:p>
          <a:p>
            <a:pPr>
              <a:lnSpc>
                <a:spcPts val="3561"/>
              </a:lnSpc>
            </a:pPr>
            <a:r>
              <a:rPr lang="en-US" spc="67" sz="3328">
                <a:solidFill>
                  <a:srgbClr val="000000"/>
                </a:solidFill>
                <a:latin typeface="Arimo"/>
              </a:rPr>
              <a:t>Si en las 4 transacciones compró y vendió la misma cantidad de dólares, ¿con cuál transacción obtuvo mayor ganancia?</a:t>
            </a:r>
          </a:p>
        </p:txBody>
      </p:sp>
      <p:sp>
        <p:nvSpPr>
          <p:cNvPr name="TextBox 28" id="28"/>
          <p:cNvSpPr txBox="true"/>
          <p:nvPr/>
        </p:nvSpPr>
        <p:spPr>
          <a:xfrm rot="0">
            <a:off x="3247870" y="8458375"/>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I.</a:t>
            </a:r>
          </a:p>
        </p:txBody>
      </p:sp>
      <p:sp>
        <p:nvSpPr>
          <p:cNvPr name="TextBox 29" id="29"/>
          <p:cNvSpPr txBox="true"/>
          <p:nvPr/>
        </p:nvSpPr>
        <p:spPr>
          <a:xfrm rot="0">
            <a:off x="6314355"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II.</a:t>
            </a:r>
          </a:p>
        </p:txBody>
      </p:sp>
      <p:sp>
        <p:nvSpPr>
          <p:cNvPr name="TextBox 30" id="30"/>
          <p:cNvSpPr txBox="true"/>
          <p:nvPr/>
        </p:nvSpPr>
        <p:spPr>
          <a:xfrm rot="0">
            <a:off x="9380840"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III.</a:t>
            </a:r>
          </a:p>
        </p:txBody>
      </p:sp>
      <p:sp>
        <p:nvSpPr>
          <p:cNvPr name="TextBox 31" id="31"/>
          <p:cNvSpPr txBox="true"/>
          <p:nvPr/>
        </p:nvSpPr>
        <p:spPr>
          <a:xfrm rot="0">
            <a:off x="12447324" y="8453915"/>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IV</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9" id="19"/>
          <p:cNvGrpSpPr/>
          <p:nvPr/>
        </p:nvGrpSpPr>
        <p:grpSpPr>
          <a:xfrm rot="0">
            <a:off x="319354" y="1793342"/>
            <a:ext cx="17770041" cy="4884716"/>
            <a:chOff x="0" y="0"/>
            <a:chExt cx="6011100" cy="1652361"/>
          </a:xfrm>
        </p:grpSpPr>
        <p:sp>
          <p:nvSpPr>
            <p:cNvPr name="Freeform 20" id="20"/>
            <p:cNvSpPr/>
            <p:nvPr/>
          </p:nvSpPr>
          <p:spPr>
            <a:xfrm>
              <a:off x="0" y="0"/>
              <a:ext cx="6011101" cy="1652361"/>
            </a:xfrm>
            <a:custGeom>
              <a:avLst/>
              <a:gdLst/>
              <a:ahLst/>
              <a:cxnLst/>
              <a:rect r="r" b="b" t="t" l="l"/>
              <a:pathLst>
                <a:path h="1652361" w="6011101">
                  <a:moveTo>
                    <a:pt x="0" y="0"/>
                  </a:moveTo>
                  <a:lnTo>
                    <a:pt x="6011101" y="0"/>
                  </a:lnTo>
                  <a:lnTo>
                    <a:pt x="6011101" y="1652361"/>
                  </a:lnTo>
                  <a:lnTo>
                    <a:pt x="0" y="1652361"/>
                  </a:lnTo>
                  <a:close/>
                </a:path>
              </a:pathLst>
            </a:custGeom>
            <a:solidFill>
              <a:srgbClr val="FFFFFF"/>
            </a:solidFill>
          </p:spPr>
        </p:sp>
      </p:grpSp>
      <p:pic>
        <p:nvPicPr>
          <p:cNvPr name="Picture 21" id="21"/>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pic>
        <p:nvPicPr>
          <p:cNvPr name="Picture 22" id="22"/>
          <p:cNvPicPr>
            <a:picLocks noChangeAspect="true"/>
          </p:cNvPicPr>
          <p:nvPr/>
        </p:nvPicPr>
        <p:blipFill>
          <a:blip r:embed="rId11"/>
          <a:srcRect l="0" t="0" r="0" b="0"/>
          <a:stretch>
            <a:fillRect/>
          </a:stretch>
        </p:blipFill>
        <p:spPr>
          <a:xfrm flipH="false" flipV="false" rot="0">
            <a:off x="8704069" y="4147442"/>
            <a:ext cx="8312498" cy="1607708"/>
          </a:xfrm>
          <a:prstGeom prst="rect">
            <a:avLst/>
          </a:prstGeom>
        </p:spPr>
      </p:pic>
      <p:sp>
        <p:nvSpPr>
          <p:cNvPr name="TextBox 23" id="23"/>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4" id="24"/>
          <p:cNvSpPr txBox="true"/>
          <p:nvPr/>
        </p:nvSpPr>
        <p:spPr>
          <a:xfrm rot="0">
            <a:off x="3265123" y="594904"/>
            <a:ext cx="1956275"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20</a:t>
            </a:r>
          </a:p>
        </p:txBody>
      </p:sp>
      <p:sp>
        <p:nvSpPr>
          <p:cNvPr name="TextBox 25" id="25"/>
          <p:cNvSpPr txBox="true"/>
          <p:nvPr/>
        </p:nvSpPr>
        <p:spPr>
          <a:xfrm rot="0">
            <a:off x="3500794" y="6958926"/>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6" id="26"/>
          <p:cNvSpPr txBox="true"/>
          <p:nvPr/>
        </p:nvSpPr>
        <p:spPr>
          <a:xfrm rot="0">
            <a:off x="6567278" y="6958926"/>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7" id="27"/>
          <p:cNvSpPr txBox="true"/>
          <p:nvPr/>
        </p:nvSpPr>
        <p:spPr>
          <a:xfrm rot="0">
            <a:off x="9633763" y="6956546"/>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8" id="28"/>
          <p:cNvSpPr txBox="true"/>
          <p:nvPr/>
        </p:nvSpPr>
        <p:spPr>
          <a:xfrm rot="0">
            <a:off x="12700248" y="6958926"/>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sp>
        <p:nvSpPr>
          <p:cNvPr name="TextBox 29" id="29"/>
          <p:cNvSpPr txBox="true"/>
          <p:nvPr/>
        </p:nvSpPr>
        <p:spPr>
          <a:xfrm rot="0">
            <a:off x="319354" y="1777347"/>
            <a:ext cx="17770041" cy="4931749"/>
          </a:xfrm>
          <a:prstGeom prst="rect">
            <a:avLst/>
          </a:prstGeom>
        </p:spPr>
        <p:txBody>
          <a:bodyPr anchor="t" rtlCol="false" tIns="0" lIns="0" bIns="0" rIns="0">
            <a:spAutoFit/>
          </a:bodyPr>
          <a:lstStyle/>
          <a:p>
            <a:pPr>
              <a:lnSpc>
                <a:spcPts val="3561"/>
              </a:lnSpc>
            </a:pPr>
            <a:r>
              <a:rPr lang="en-US" spc="179" sz="3328">
                <a:solidFill>
                  <a:srgbClr val="000000"/>
                </a:solidFill>
                <a:latin typeface="Quicksand"/>
              </a:rPr>
              <a:t>En un futuro cuyo contrato se firmó el 10 de abril de 2012, se pacta el intercambio de 500 libras de café a 1,5 dólares estadounidenses cada una, y la fecha pactada para la transacción fue el 18 de abril de 2012. Tomando como valor del dólar en pesos colombianos, el vigente el día de la firma del contrato, el comprador realizó los siguientes cálculos para determinar el valor de las 500 libras de café en pesos colombianos:</a:t>
            </a:r>
          </a:p>
          <a:p>
            <a:pPr>
              <a:lnSpc>
                <a:spcPts val="3561"/>
              </a:lnSpc>
            </a:pPr>
          </a:p>
          <a:p>
            <a:pPr>
              <a:lnSpc>
                <a:spcPts val="3561"/>
              </a:lnSpc>
            </a:pPr>
          </a:p>
          <a:p>
            <a:pPr>
              <a:lnSpc>
                <a:spcPts val="3561"/>
              </a:lnSpc>
            </a:pPr>
          </a:p>
          <a:p>
            <a:pPr>
              <a:lnSpc>
                <a:spcPts val="3561"/>
              </a:lnSpc>
            </a:pPr>
            <a:r>
              <a:rPr lang="en-US" spc="179" sz="3328">
                <a:solidFill>
                  <a:srgbClr val="000000"/>
                </a:solidFill>
                <a:latin typeface="Quicksand"/>
              </a:rPr>
              <a:t>Sin embargo, el valor de la compra en pesos colombianos no es correcto porque:</a:t>
            </a:r>
          </a:p>
        </p:txBody>
      </p:sp>
      <p:sp>
        <p:nvSpPr>
          <p:cNvPr name="TextBox 30" id="30"/>
          <p:cNvSpPr txBox="true"/>
          <p:nvPr/>
        </p:nvSpPr>
        <p:spPr>
          <a:xfrm rot="0">
            <a:off x="3247870" y="8013730"/>
            <a:ext cx="2514883" cy="1389353"/>
          </a:xfrm>
          <a:prstGeom prst="rect">
            <a:avLst/>
          </a:prstGeom>
        </p:spPr>
        <p:txBody>
          <a:bodyPr anchor="t" rtlCol="false" tIns="0" lIns="0" bIns="0" rIns="0">
            <a:spAutoFit/>
          </a:bodyPr>
          <a:lstStyle/>
          <a:p>
            <a:pPr algn="ctr">
              <a:lnSpc>
                <a:spcPts val="3619"/>
              </a:lnSpc>
            </a:pPr>
            <a:r>
              <a:rPr lang="en-US" spc="182" sz="3382">
                <a:solidFill>
                  <a:srgbClr val="000000"/>
                </a:solidFill>
                <a:latin typeface="Quicksand"/>
              </a:rPr>
              <a:t>$1.782 ÷ 1,5 no es igual a $1.188.</a:t>
            </a:r>
          </a:p>
        </p:txBody>
      </p:sp>
      <p:sp>
        <p:nvSpPr>
          <p:cNvPr name="TextBox 31" id="31"/>
          <p:cNvSpPr txBox="true"/>
          <p:nvPr/>
        </p:nvSpPr>
        <p:spPr>
          <a:xfrm rot="0">
            <a:off x="6353316" y="8012507"/>
            <a:ext cx="2514883" cy="1245793"/>
          </a:xfrm>
          <a:prstGeom prst="rect">
            <a:avLst/>
          </a:prstGeom>
        </p:spPr>
        <p:txBody>
          <a:bodyPr anchor="t" rtlCol="false" tIns="0" lIns="0" bIns="0" rIns="0">
            <a:spAutoFit/>
          </a:bodyPr>
          <a:lstStyle/>
          <a:p>
            <a:pPr algn="ctr">
              <a:lnSpc>
                <a:spcPts val="3255"/>
              </a:lnSpc>
            </a:pPr>
            <a:r>
              <a:rPr lang="en-US" spc="164" sz="3042">
                <a:solidFill>
                  <a:srgbClr val="000000"/>
                </a:solidFill>
                <a:latin typeface="Quicksand"/>
              </a:rPr>
              <a:t>$1.188 × 500 no es igual a $594.000.</a:t>
            </a:r>
          </a:p>
        </p:txBody>
      </p:sp>
      <p:sp>
        <p:nvSpPr>
          <p:cNvPr name="TextBox 32" id="32"/>
          <p:cNvSpPr txBox="true"/>
          <p:nvPr/>
        </p:nvSpPr>
        <p:spPr>
          <a:xfrm rot="0">
            <a:off x="9380840" y="7899948"/>
            <a:ext cx="2592806" cy="1502700"/>
          </a:xfrm>
          <a:prstGeom prst="rect">
            <a:avLst/>
          </a:prstGeom>
        </p:spPr>
        <p:txBody>
          <a:bodyPr anchor="t" rtlCol="false" tIns="0" lIns="0" bIns="0" rIns="0">
            <a:spAutoFit/>
          </a:bodyPr>
          <a:lstStyle/>
          <a:p>
            <a:pPr algn="ctr">
              <a:lnSpc>
                <a:spcPts val="2941"/>
              </a:lnSpc>
            </a:pPr>
            <a:r>
              <a:rPr lang="en-US" spc="148" sz="2748">
                <a:solidFill>
                  <a:srgbClr val="000000"/>
                </a:solidFill>
                <a:latin typeface="Quicksand"/>
              </a:rPr>
              <a:t>El valor de la libra de café es $1.764 ÷ 1,5 = $2.646.</a:t>
            </a:r>
          </a:p>
        </p:txBody>
      </p:sp>
      <p:sp>
        <p:nvSpPr>
          <p:cNvPr name="TextBox 33" id="33"/>
          <p:cNvSpPr txBox="true"/>
          <p:nvPr/>
        </p:nvSpPr>
        <p:spPr>
          <a:xfrm rot="0">
            <a:off x="12486285" y="7903719"/>
            <a:ext cx="2571098" cy="1518247"/>
          </a:xfrm>
          <a:prstGeom prst="rect">
            <a:avLst/>
          </a:prstGeom>
        </p:spPr>
        <p:txBody>
          <a:bodyPr anchor="t" rtlCol="false" tIns="0" lIns="0" bIns="0" rIns="0">
            <a:spAutoFit/>
          </a:bodyPr>
          <a:lstStyle/>
          <a:p>
            <a:pPr algn="ctr">
              <a:lnSpc>
                <a:spcPts val="2970"/>
              </a:lnSpc>
            </a:pPr>
            <a:r>
              <a:rPr lang="en-US" spc="149" sz="2776">
                <a:solidFill>
                  <a:srgbClr val="000000"/>
                </a:solidFill>
                <a:latin typeface="Quicksand"/>
              </a:rPr>
              <a:t>El valor de la libra de café es $1.782 × 1,5 = $2.673.</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452705" y="594904"/>
            <a:ext cx="1581111"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21</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328760"/>
            <a:ext cx="15861946" cy="3723090"/>
          </a:xfrm>
          <a:prstGeom prst="rect">
            <a:avLst/>
          </a:prstGeom>
        </p:spPr>
        <p:txBody>
          <a:bodyPr anchor="t" rtlCol="false" tIns="0" lIns="0" bIns="0" rIns="0">
            <a:spAutoFit/>
          </a:bodyPr>
          <a:lstStyle/>
          <a:p>
            <a:pPr>
              <a:lnSpc>
                <a:spcPts val="7330"/>
              </a:lnSpc>
            </a:pPr>
            <a:r>
              <a:rPr lang="en-US" spc="369" sz="6851">
                <a:solidFill>
                  <a:srgbClr val="000000"/>
                </a:solidFill>
                <a:latin typeface="Quicksand"/>
              </a:rPr>
              <a:t>Si en un taller reparan 25 motos diarias de lunes a viernes. ¿Cuántas motos repararían en 8 semanas?</a:t>
            </a:r>
          </a:p>
        </p:txBody>
      </p:sp>
      <p:sp>
        <p:nvSpPr>
          <p:cNvPr name="TextBox 28" id="28"/>
          <p:cNvSpPr txBox="true"/>
          <p:nvPr/>
        </p:nvSpPr>
        <p:spPr>
          <a:xfrm rot="0">
            <a:off x="3265123" y="8155174"/>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850 motos</a:t>
            </a:r>
          </a:p>
        </p:txBody>
      </p:sp>
      <p:sp>
        <p:nvSpPr>
          <p:cNvPr name="TextBox 29" id="29"/>
          <p:cNvSpPr txBox="true"/>
          <p:nvPr/>
        </p:nvSpPr>
        <p:spPr>
          <a:xfrm rot="0">
            <a:off x="6314355" y="8145649"/>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1.000 motos</a:t>
            </a:r>
          </a:p>
        </p:txBody>
      </p:sp>
      <p:sp>
        <p:nvSpPr>
          <p:cNvPr name="TextBox 30" id="30"/>
          <p:cNvSpPr txBox="true"/>
          <p:nvPr/>
        </p:nvSpPr>
        <p:spPr>
          <a:xfrm rot="0">
            <a:off x="9380840" y="8154035"/>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900 motos</a:t>
            </a:r>
          </a:p>
        </p:txBody>
      </p:sp>
      <p:sp>
        <p:nvSpPr>
          <p:cNvPr name="TextBox 31" id="31"/>
          <p:cNvSpPr txBox="true"/>
          <p:nvPr/>
        </p:nvSpPr>
        <p:spPr>
          <a:xfrm rot="0">
            <a:off x="12447324" y="8145649"/>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1.150 motos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265123" y="594904"/>
            <a:ext cx="1956275"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22</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442551"/>
            <a:ext cx="15861946" cy="3827104"/>
          </a:xfrm>
          <a:prstGeom prst="rect">
            <a:avLst/>
          </a:prstGeom>
        </p:spPr>
        <p:txBody>
          <a:bodyPr anchor="t" rtlCol="false" tIns="0" lIns="0" bIns="0" rIns="0">
            <a:spAutoFit/>
          </a:bodyPr>
          <a:lstStyle/>
          <a:p>
            <a:pPr>
              <a:lnSpc>
                <a:spcPts val="6046"/>
              </a:lnSpc>
            </a:pPr>
            <a:r>
              <a:rPr lang="en-US" spc="305" sz="5651">
                <a:solidFill>
                  <a:srgbClr val="000000"/>
                </a:solidFill>
                <a:latin typeface="Quicksand"/>
              </a:rPr>
              <a:t>Si en el Jardín Botánico hay 1300 árboles para podar, el primer día se podaron 143 árboles, el segundo día 35% más que el día anterior y el tercer día 157. ¿Cuántos arboles faltan por podar?</a:t>
            </a:r>
          </a:p>
        </p:txBody>
      </p:sp>
      <p:sp>
        <p:nvSpPr>
          <p:cNvPr name="TextBox 28" id="28"/>
          <p:cNvSpPr txBox="true"/>
          <p:nvPr/>
        </p:nvSpPr>
        <p:spPr>
          <a:xfrm rot="0">
            <a:off x="3265123" y="8155174"/>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932 arboles</a:t>
            </a:r>
          </a:p>
        </p:txBody>
      </p:sp>
      <p:sp>
        <p:nvSpPr>
          <p:cNvPr name="TextBox 29" id="29"/>
          <p:cNvSpPr txBox="true"/>
          <p:nvPr/>
        </p:nvSpPr>
        <p:spPr>
          <a:xfrm rot="0">
            <a:off x="6314355" y="8145649"/>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725 arboles</a:t>
            </a:r>
          </a:p>
        </p:txBody>
      </p:sp>
      <p:sp>
        <p:nvSpPr>
          <p:cNvPr name="TextBox 30" id="30"/>
          <p:cNvSpPr txBox="true"/>
          <p:nvPr/>
        </p:nvSpPr>
        <p:spPr>
          <a:xfrm rot="0">
            <a:off x="9380840" y="8154035"/>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807 arboles</a:t>
            </a:r>
          </a:p>
        </p:txBody>
      </p:sp>
      <p:sp>
        <p:nvSpPr>
          <p:cNvPr name="TextBox 31" id="31"/>
          <p:cNvSpPr txBox="true"/>
          <p:nvPr/>
        </p:nvSpPr>
        <p:spPr>
          <a:xfrm rot="0">
            <a:off x="12447324" y="8145649"/>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1.003 arboles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265123" y="594904"/>
            <a:ext cx="1956275"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23</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128607"/>
            <a:ext cx="15861946" cy="4141048"/>
          </a:xfrm>
          <a:prstGeom prst="rect">
            <a:avLst/>
          </a:prstGeom>
        </p:spPr>
        <p:txBody>
          <a:bodyPr anchor="t" rtlCol="false" tIns="0" lIns="0" bIns="0" rIns="0">
            <a:spAutoFit/>
          </a:bodyPr>
          <a:lstStyle/>
          <a:p>
            <a:pPr>
              <a:lnSpc>
                <a:spcPts val="5404"/>
              </a:lnSpc>
            </a:pPr>
            <a:r>
              <a:rPr lang="en-US" spc="272" sz="5051">
                <a:solidFill>
                  <a:srgbClr val="000000"/>
                </a:solidFill>
                <a:latin typeface="Quicksand"/>
              </a:rPr>
              <a:t>Antonia tiene 330 monedas para los juegos, si cada juego de animales se lleva 30 monedas y los juegos de transportes se llevan 45 monedas por cada vez que se monten y Antonia subió a los animales 5 veces. ¿Cuántas veces subió a los juegos de transportes?</a:t>
            </a:r>
          </a:p>
        </p:txBody>
      </p:sp>
      <p:sp>
        <p:nvSpPr>
          <p:cNvPr name="TextBox 28" id="28"/>
          <p:cNvSpPr txBox="true"/>
          <p:nvPr/>
        </p:nvSpPr>
        <p:spPr>
          <a:xfrm rot="0">
            <a:off x="3265123" y="8396937"/>
            <a:ext cx="2592806" cy="556880"/>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3 veces</a:t>
            </a:r>
          </a:p>
        </p:txBody>
      </p:sp>
      <p:sp>
        <p:nvSpPr>
          <p:cNvPr name="TextBox 29" id="29"/>
          <p:cNvSpPr txBox="true"/>
          <p:nvPr/>
        </p:nvSpPr>
        <p:spPr>
          <a:xfrm rot="0">
            <a:off x="6314355" y="8387412"/>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5 veces</a:t>
            </a:r>
          </a:p>
        </p:txBody>
      </p:sp>
      <p:sp>
        <p:nvSpPr>
          <p:cNvPr name="TextBox 30" id="30"/>
          <p:cNvSpPr txBox="true"/>
          <p:nvPr/>
        </p:nvSpPr>
        <p:spPr>
          <a:xfrm rot="0">
            <a:off x="9380840" y="8417112"/>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6 veces</a:t>
            </a:r>
          </a:p>
        </p:txBody>
      </p:sp>
      <p:sp>
        <p:nvSpPr>
          <p:cNvPr name="TextBox 31" id="31"/>
          <p:cNvSpPr txBox="true"/>
          <p:nvPr/>
        </p:nvSpPr>
        <p:spPr>
          <a:xfrm rot="0">
            <a:off x="12464578" y="8451383"/>
            <a:ext cx="2592806" cy="561340"/>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4 veces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265123" y="594904"/>
            <a:ext cx="1956275"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24</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628479"/>
            <a:ext cx="15861946" cy="3641176"/>
          </a:xfrm>
          <a:prstGeom prst="rect">
            <a:avLst/>
          </a:prstGeom>
        </p:spPr>
        <p:txBody>
          <a:bodyPr anchor="t" rtlCol="false" tIns="0" lIns="0" bIns="0" rIns="0">
            <a:spAutoFit/>
          </a:bodyPr>
          <a:lstStyle/>
          <a:p>
            <a:pPr>
              <a:lnSpc>
                <a:spcPts val="5725"/>
              </a:lnSpc>
            </a:pPr>
            <a:r>
              <a:rPr lang="en-US" spc="288" sz="5351">
                <a:solidFill>
                  <a:srgbClr val="000000"/>
                </a:solidFill>
                <a:latin typeface="Quicksand"/>
              </a:rPr>
              <a:t>En la frutería hay tres cajas de peras; la primera tiene 850, la segunda tiene 38 peras menos que la primera y la tercera tiene 32% más que la primera. ¿Cuántas peras tiene la tercera?</a:t>
            </a:r>
          </a:p>
        </p:txBody>
      </p:sp>
      <p:sp>
        <p:nvSpPr>
          <p:cNvPr name="TextBox 28" id="28"/>
          <p:cNvSpPr txBox="true"/>
          <p:nvPr/>
        </p:nvSpPr>
        <p:spPr>
          <a:xfrm rot="0">
            <a:off x="3265123" y="8299521"/>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1.050 peras</a:t>
            </a:r>
          </a:p>
        </p:txBody>
      </p:sp>
      <p:sp>
        <p:nvSpPr>
          <p:cNvPr name="TextBox 29" id="29"/>
          <p:cNvSpPr txBox="true"/>
          <p:nvPr/>
        </p:nvSpPr>
        <p:spPr>
          <a:xfrm rot="0">
            <a:off x="6314355" y="8289996"/>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1.320 peras</a:t>
            </a:r>
          </a:p>
        </p:txBody>
      </p:sp>
      <p:sp>
        <p:nvSpPr>
          <p:cNvPr name="TextBox 30" id="30"/>
          <p:cNvSpPr txBox="true"/>
          <p:nvPr/>
        </p:nvSpPr>
        <p:spPr>
          <a:xfrm rot="0">
            <a:off x="9380840"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1.122 peras</a:t>
            </a:r>
          </a:p>
        </p:txBody>
      </p:sp>
      <p:sp>
        <p:nvSpPr>
          <p:cNvPr name="TextBox 31" id="31"/>
          <p:cNvSpPr txBox="true"/>
          <p:nvPr/>
        </p:nvSpPr>
        <p:spPr>
          <a:xfrm rot="0">
            <a:off x="12464578" y="8289996"/>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985 peras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265123" y="594904"/>
            <a:ext cx="1956275"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25</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084792"/>
            <a:ext cx="15861946" cy="4249125"/>
          </a:xfrm>
          <a:prstGeom prst="rect">
            <a:avLst/>
          </a:prstGeom>
        </p:spPr>
        <p:txBody>
          <a:bodyPr anchor="t" rtlCol="false" tIns="0" lIns="0" bIns="0" rIns="0">
            <a:spAutoFit/>
          </a:bodyPr>
          <a:lstStyle/>
          <a:p>
            <a:pPr>
              <a:lnSpc>
                <a:spcPts val="5618"/>
              </a:lnSpc>
            </a:pPr>
            <a:r>
              <a:rPr lang="en-US" spc="283" sz="5251">
                <a:solidFill>
                  <a:srgbClr val="000000"/>
                </a:solidFill>
                <a:latin typeface="Quicksand"/>
              </a:rPr>
              <a:t>Juan tiene 100 metros de papel rojo, 150 metros de papela verde y 300 metros de papel azul para hacer unos aviones. ¿De cuantos metros hay que usar para que los aviones queden de la misma longitud y no sobre papel?</a:t>
            </a:r>
          </a:p>
        </p:txBody>
      </p:sp>
      <p:sp>
        <p:nvSpPr>
          <p:cNvPr name="TextBox 28" id="28"/>
          <p:cNvSpPr txBox="true"/>
          <p:nvPr/>
        </p:nvSpPr>
        <p:spPr>
          <a:xfrm rot="0">
            <a:off x="3265123" y="8299521"/>
            <a:ext cx="2592806" cy="1103126"/>
          </a:xfrm>
          <a:prstGeom prst="rect">
            <a:avLst/>
          </a:prstGeom>
        </p:spPr>
        <p:txBody>
          <a:bodyPr anchor="t" rtlCol="false" tIns="0" lIns="0" bIns="0" rIns="0">
            <a:spAutoFit/>
          </a:bodyPr>
          <a:lstStyle/>
          <a:p>
            <a:pPr algn="ctr">
              <a:lnSpc>
                <a:spcPts val="4393"/>
              </a:lnSpc>
            </a:pPr>
            <a:r>
              <a:rPr lang="en-US" spc="221" sz="4105">
                <a:solidFill>
                  <a:srgbClr val="000000"/>
                </a:solidFill>
                <a:latin typeface="Quicksand"/>
              </a:rPr>
              <a:t>30 metros.</a:t>
            </a:r>
          </a:p>
        </p:txBody>
      </p:sp>
      <p:sp>
        <p:nvSpPr>
          <p:cNvPr name="TextBox 29" id="29"/>
          <p:cNvSpPr txBox="true"/>
          <p:nvPr/>
        </p:nvSpPr>
        <p:spPr>
          <a:xfrm rot="0">
            <a:off x="6314355" y="8289996"/>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50 metros.</a:t>
            </a:r>
          </a:p>
        </p:txBody>
      </p:sp>
      <p:sp>
        <p:nvSpPr>
          <p:cNvPr name="TextBox 30" id="30"/>
          <p:cNvSpPr txBox="true"/>
          <p:nvPr/>
        </p:nvSpPr>
        <p:spPr>
          <a:xfrm rot="0">
            <a:off x="9380840" y="8298382"/>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25 metros.</a:t>
            </a:r>
          </a:p>
        </p:txBody>
      </p:sp>
      <p:sp>
        <p:nvSpPr>
          <p:cNvPr name="TextBox 31" id="31"/>
          <p:cNvSpPr txBox="true"/>
          <p:nvPr/>
        </p:nvSpPr>
        <p:spPr>
          <a:xfrm rot="0">
            <a:off x="12464578" y="8289996"/>
            <a:ext cx="2592806" cy="1104265"/>
          </a:xfrm>
          <a:prstGeom prst="rect">
            <a:avLst/>
          </a:prstGeom>
        </p:spPr>
        <p:txBody>
          <a:bodyPr anchor="t" rtlCol="false" tIns="0" lIns="0" bIns="0" rIns="0">
            <a:spAutoFit/>
          </a:bodyPr>
          <a:lstStyle/>
          <a:p>
            <a:pPr algn="ctr">
              <a:lnSpc>
                <a:spcPts val="4279"/>
              </a:lnSpc>
            </a:pPr>
            <a:r>
              <a:rPr lang="en-US" spc="215" sz="3999">
                <a:solidFill>
                  <a:srgbClr val="000000"/>
                </a:solidFill>
                <a:latin typeface="Quicksand"/>
              </a:rPr>
              <a:t>40 metros.</a:t>
            </a:r>
          </a:p>
        </p:txBody>
      </p:sp>
      <p:pic>
        <p:nvPicPr>
          <p:cNvPr name="Picture 32" id="32"/>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265123" y="594904"/>
            <a:ext cx="1956275"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26</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483572"/>
            <a:ext cx="15861946" cy="3850345"/>
          </a:xfrm>
          <a:prstGeom prst="rect">
            <a:avLst/>
          </a:prstGeom>
        </p:spPr>
        <p:txBody>
          <a:bodyPr anchor="t" rtlCol="false" tIns="0" lIns="0" bIns="0" rIns="0">
            <a:spAutoFit/>
          </a:bodyPr>
          <a:lstStyle/>
          <a:p>
            <a:pPr>
              <a:lnSpc>
                <a:spcPts val="5083"/>
              </a:lnSpc>
            </a:pPr>
            <a:r>
              <a:rPr lang="en-US" spc="256" sz="4751">
                <a:solidFill>
                  <a:srgbClr val="000000"/>
                </a:solidFill>
                <a:latin typeface="Quicksand"/>
              </a:rPr>
              <a:t>Un fabricante necesita 2.000 kilogramos de material para su próxima construcción, primero le envían 584 kilogramos, más tarde 213 kilogramos menos que la primera vez, y luego 316</a:t>
            </a:r>
          </a:p>
          <a:p>
            <a:pPr>
              <a:lnSpc>
                <a:spcPts val="5083"/>
              </a:lnSpc>
            </a:pPr>
            <a:r>
              <a:rPr lang="en-US" spc="37" sz="4751">
                <a:solidFill>
                  <a:srgbClr val="000000"/>
                </a:solidFill>
                <a:latin typeface="Arimo"/>
              </a:rPr>
              <a:t>kilogramos más que la primera cantidad. ¿Cuánto falta por ser enviado?</a:t>
            </a:r>
          </a:p>
        </p:txBody>
      </p:sp>
      <p:sp>
        <p:nvSpPr>
          <p:cNvPr name="TextBox 28" id="28"/>
          <p:cNvSpPr txBox="true"/>
          <p:nvPr/>
        </p:nvSpPr>
        <p:spPr>
          <a:xfrm rot="0">
            <a:off x="3265123" y="8512788"/>
            <a:ext cx="2575552" cy="889859"/>
          </a:xfrm>
          <a:prstGeom prst="rect">
            <a:avLst/>
          </a:prstGeom>
        </p:spPr>
        <p:txBody>
          <a:bodyPr anchor="t" rtlCol="false" tIns="0" lIns="0" bIns="0" rIns="0">
            <a:spAutoFit/>
          </a:bodyPr>
          <a:lstStyle/>
          <a:p>
            <a:pPr algn="ctr">
              <a:lnSpc>
                <a:spcPts val="3513"/>
              </a:lnSpc>
            </a:pPr>
            <a:r>
              <a:rPr lang="en-US" spc="177" sz="3283">
                <a:solidFill>
                  <a:srgbClr val="000000"/>
                </a:solidFill>
                <a:latin typeface="Quicksand"/>
              </a:rPr>
              <a:t>145 kilogramos.</a:t>
            </a:r>
          </a:p>
        </p:txBody>
      </p:sp>
      <p:pic>
        <p:nvPicPr>
          <p:cNvPr name="Picture 29" id="29"/>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
        <p:nvSpPr>
          <p:cNvPr name="TextBox 30" id="30"/>
          <p:cNvSpPr txBox="true"/>
          <p:nvPr/>
        </p:nvSpPr>
        <p:spPr>
          <a:xfrm rot="0">
            <a:off x="6331608" y="8513224"/>
            <a:ext cx="2575552" cy="889859"/>
          </a:xfrm>
          <a:prstGeom prst="rect">
            <a:avLst/>
          </a:prstGeom>
        </p:spPr>
        <p:txBody>
          <a:bodyPr anchor="t" rtlCol="false" tIns="0" lIns="0" bIns="0" rIns="0">
            <a:spAutoFit/>
          </a:bodyPr>
          <a:lstStyle/>
          <a:p>
            <a:pPr algn="ctr">
              <a:lnSpc>
                <a:spcPts val="3513"/>
              </a:lnSpc>
            </a:pPr>
            <a:r>
              <a:rPr lang="en-US" spc="177" sz="3283">
                <a:solidFill>
                  <a:srgbClr val="000000"/>
                </a:solidFill>
                <a:latin typeface="Quicksand"/>
              </a:rPr>
              <a:t>202 kilogramos.</a:t>
            </a:r>
          </a:p>
        </p:txBody>
      </p:sp>
      <p:sp>
        <p:nvSpPr>
          <p:cNvPr name="TextBox 31" id="31"/>
          <p:cNvSpPr txBox="true"/>
          <p:nvPr/>
        </p:nvSpPr>
        <p:spPr>
          <a:xfrm rot="0">
            <a:off x="9380840" y="8513224"/>
            <a:ext cx="2575552" cy="889859"/>
          </a:xfrm>
          <a:prstGeom prst="rect">
            <a:avLst/>
          </a:prstGeom>
        </p:spPr>
        <p:txBody>
          <a:bodyPr anchor="t" rtlCol="false" tIns="0" lIns="0" bIns="0" rIns="0">
            <a:spAutoFit/>
          </a:bodyPr>
          <a:lstStyle/>
          <a:p>
            <a:pPr algn="ctr">
              <a:lnSpc>
                <a:spcPts val="3513"/>
              </a:lnSpc>
            </a:pPr>
            <a:r>
              <a:rPr lang="en-US" spc="177" sz="3283">
                <a:solidFill>
                  <a:srgbClr val="000000"/>
                </a:solidFill>
                <a:latin typeface="Quicksand"/>
              </a:rPr>
              <a:t>89 kilogramos.</a:t>
            </a:r>
          </a:p>
        </p:txBody>
      </p:sp>
      <p:sp>
        <p:nvSpPr>
          <p:cNvPr name="TextBox 32" id="32"/>
          <p:cNvSpPr txBox="true"/>
          <p:nvPr/>
        </p:nvSpPr>
        <p:spPr>
          <a:xfrm rot="0">
            <a:off x="12447324" y="8512788"/>
            <a:ext cx="2575552" cy="889859"/>
          </a:xfrm>
          <a:prstGeom prst="rect">
            <a:avLst/>
          </a:prstGeom>
        </p:spPr>
        <p:txBody>
          <a:bodyPr anchor="t" rtlCol="false" tIns="0" lIns="0" bIns="0" rIns="0">
            <a:spAutoFit/>
          </a:bodyPr>
          <a:lstStyle/>
          <a:p>
            <a:pPr algn="ctr">
              <a:lnSpc>
                <a:spcPts val="3513"/>
              </a:lnSpc>
            </a:pPr>
            <a:r>
              <a:rPr lang="en-US" spc="177" sz="3283">
                <a:solidFill>
                  <a:srgbClr val="000000"/>
                </a:solidFill>
                <a:latin typeface="Quicksand"/>
              </a:rPr>
              <a:t>239 kilogramos.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1028700" y="150137"/>
            <a:ext cx="16389810" cy="3940156"/>
            <a:chOff x="0" y="0"/>
            <a:chExt cx="5544207" cy="1332843"/>
          </a:xfrm>
        </p:grpSpPr>
        <p:sp>
          <p:nvSpPr>
            <p:cNvPr name="Freeform 8" id="8"/>
            <p:cNvSpPr/>
            <p:nvPr/>
          </p:nvSpPr>
          <p:spPr>
            <a:xfrm>
              <a:off x="0" y="0"/>
              <a:ext cx="5544207" cy="1332843"/>
            </a:xfrm>
            <a:custGeom>
              <a:avLst/>
              <a:gdLst/>
              <a:ahLst/>
              <a:cxnLst/>
              <a:rect r="r" b="b" t="t" l="l"/>
              <a:pathLst>
                <a:path h="1332843" w="5544207">
                  <a:moveTo>
                    <a:pt x="0" y="0"/>
                  </a:moveTo>
                  <a:lnTo>
                    <a:pt x="5544207" y="0"/>
                  </a:lnTo>
                  <a:lnTo>
                    <a:pt x="5544207" y="1332843"/>
                  </a:lnTo>
                  <a:lnTo>
                    <a:pt x="0" y="1332843"/>
                  </a:lnTo>
                  <a:close/>
                </a:path>
              </a:pathLst>
            </a:custGeom>
            <a:solidFill>
              <a:srgbClr val="FFFFFF"/>
            </a:solidFill>
          </p:spPr>
        </p:sp>
      </p:grpSp>
      <p:pic>
        <p:nvPicPr>
          <p:cNvPr name="Picture 9" id="9"/>
          <p:cNvPicPr>
            <a:picLocks noChangeAspect="true"/>
          </p:cNvPicPr>
          <p:nvPr/>
        </p:nvPicPr>
        <p:blipFill>
          <a:blip r:embed="rId10"/>
          <a:srcRect l="0" t="0" r="0" b="0"/>
          <a:stretch>
            <a:fillRect/>
          </a:stretch>
        </p:blipFill>
        <p:spPr>
          <a:xfrm flipH="false" flipV="false" rot="0">
            <a:off x="4738738" y="3937655"/>
            <a:ext cx="8969734" cy="6417933"/>
          </a:xfrm>
          <a:prstGeom prst="rect">
            <a:avLst/>
          </a:prstGeom>
        </p:spPr>
      </p:pic>
      <p:sp>
        <p:nvSpPr>
          <p:cNvPr name="TextBox 10" id="10"/>
          <p:cNvSpPr txBox="true"/>
          <p:nvPr/>
        </p:nvSpPr>
        <p:spPr>
          <a:xfrm rot="0">
            <a:off x="1233253" y="114822"/>
            <a:ext cx="16026047" cy="3975470"/>
          </a:xfrm>
          <a:prstGeom prst="rect">
            <a:avLst/>
          </a:prstGeom>
        </p:spPr>
        <p:txBody>
          <a:bodyPr anchor="t" rtlCol="false" tIns="0" lIns="0" bIns="0" rIns="0">
            <a:spAutoFit/>
          </a:bodyPr>
          <a:lstStyle/>
          <a:p>
            <a:pPr algn="ctr">
              <a:lnSpc>
                <a:spcPts val="3933"/>
              </a:lnSpc>
            </a:pPr>
            <a:r>
              <a:rPr lang="en-US" spc="198" sz="3676">
                <a:solidFill>
                  <a:srgbClr val="000000"/>
                </a:solidFill>
                <a:latin typeface="Quicksand"/>
              </a:rPr>
              <a:t>RESPONDA LAS PREGUNTAS 27 A 30 DE ACUERDO CON LA SIGUIENTE INFORMACIÓN</a:t>
            </a:r>
          </a:p>
          <a:p>
            <a:pPr>
              <a:lnSpc>
                <a:spcPts val="3933"/>
              </a:lnSpc>
            </a:pPr>
            <a:r>
              <a:rPr lang="en-US" spc="64" sz="3676">
                <a:solidFill>
                  <a:srgbClr val="000000"/>
                </a:solidFill>
                <a:latin typeface="Arimo"/>
              </a:rPr>
              <a:t>En el 2013, el presupuesto de inversión en el sector salud del país fue de 3,65 billones de pesos, de los cuales a mayo del mismo año se habían ejecutado 1,66 billones. La gráfica muestra el porcentaje de ejecución hasta mayo del 2013, el porcentaje máximo ejecutado y el porcentaje promedio acumulado de ejecución de cada mes, en los años 2002 a 2012.</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265123" y="594904"/>
            <a:ext cx="1956275"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27</a:t>
            </a:r>
          </a:p>
        </p:txBody>
      </p:sp>
      <p:sp>
        <p:nvSpPr>
          <p:cNvPr name="TextBox 21" id="21"/>
          <p:cNvSpPr txBox="true"/>
          <p:nvPr/>
        </p:nvSpPr>
        <p:spPr>
          <a:xfrm rot="0">
            <a:off x="3500794"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A</a:t>
            </a:r>
          </a:p>
        </p:txBody>
      </p:sp>
      <p:sp>
        <p:nvSpPr>
          <p:cNvPr name="TextBox 22" id="22"/>
          <p:cNvSpPr txBox="true"/>
          <p:nvPr/>
        </p:nvSpPr>
        <p:spPr>
          <a:xfrm rot="0">
            <a:off x="656727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B</a:t>
            </a:r>
          </a:p>
        </p:txBody>
      </p:sp>
      <p:sp>
        <p:nvSpPr>
          <p:cNvPr name="TextBox 23" id="23"/>
          <p:cNvSpPr txBox="true"/>
          <p:nvPr/>
        </p:nvSpPr>
        <p:spPr>
          <a:xfrm rot="0">
            <a:off x="9633763"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C</a:t>
            </a:r>
          </a:p>
        </p:txBody>
      </p:sp>
      <p:sp>
        <p:nvSpPr>
          <p:cNvPr name="TextBox 24" id="24"/>
          <p:cNvSpPr txBox="true"/>
          <p:nvPr/>
        </p:nvSpPr>
        <p:spPr>
          <a:xfrm rot="0">
            <a:off x="12700248" y="7209744"/>
            <a:ext cx="2086958" cy="1191481"/>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D</a:t>
            </a:r>
          </a:p>
        </p:txBody>
      </p:sp>
      <p:grpSp>
        <p:nvGrpSpPr>
          <p:cNvPr name="Group 25" id="25"/>
          <p:cNvGrpSpPr/>
          <p:nvPr/>
        </p:nvGrpSpPr>
        <p:grpSpPr>
          <a:xfrm rot="0">
            <a:off x="785002" y="2129420"/>
            <a:ext cx="16148353" cy="4314079"/>
            <a:chOff x="0" y="0"/>
            <a:chExt cx="5462529" cy="1459331"/>
          </a:xfrm>
        </p:grpSpPr>
        <p:sp>
          <p:nvSpPr>
            <p:cNvPr name="Freeform 26" id="26"/>
            <p:cNvSpPr/>
            <p:nvPr/>
          </p:nvSpPr>
          <p:spPr>
            <a:xfrm>
              <a:off x="0" y="0"/>
              <a:ext cx="5462529" cy="1459330"/>
            </a:xfrm>
            <a:custGeom>
              <a:avLst/>
              <a:gdLst/>
              <a:ahLst/>
              <a:cxnLst/>
              <a:rect r="r" b="b" t="t" l="l"/>
              <a:pathLst>
                <a:path h="1459330" w="5462529">
                  <a:moveTo>
                    <a:pt x="0" y="0"/>
                  </a:moveTo>
                  <a:lnTo>
                    <a:pt x="5462529" y="0"/>
                  </a:lnTo>
                  <a:lnTo>
                    <a:pt x="5462529" y="1459330"/>
                  </a:lnTo>
                  <a:lnTo>
                    <a:pt x="0" y="1459330"/>
                  </a:lnTo>
                  <a:close/>
                </a:path>
              </a:pathLst>
            </a:custGeom>
            <a:solidFill>
              <a:srgbClr val="FFFFFF"/>
            </a:solidFill>
          </p:spPr>
        </p:sp>
      </p:grpSp>
      <p:sp>
        <p:nvSpPr>
          <p:cNvPr name="TextBox 27" id="27"/>
          <p:cNvSpPr txBox="true"/>
          <p:nvPr/>
        </p:nvSpPr>
        <p:spPr>
          <a:xfrm rot="0">
            <a:off x="928206" y="2360637"/>
            <a:ext cx="15861946" cy="3973281"/>
          </a:xfrm>
          <a:prstGeom prst="rect">
            <a:avLst/>
          </a:prstGeom>
        </p:spPr>
        <p:txBody>
          <a:bodyPr anchor="t" rtlCol="false" tIns="0" lIns="0" bIns="0" rIns="0">
            <a:spAutoFit/>
          </a:bodyPr>
          <a:lstStyle/>
          <a:p>
            <a:pPr>
              <a:lnSpc>
                <a:spcPts val="6260"/>
              </a:lnSpc>
            </a:pPr>
            <a:r>
              <a:rPr lang="en-US" spc="315" sz="5851">
                <a:solidFill>
                  <a:srgbClr val="000000"/>
                </a:solidFill>
                <a:latin typeface="Quicksand"/>
              </a:rPr>
              <a:t>Si se espera que en octubre de 2013 el porcentaje de ejecución sea del 70%, la cantidad de</a:t>
            </a:r>
          </a:p>
          <a:p>
            <a:pPr>
              <a:lnSpc>
                <a:spcPts val="6260"/>
              </a:lnSpc>
            </a:pPr>
            <a:r>
              <a:rPr lang="en-US" spc="124" sz="5851">
                <a:solidFill>
                  <a:srgbClr val="000000"/>
                </a:solidFill>
                <a:latin typeface="Arimo"/>
              </a:rPr>
              <a:t>dinero invertida en el sector salud hasta ese mes sería aproximadamente de</a:t>
            </a:r>
          </a:p>
        </p:txBody>
      </p:sp>
      <p:sp>
        <p:nvSpPr>
          <p:cNvPr name="TextBox 28" id="28"/>
          <p:cNvSpPr txBox="true"/>
          <p:nvPr/>
        </p:nvSpPr>
        <p:spPr>
          <a:xfrm rot="0">
            <a:off x="3265123" y="8512788"/>
            <a:ext cx="2575552" cy="889859"/>
          </a:xfrm>
          <a:prstGeom prst="rect">
            <a:avLst/>
          </a:prstGeom>
        </p:spPr>
        <p:txBody>
          <a:bodyPr anchor="t" rtlCol="false" tIns="0" lIns="0" bIns="0" rIns="0">
            <a:spAutoFit/>
          </a:bodyPr>
          <a:lstStyle/>
          <a:p>
            <a:pPr algn="ctr">
              <a:lnSpc>
                <a:spcPts val="3513"/>
              </a:lnSpc>
            </a:pPr>
            <a:r>
              <a:rPr lang="en-US" spc="177" sz="3283">
                <a:solidFill>
                  <a:srgbClr val="000000"/>
                </a:solidFill>
                <a:latin typeface="Quicksand"/>
              </a:rPr>
              <a:t>2,55 billones.</a:t>
            </a:r>
          </a:p>
        </p:txBody>
      </p:sp>
      <p:pic>
        <p:nvPicPr>
          <p:cNvPr name="Picture 29" id="29"/>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
        <p:nvSpPr>
          <p:cNvPr name="TextBox 30" id="30"/>
          <p:cNvSpPr txBox="true"/>
          <p:nvPr/>
        </p:nvSpPr>
        <p:spPr>
          <a:xfrm rot="0">
            <a:off x="6331608" y="8513224"/>
            <a:ext cx="2575552" cy="889859"/>
          </a:xfrm>
          <a:prstGeom prst="rect">
            <a:avLst/>
          </a:prstGeom>
        </p:spPr>
        <p:txBody>
          <a:bodyPr anchor="t" rtlCol="false" tIns="0" lIns="0" bIns="0" rIns="0">
            <a:spAutoFit/>
          </a:bodyPr>
          <a:lstStyle/>
          <a:p>
            <a:pPr algn="ctr">
              <a:lnSpc>
                <a:spcPts val="3513"/>
              </a:lnSpc>
            </a:pPr>
            <a:r>
              <a:rPr lang="en-US" spc="177" sz="3283">
                <a:solidFill>
                  <a:srgbClr val="000000"/>
                </a:solidFill>
                <a:latin typeface="Quicksand"/>
              </a:rPr>
              <a:t>1,99 billones.</a:t>
            </a:r>
          </a:p>
        </p:txBody>
      </p:sp>
      <p:sp>
        <p:nvSpPr>
          <p:cNvPr name="TextBox 31" id="31"/>
          <p:cNvSpPr txBox="true"/>
          <p:nvPr/>
        </p:nvSpPr>
        <p:spPr>
          <a:xfrm rot="0">
            <a:off x="9380840" y="8513224"/>
            <a:ext cx="2575552" cy="889859"/>
          </a:xfrm>
          <a:prstGeom prst="rect">
            <a:avLst/>
          </a:prstGeom>
        </p:spPr>
        <p:txBody>
          <a:bodyPr anchor="t" rtlCol="false" tIns="0" lIns="0" bIns="0" rIns="0">
            <a:spAutoFit/>
          </a:bodyPr>
          <a:lstStyle/>
          <a:p>
            <a:pPr algn="ctr">
              <a:lnSpc>
                <a:spcPts val="3513"/>
              </a:lnSpc>
            </a:pPr>
            <a:r>
              <a:rPr lang="en-US" spc="177" sz="3283">
                <a:solidFill>
                  <a:srgbClr val="000000"/>
                </a:solidFill>
                <a:latin typeface="Quicksand"/>
              </a:rPr>
              <a:t>1,09 billones.</a:t>
            </a:r>
          </a:p>
        </p:txBody>
      </p:sp>
      <p:sp>
        <p:nvSpPr>
          <p:cNvPr name="TextBox 32" id="32"/>
          <p:cNvSpPr txBox="true"/>
          <p:nvPr/>
        </p:nvSpPr>
        <p:spPr>
          <a:xfrm rot="0">
            <a:off x="12447324" y="8512788"/>
            <a:ext cx="2575552" cy="889859"/>
          </a:xfrm>
          <a:prstGeom prst="rect">
            <a:avLst/>
          </a:prstGeom>
        </p:spPr>
        <p:txBody>
          <a:bodyPr anchor="t" rtlCol="false" tIns="0" lIns="0" bIns="0" rIns="0">
            <a:spAutoFit/>
          </a:bodyPr>
          <a:lstStyle/>
          <a:p>
            <a:pPr algn="ctr">
              <a:lnSpc>
                <a:spcPts val="3513"/>
              </a:lnSpc>
            </a:pPr>
            <a:r>
              <a:rPr lang="en-US" spc="177" sz="3283">
                <a:solidFill>
                  <a:srgbClr val="000000"/>
                </a:solidFill>
                <a:latin typeface="Quicksand"/>
              </a:rPr>
              <a:t>0,88 billones.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247870" y="594904"/>
            <a:ext cx="1973528"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28</a:t>
            </a:r>
          </a:p>
        </p:txBody>
      </p:sp>
      <p:sp>
        <p:nvSpPr>
          <p:cNvPr name="TextBox 21" id="21"/>
          <p:cNvSpPr txBox="true"/>
          <p:nvPr/>
        </p:nvSpPr>
        <p:spPr>
          <a:xfrm rot="0">
            <a:off x="3668341" y="6893102"/>
            <a:ext cx="1608690" cy="913468"/>
          </a:xfrm>
          <a:prstGeom prst="rect">
            <a:avLst/>
          </a:prstGeom>
        </p:spPr>
        <p:txBody>
          <a:bodyPr anchor="t" rtlCol="false" tIns="0" lIns="0" bIns="0" rIns="0">
            <a:spAutoFit/>
          </a:bodyPr>
          <a:lstStyle/>
          <a:p>
            <a:pPr algn="ctr">
              <a:lnSpc>
                <a:spcPts val="7066"/>
              </a:lnSpc>
            </a:pPr>
            <a:r>
              <a:rPr lang="en-US" spc="937" sz="6604">
                <a:solidFill>
                  <a:srgbClr val="000000"/>
                </a:solidFill>
                <a:latin typeface="League Spartan"/>
              </a:rPr>
              <a:t>A</a:t>
            </a:r>
          </a:p>
        </p:txBody>
      </p:sp>
      <p:grpSp>
        <p:nvGrpSpPr>
          <p:cNvPr name="Group 22" id="22"/>
          <p:cNvGrpSpPr/>
          <p:nvPr/>
        </p:nvGrpSpPr>
        <p:grpSpPr>
          <a:xfrm rot="0">
            <a:off x="319354" y="1793342"/>
            <a:ext cx="17552237" cy="4800945"/>
            <a:chOff x="0" y="0"/>
            <a:chExt cx="5937423" cy="1624023"/>
          </a:xfrm>
        </p:grpSpPr>
        <p:sp>
          <p:nvSpPr>
            <p:cNvPr name="Freeform 23" id="23"/>
            <p:cNvSpPr/>
            <p:nvPr/>
          </p:nvSpPr>
          <p:spPr>
            <a:xfrm>
              <a:off x="0" y="0"/>
              <a:ext cx="5937423" cy="1624023"/>
            </a:xfrm>
            <a:custGeom>
              <a:avLst/>
              <a:gdLst/>
              <a:ahLst/>
              <a:cxnLst/>
              <a:rect r="r" b="b" t="t" l="l"/>
              <a:pathLst>
                <a:path h="1624023" w="5937423">
                  <a:moveTo>
                    <a:pt x="0" y="0"/>
                  </a:moveTo>
                  <a:lnTo>
                    <a:pt x="5937423" y="0"/>
                  </a:lnTo>
                  <a:lnTo>
                    <a:pt x="5937423" y="1624023"/>
                  </a:lnTo>
                  <a:lnTo>
                    <a:pt x="0" y="1624023"/>
                  </a:lnTo>
                  <a:close/>
                </a:path>
              </a:pathLst>
            </a:custGeom>
            <a:solidFill>
              <a:srgbClr val="FFFFFF"/>
            </a:solidFill>
          </p:spPr>
        </p:sp>
      </p:grpSp>
      <p:sp>
        <p:nvSpPr>
          <p:cNvPr name="TextBox 24" id="24"/>
          <p:cNvSpPr txBox="true"/>
          <p:nvPr/>
        </p:nvSpPr>
        <p:spPr>
          <a:xfrm rot="0">
            <a:off x="527375" y="2104123"/>
            <a:ext cx="17156400" cy="4374727"/>
          </a:xfrm>
          <a:prstGeom prst="rect">
            <a:avLst/>
          </a:prstGeom>
        </p:spPr>
        <p:txBody>
          <a:bodyPr anchor="t" rtlCol="false" tIns="0" lIns="0" bIns="0" rIns="0">
            <a:spAutoFit/>
          </a:bodyPr>
          <a:lstStyle/>
          <a:p>
            <a:pPr>
              <a:lnSpc>
                <a:spcPts val="3882"/>
              </a:lnSpc>
            </a:pPr>
            <a:r>
              <a:rPr lang="en-US" spc="195" sz="3628">
                <a:solidFill>
                  <a:srgbClr val="000000"/>
                </a:solidFill>
                <a:latin typeface="Quicksand"/>
              </a:rPr>
              <a:t>El porcentaje de aumento en la ejecución del presupuesto en mayo de 2013, en comparación</a:t>
            </a:r>
          </a:p>
          <a:p>
            <a:pPr>
              <a:lnSpc>
                <a:spcPts val="3882"/>
              </a:lnSpc>
            </a:pPr>
            <a:r>
              <a:rPr lang="en-US" spc="80" sz="3628">
                <a:solidFill>
                  <a:srgbClr val="000000"/>
                </a:solidFill>
                <a:latin typeface="Arimo"/>
              </a:rPr>
              <a:t>con el mes anterior fue del 7%. De mantenerse este comportamiento y ejecutando los siguientes tres pasos:</a:t>
            </a:r>
          </a:p>
          <a:p>
            <a:pPr>
              <a:lnSpc>
                <a:spcPts val="3882"/>
              </a:lnSpc>
            </a:pPr>
            <a:r>
              <a:rPr lang="en-US" spc="80" sz="3628">
                <a:solidFill>
                  <a:srgbClr val="000000"/>
                </a:solidFill>
                <a:latin typeface="Arimo"/>
              </a:rPr>
              <a:t>Paso 1. Restar de 100%, el porcentaje de ejecución a mayo de 2013.</a:t>
            </a:r>
          </a:p>
          <a:p>
            <a:pPr>
              <a:lnSpc>
                <a:spcPts val="3882"/>
              </a:lnSpc>
            </a:pPr>
            <a:r>
              <a:rPr lang="en-US" spc="80" sz="3628">
                <a:solidFill>
                  <a:srgbClr val="000000"/>
                </a:solidFill>
                <a:latin typeface="Arimo"/>
              </a:rPr>
              <a:t>Paso 2. Dividir entre 7 el resultado obtenido en el paso 1.</a:t>
            </a:r>
          </a:p>
          <a:p>
            <a:pPr>
              <a:lnSpc>
                <a:spcPts val="3882"/>
              </a:lnSpc>
            </a:pPr>
            <a:r>
              <a:rPr lang="en-US" spc="80" sz="3628">
                <a:solidFill>
                  <a:srgbClr val="000000"/>
                </a:solidFill>
                <a:latin typeface="Arimo"/>
              </a:rPr>
              <a:t>Paso 3. Sumar el resultado obtenido en el paso 2 al porcentaje de ejecución a mayo de 2013.</a:t>
            </a:r>
          </a:p>
          <a:p>
            <a:pPr>
              <a:lnSpc>
                <a:spcPts val="3882"/>
              </a:lnSpc>
            </a:pPr>
            <a:r>
              <a:rPr lang="en-US" spc="80" sz="3628">
                <a:solidFill>
                  <a:srgbClr val="000000"/>
                </a:solidFill>
                <a:latin typeface="Arimo"/>
              </a:rPr>
              <a:t>Puede estimarse el porcentaje</a:t>
            </a:r>
          </a:p>
        </p:txBody>
      </p:sp>
      <p:sp>
        <p:nvSpPr>
          <p:cNvPr name="TextBox 25" id="25"/>
          <p:cNvSpPr txBox="true"/>
          <p:nvPr/>
        </p:nvSpPr>
        <p:spPr>
          <a:xfrm rot="0">
            <a:off x="3247870" y="7528253"/>
            <a:ext cx="2592806" cy="1874830"/>
          </a:xfrm>
          <a:prstGeom prst="rect">
            <a:avLst/>
          </a:prstGeom>
        </p:spPr>
        <p:txBody>
          <a:bodyPr anchor="t" rtlCol="false" tIns="0" lIns="0" bIns="0" rIns="0">
            <a:spAutoFit/>
          </a:bodyPr>
          <a:lstStyle/>
          <a:p>
            <a:pPr algn="ctr">
              <a:lnSpc>
                <a:spcPts val="2983"/>
              </a:lnSpc>
            </a:pPr>
            <a:r>
              <a:rPr lang="en-US" spc="150" sz="2788">
                <a:solidFill>
                  <a:srgbClr val="000000"/>
                </a:solidFill>
                <a:latin typeface="Quicksand"/>
              </a:rPr>
              <a:t>de ejecución del presupuesto hasta junio de 2013.</a:t>
            </a:r>
          </a:p>
        </p:txBody>
      </p:sp>
      <p:pic>
        <p:nvPicPr>
          <p:cNvPr name="Picture 26" id="26"/>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
        <p:nvSpPr>
          <p:cNvPr name="TextBox 27" id="27"/>
          <p:cNvSpPr txBox="true"/>
          <p:nvPr/>
        </p:nvSpPr>
        <p:spPr>
          <a:xfrm rot="0">
            <a:off x="6734826" y="6887740"/>
            <a:ext cx="1608690" cy="918830"/>
          </a:xfrm>
          <a:prstGeom prst="rect">
            <a:avLst/>
          </a:prstGeom>
        </p:spPr>
        <p:txBody>
          <a:bodyPr anchor="t" rtlCol="false" tIns="0" lIns="0" bIns="0" rIns="0">
            <a:spAutoFit/>
          </a:bodyPr>
          <a:lstStyle/>
          <a:p>
            <a:pPr algn="ctr">
              <a:lnSpc>
                <a:spcPts val="7066"/>
              </a:lnSpc>
            </a:pPr>
            <a:r>
              <a:rPr lang="en-US" spc="937" sz="6604">
                <a:solidFill>
                  <a:srgbClr val="000000"/>
                </a:solidFill>
                <a:latin typeface="League Spartan"/>
              </a:rPr>
              <a:t>B</a:t>
            </a:r>
          </a:p>
        </p:txBody>
      </p:sp>
      <p:sp>
        <p:nvSpPr>
          <p:cNvPr name="TextBox 28" id="28"/>
          <p:cNvSpPr txBox="true"/>
          <p:nvPr/>
        </p:nvSpPr>
        <p:spPr>
          <a:xfrm rot="0">
            <a:off x="6314355" y="7498000"/>
            <a:ext cx="2592806" cy="1944861"/>
          </a:xfrm>
          <a:prstGeom prst="rect">
            <a:avLst/>
          </a:prstGeom>
        </p:spPr>
        <p:txBody>
          <a:bodyPr anchor="t" rtlCol="false" tIns="0" lIns="0" bIns="0" rIns="0">
            <a:spAutoFit/>
          </a:bodyPr>
          <a:lstStyle/>
          <a:p>
            <a:pPr algn="ctr">
              <a:lnSpc>
                <a:spcPts val="2583"/>
              </a:lnSpc>
            </a:pPr>
            <a:r>
              <a:rPr lang="en-US" spc="130" sz="2414">
                <a:solidFill>
                  <a:srgbClr val="000000"/>
                </a:solidFill>
                <a:latin typeface="Quicksand"/>
              </a:rPr>
              <a:t>máximo de ejecución, que se registró en la década anterior al año 2013.</a:t>
            </a:r>
          </a:p>
        </p:txBody>
      </p:sp>
      <p:sp>
        <p:nvSpPr>
          <p:cNvPr name="TextBox 29" id="29"/>
          <p:cNvSpPr txBox="true"/>
          <p:nvPr/>
        </p:nvSpPr>
        <p:spPr>
          <a:xfrm rot="0">
            <a:off x="9801311" y="6887740"/>
            <a:ext cx="1608690" cy="918830"/>
          </a:xfrm>
          <a:prstGeom prst="rect">
            <a:avLst/>
          </a:prstGeom>
        </p:spPr>
        <p:txBody>
          <a:bodyPr anchor="t" rtlCol="false" tIns="0" lIns="0" bIns="0" rIns="0">
            <a:spAutoFit/>
          </a:bodyPr>
          <a:lstStyle/>
          <a:p>
            <a:pPr algn="ctr">
              <a:lnSpc>
                <a:spcPts val="7066"/>
              </a:lnSpc>
            </a:pPr>
            <a:r>
              <a:rPr lang="en-US" spc="937" sz="6604">
                <a:solidFill>
                  <a:srgbClr val="000000"/>
                </a:solidFill>
                <a:latin typeface="League Spartan"/>
              </a:rPr>
              <a:t>C</a:t>
            </a:r>
          </a:p>
        </p:txBody>
      </p:sp>
      <p:sp>
        <p:nvSpPr>
          <p:cNvPr name="TextBox 30" id="30"/>
          <p:cNvSpPr txBox="true"/>
          <p:nvPr/>
        </p:nvSpPr>
        <p:spPr>
          <a:xfrm rot="0">
            <a:off x="12885049" y="6887740"/>
            <a:ext cx="1608690" cy="918830"/>
          </a:xfrm>
          <a:prstGeom prst="rect">
            <a:avLst/>
          </a:prstGeom>
        </p:spPr>
        <p:txBody>
          <a:bodyPr anchor="t" rtlCol="false" tIns="0" lIns="0" bIns="0" rIns="0">
            <a:spAutoFit/>
          </a:bodyPr>
          <a:lstStyle/>
          <a:p>
            <a:pPr algn="ctr">
              <a:lnSpc>
                <a:spcPts val="7066"/>
              </a:lnSpc>
            </a:pPr>
            <a:r>
              <a:rPr lang="en-US" spc="937" sz="6604">
                <a:solidFill>
                  <a:srgbClr val="000000"/>
                </a:solidFill>
                <a:latin typeface="League Spartan"/>
              </a:rPr>
              <a:t>D</a:t>
            </a:r>
          </a:p>
        </p:txBody>
      </p:sp>
      <p:sp>
        <p:nvSpPr>
          <p:cNvPr name="TextBox 31" id="31"/>
          <p:cNvSpPr txBox="true"/>
          <p:nvPr/>
        </p:nvSpPr>
        <p:spPr>
          <a:xfrm rot="0">
            <a:off x="12464578" y="7528253"/>
            <a:ext cx="2592806" cy="1874830"/>
          </a:xfrm>
          <a:prstGeom prst="rect">
            <a:avLst/>
          </a:prstGeom>
        </p:spPr>
        <p:txBody>
          <a:bodyPr anchor="t" rtlCol="false" tIns="0" lIns="0" bIns="0" rIns="0">
            <a:spAutoFit/>
          </a:bodyPr>
          <a:lstStyle/>
          <a:p>
            <a:pPr algn="ctr">
              <a:lnSpc>
                <a:spcPts val="2983"/>
              </a:lnSpc>
            </a:pPr>
            <a:r>
              <a:rPr lang="en-US" spc="150" sz="2788">
                <a:solidFill>
                  <a:srgbClr val="000000"/>
                </a:solidFill>
                <a:latin typeface="Quicksand"/>
              </a:rPr>
              <a:t>faltante de ejecución del presupuesto para todo el año 2013.</a:t>
            </a:r>
          </a:p>
        </p:txBody>
      </p:sp>
      <p:sp>
        <p:nvSpPr>
          <p:cNvPr name="TextBox 32" id="32"/>
          <p:cNvSpPr txBox="true"/>
          <p:nvPr/>
        </p:nvSpPr>
        <p:spPr>
          <a:xfrm rot="0">
            <a:off x="9380840" y="7458222"/>
            <a:ext cx="2592806" cy="1944861"/>
          </a:xfrm>
          <a:prstGeom prst="rect">
            <a:avLst/>
          </a:prstGeom>
        </p:spPr>
        <p:txBody>
          <a:bodyPr anchor="t" rtlCol="false" tIns="0" lIns="0" bIns="0" rIns="0">
            <a:spAutoFit/>
          </a:bodyPr>
          <a:lstStyle/>
          <a:p>
            <a:pPr algn="ctr">
              <a:lnSpc>
                <a:spcPts val="2583"/>
              </a:lnSpc>
            </a:pPr>
            <a:r>
              <a:rPr lang="en-US" spc="130" sz="2414">
                <a:solidFill>
                  <a:srgbClr val="000000"/>
                </a:solidFill>
                <a:latin typeface="Quicksand"/>
              </a:rPr>
              <a:t>de ejecución del presupuesto en cada uno de los meses restantes de 2013.</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3247870" y="6807377"/>
            <a:ext cx="2592806" cy="2595270"/>
            <a:chOff x="0" y="0"/>
            <a:chExt cx="489098" cy="489563"/>
          </a:xfrm>
        </p:grpSpPr>
        <p:sp>
          <p:nvSpPr>
            <p:cNvPr name="Freeform 12" id="12"/>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3" id="13"/>
          <p:cNvGrpSpPr/>
          <p:nvPr/>
        </p:nvGrpSpPr>
        <p:grpSpPr>
          <a:xfrm rot="0">
            <a:off x="6314355" y="6807377"/>
            <a:ext cx="2592806" cy="2595270"/>
            <a:chOff x="0" y="0"/>
            <a:chExt cx="489098" cy="489563"/>
          </a:xfrm>
        </p:grpSpPr>
        <p:sp>
          <p:nvSpPr>
            <p:cNvPr name="Freeform 14" id="14"/>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5" id="15"/>
          <p:cNvGrpSpPr/>
          <p:nvPr/>
        </p:nvGrpSpPr>
        <p:grpSpPr>
          <a:xfrm rot="0">
            <a:off x="12447324" y="6807377"/>
            <a:ext cx="2592806" cy="2595270"/>
            <a:chOff x="0" y="0"/>
            <a:chExt cx="489098" cy="489563"/>
          </a:xfrm>
        </p:grpSpPr>
        <p:sp>
          <p:nvSpPr>
            <p:cNvPr name="Freeform 16" id="16"/>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grpSp>
        <p:nvGrpSpPr>
          <p:cNvPr name="Group 17" id="17"/>
          <p:cNvGrpSpPr/>
          <p:nvPr/>
        </p:nvGrpSpPr>
        <p:grpSpPr>
          <a:xfrm rot="0">
            <a:off x="9380840" y="6807377"/>
            <a:ext cx="2592806" cy="2595270"/>
            <a:chOff x="0" y="0"/>
            <a:chExt cx="489098" cy="489563"/>
          </a:xfrm>
        </p:grpSpPr>
        <p:sp>
          <p:nvSpPr>
            <p:cNvPr name="Freeform 18" id="18"/>
            <p:cNvSpPr/>
            <p:nvPr/>
          </p:nvSpPr>
          <p:spPr>
            <a:xfrm>
              <a:off x="0" y="0"/>
              <a:ext cx="489098" cy="489563"/>
            </a:xfrm>
            <a:custGeom>
              <a:avLst/>
              <a:gdLst/>
              <a:ahLst/>
              <a:cxnLst/>
              <a:rect r="r" b="b" t="t" l="l"/>
              <a:pathLst>
                <a:path h="489563" w="489098">
                  <a:moveTo>
                    <a:pt x="0" y="0"/>
                  </a:moveTo>
                  <a:lnTo>
                    <a:pt x="489098" y="0"/>
                  </a:lnTo>
                  <a:lnTo>
                    <a:pt x="489098" y="489563"/>
                  </a:lnTo>
                  <a:lnTo>
                    <a:pt x="0" y="489563"/>
                  </a:lnTo>
                  <a:close/>
                </a:path>
              </a:pathLst>
            </a:custGeom>
            <a:solidFill>
              <a:srgbClr val="FFFFFF"/>
            </a:solidFill>
          </p:spPr>
        </p:sp>
      </p:grpSp>
      <p:sp>
        <p:nvSpPr>
          <p:cNvPr name="TextBox 19" id="19"/>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20" id="20"/>
          <p:cNvSpPr txBox="true"/>
          <p:nvPr/>
        </p:nvSpPr>
        <p:spPr>
          <a:xfrm rot="0">
            <a:off x="3247870" y="594904"/>
            <a:ext cx="1973528"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29</a:t>
            </a:r>
          </a:p>
        </p:txBody>
      </p:sp>
      <p:sp>
        <p:nvSpPr>
          <p:cNvPr name="TextBox 21" id="21"/>
          <p:cNvSpPr txBox="true"/>
          <p:nvPr/>
        </p:nvSpPr>
        <p:spPr>
          <a:xfrm rot="0">
            <a:off x="3612708" y="6931835"/>
            <a:ext cx="1608690" cy="1081347"/>
          </a:xfrm>
          <a:prstGeom prst="rect">
            <a:avLst/>
          </a:prstGeom>
        </p:spPr>
        <p:txBody>
          <a:bodyPr anchor="t" rtlCol="false" tIns="0" lIns="0" bIns="0" rIns="0">
            <a:spAutoFit/>
          </a:bodyPr>
          <a:lstStyle/>
          <a:p>
            <a:pPr algn="ctr">
              <a:lnSpc>
                <a:spcPts val="8350"/>
              </a:lnSpc>
            </a:pPr>
            <a:r>
              <a:rPr lang="en-US" spc="1108" sz="7804">
                <a:solidFill>
                  <a:srgbClr val="000000"/>
                </a:solidFill>
                <a:latin typeface="League Spartan"/>
              </a:rPr>
              <a:t>A</a:t>
            </a:r>
          </a:p>
        </p:txBody>
      </p:sp>
      <p:grpSp>
        <p:nvGrpSpPr>
          <p:cNvPr name="Group 22" id="22"/>
          <p:cNvGrpSpPr/>
          <p:nvPr/>
        </p:nvGrpSpPr>
        <p:grpSpPr>
          <a:xfrm rot="0">
            <a:off x="319354" y="1793342"/>
            <a:ext cx="17552237" cy="4800945"/>
            <a:chOff x="0" y="0"/>
            <a:chExt cx="5937423" cy="1624023"/>
          </a:xfrm>
        </p:grpSpPr>
        <p:sp>
          <p:nvSpPr>
            <p:cNvPr name="Freeform 23" id="23"/>
            <p:cNvSpPr/>
            <p:nvPr/>
          </p:nvSpPr>
          <p:spPr>
            <a:xfrm>
              <a:off x="0" y="0"/>
              <a:ext cx="5937423" cy="1624023"/>
            </a:xfrm>
            <a:custGeom>
              <a:avLst/>
              <a:gdLst/>
              <a:ahLst/>
              <a:cxnLst/>
              <a:rect r="r" b="b" t="t" l="l"/>
              <a:pathLst>
                <a:path h="1624023" w="5937423">
                  <a:moveTo>
                    <a:pt x="0" y="0"/>
                  </a:moveTo>
                  <a:lnTo>
                    <a:pt x="5937423" y="0"/>
                  </a:lnTo>
                  <a:lnTo>
                    <a:pt x="5937423" y="1624023"/>
                  </a:lnTo>
                  <a:lnTo>
                    <a:pt x="0" y="1624023"/>
                  </a:lnTo>
                  <a:close/>
                </a:path>
              </a:pathLst>
            </a:custGeom>
            <a:solidFill>
              <a:srgbClr val="FFFFFF"/>
            </a:solidFill>
          </p:spPr>
        </p:sp>
      </p:grpSp>
      <p:sp>
        <p:nvSpPr>
          <p:cNvPr name="TextBox 24" id="24"/>
          <p:cNvSpPr txBox="true"/>
          <p:nvPr/>
        </p:nvSpPr>
        <p:spPr>
          <a:xfrm rot="0">
            <a:off x="527375" y="1796911"/>
            <a:ext cx="17156400" cy="4681939"/>
          </a:xfrm>
          <a:prstGeom prst="rect">
            <a:avLst/>
          </a:prstGeom>
        </p:spPr>
        <p:txBody>
          <a:bodyPr anchor="t" rtlCol="false" tIns="0" lIns="0" bIns="0" rIns="0">
            <a:spAutoFit/>
          </a:bodyPr>
          <a:lstStyle/>
          <a:p>
            <a:pPr>
              <a:lnSpc>
                <a:spcPts val="5273"/>
              </a:lnSpc>
            </a:pPr>
            <a:r>
              <a:rPr lang="en-US" spc="266" sz="4928">
                <a:solidFill>
                  <a:srgbClr val="000000"/>
                </a:solidFill>
                <a:latin typeface="Quicksand"/>
              </a:rPr>
              <a:t>En mayo se proyectaba al 2013 como el año en el que se habría ejecutado mayor porcentaje del presupuesto del sector salud, de la última década. Para determinar, al finalizar el año 2013, si esto se cumpliría, se requeriría saber, adicionalmente a la información de la gráfica, el porcentaje de ejecución</a:t>
            </a:r>
          </a:p>
        </p:txBody>
      </p:sp>
      <p:sp>
        <p:nvSpPr>
          <p:cNvPr name="TextBox 25" id="25"/>
          <p:cNvSpPr txBox="true"/>
          <p:nvPr/>
        </p:nvSpPr>
        <p:spPr>
          <a:xfrm rot="0">
            <a:off x="3247870" y="7814892"/>
            <a:ext cx="2592806" cy="1588191"/>
          </a:xfrm>
          <a:prstGeom prst="rect">
            <a:avLst/>
          </a:prstGeom>
        </p:spPr>
        <p:txBody>
          <a:bodyPr anchor="t" rtlCol="false" tIns="0" lIns="0" bIns="0" rIns="0">
            <a:spAutoFit/>
          </a:bodyPr>
          <a:lstStyle/>
          <a:p>
            <a:pPr algn="ctr">
              <a:lnSpc>
                <a:spcPts val="4160"/>
              </a:lnSpc>
            </a:pPr>
            <a:r>
              <a:rPr lang="en-US" spc="209" sz="3887">
                <a:solidFill>
                  <a:srgbClr val="000000"/>
                </a:solidFill>
                <a:latin typeface="Quicksand"/>
              </a:rPr>
              <a:t>de diciembre de 2013.</a:t>
            </a:r>
          </a:p>
        </p:txBody>
      </p:sp>
      <p:pic>
        <p:nvPicPr>
          <p:cNvPr name="Picture 26" id="26"/>
          <p:cNvPicPr>
            <a:picLocks noChangeAspect="true"/>
          </p:cNvPicPr>
          <p:nvPr/>
        </p:nvPicPr>
        <p:blipFill>
          <a:blip r:embed="rId10"/>
          <a:srcRect l="0" t="0" r="0" b="0"/>
          <a:stretch>
            <a:fillRect/>
          </a:stretch>
        </p:blipFill>
        <p:spPr>
          <a:xfrm flipH="false" flipV="false" rot="0">
            <a:off x="319354" y="8708240"/>
            <a:ext cx="1389685" cy="1389685"/>
          </a:xfrm>
          <a:prstGeom prst="rect">
            <a:avLst/>
          </a:prstGeom>
        </p:spPr>
      </p:pic>
      <p:sp>
        <p:nvSpPr>
          <p:cNvPr name="TextBox 27" id="27"/>
          <p:cNvSpPr txBox="true"/>
          <p:nvPr/>
        </p:nvSpPr>
        <p:spPr>
          <a:xfrm rot="0">
            <a:off x="6679193" y="6931835"/>
            <a:ext cx="1608690" cy="1081347"/>
          </a:xfrm>
          <a:prstGeom prst="rect">
            <a:avLst/>
          </a:prstGeom>
        </p:spPr>
        <p:txBody>
          <a:bodyPr anchor="t" rtlCol="false" tIns="0" lIns="0" bIns="0" rIns="0">
            <a:spAutoFit/>
          </a:bodyPr>
          <a:lstStyle/>
          <a:p>
            <a:pPr algn="ctr">
              <a:lnSpc>
                <a:spcPts val="8350"/>
              </a:lnSpc>
            </a:pPr>
            <a:r>
              <a:rPr lang="en-US" spc="1108" sz="7804">
                <a:solidFill>
                  <a:srgbClr val="000000"/>
                </a:solidFill>
                <a:latin typeface="League Spartan"/>
              </a:rPr>
              <a:t>B</a:t>
            </a:r>
          </a:p>
        </p:txBody>
      </p:sp>
      <p:sp>
        <p:nvSpPr>
          <p:cNvPr name="TextBox 28" id="28"/>
          <p:cNvSpPr txBox="true"/>
          <p:nvPr/>
        </p:nvSpPr>
        <p:spPr>
          <a:xfrm rot="0">
            <a:off x="6314355" y="7664436"/>
            <a:ext cx="2592806" cy="1738647"/>
          </a:xfrm>
          <a:prstGeom prst="rect">
            <a:avLst/>
          </a:prstGeom>
        </p:spPr>
        <p:txBody>
          <a:bodyPr anchor="t" rtlCol="false" tIns="0" lIns="0" bIns="0" rIns="0">
            <a:spAutoFit/>
          </a:bodyPr>
          <a:lstStyle/>
          <a:p>
            <a:pPr algn="ctr">
              <a:lnSpc>
                <a:spcPts val="3440"/>
              </a:lnSpc>
            </a:pPr>
            <a:r>
              <a:rPr lang="en-US" spc="173" sz="3215">
                <a:solidFill>
                  <a:srgbClr val="000000"/>
                </a:solidFill>
                <a:latin typeface="Quicksand"/>
              </a:rPr>
              <a:t>de diciembre de 2002 al 2012.</a:t>
            </a:r>
          </a:p>
        </p:txBody>
      </p:sp>
      <p:sp>
        <p:nvSpPr>
          <p:cNvPr name="TextBox 29" id="29"/>
          <p:cNvSpPr txBox="true"/>
          <p:nvPr/>
        </p:nvSpPr>
        <p:spPr>
          <a:xfrm rot="0">
            <a:off x="9745678" y="6912152"/>
            <a:ext cx="1608690" cy="1081347"/>
          </a:xfrm>
          <a:prstGeom prst="rect">
            <a:avLst/>
          </a:prstGeom>
        </p:spPr>
        <p:txBody>
          <a:bodyPr anchor="t" rtlCol="false" tIns="0" lIns="0" bIns="0" rIns="0">
            <a:spAutoFit/>
          </a:bodyPr>
          <a:lstStyle/>
          <a:p>
            <a:pPr algn="ctr">
              <a:lnSpc>
                <a:spcPts val="8350"/>
              </a:lnSpc>
            </a:pPr>
            <a:r>
              <a:rPr lang="en-US" spc="1108" sz="7804">
                <a:solidFill>
                  <a:srgbClr val="000000"/>
                </a:solidFill>
                <a:latin typeface="League Spartan"/>
              </a:rPr>
              <a:t>C</a:t>
            </a:r>
          </a:p>
        </p:txBody>
      </p:sp>
      <p:sp>
        <p:nvSpPr>
          <p:cNvPr name="TextBox 30" id="30"/>
          <p:cNvSpPr txBox="true"/>
          <p:nvPr/>
        </p:nvSpPr>
        <p:spPr>
          <a:xfrm rot="0">
            <a:off x="9380840" y="7805367"/>
            <a:ext cx="2592806" cy="1388520"/>
          </a:xfrm>
          <a:prstGeom prst="rect">
            <a:avLst/>
          </a:prstGeom>
        </p:spPr>
        <p:txBody>
          <a:bodyPr anchor="t" rtlCol="false" tIns="0" lIns="0" bIns="0" rIns="0">
            <a:spAutoFit/>
          </a:bodyPr>
          <a:lstStyle/>
          <a:p>
            <a:pPr algn="ctr">
              <a:lnSpc>
                <a:spcPts val="3628"/>
              </a:lnSpc>
            </a:pPr>
            <a:r>
              <a:rPr lang="en-US" spc="183" sz="3390">
                <a:solidFill>
                  <a:srgbClr val="000000"/>
                </a:solidFill>
                <a:latin typeface="Quicksand"/>
              </a:rPr>
              <a:t>de mayo a diciembre de 2013.</a:t>
            </a:r>
          </a:p>
        </p:txBody>
      </p:sp>
      <p:sp>
        <p:nvSpPr>
          <p:cNvPr name="TextBox 31" id="31"/>
          <p:cNvSpPr txBox="true"/>
          <p:nvPr/>
        </p:nvSpPr>
        <p:spPr>
          <a:xfrm rot="0">
            <a:off x="12812163" y="6931835"/>
            <a:ext cx="1608690" cy="1081347"/>
          </a:xfrm>
          <a:prstGeom prst="rect">
            <a:avLst/>
          </a:prstGeom>
        </p:spPr>
        <p:txBody>
          <a:bodyPr anchor="t" rtlCol="false" tIns="0" lIns="0" bIns="0" rIns="0">
            <a:spAutoFit/>
          </a:bodyPr>
          <a:lstStyle/>
          <a:p>
            <a:pPr algn="ctr">
              <a:lnSpc>
                <a:spcPts val="8350"/>
              </a:lnSpc>
            </a:pPr>
            <a:r>
              <a:rPr lang="en-US" spc="1108" sz="7804">
                <a:solidFill>
                  <a:srgbClr val="000000"/>
                </a:solidFill>
                <a:latin typeface="League Spartan"/>
              </a:rPr>
              <a:t>D</a:t>
            </a:r>
          </a:p>
        </p:txBody>
      </p:sp>
      <p:sp>
        <p:nvSpPr>
          <p:cNvPr name="TextBox 32" id="32"/>
          <p:cNvSpPr txBox="true"/>
          <p:nvPr/>
        </p:nvSpPr>
        <p:spPr>
          <a:xfrm rot="0">
            <a:off x="12447324" y="7747518"/>
            <a:ext cx="2610059" cy="1655564"/>
          </a:xfrm>
          <a:prstGeom prst="rect">
            <a:avLst/>
          </a:prstGeom>
        </p:spPr>
        <p:txBody>
          <a:bodyPr anchor="t" rtlCol="false" tIns="0" lIns="0" bIns="0" rIns="0">
            <a:spAutoFit/>
          </a:bodyPr>
          <a:lstStyle/>
          <a:p>
            <a:pPr algn="ctr">
              <a:lnSpc>
                <a:spcPts val="3262"/>
              </a:lnSpc>
            </a:pPr>
            <a:r>
              <a:rPr lang="en-US" spc="164" sz="3049">
                <a:solidFill>
                  <a:srgbClr val="000000"/>
                </a:solidFill>
                <a:latin typeface="Quicksand"/>
              </a:rPr>
              <a:t>de mayo a diciembre de 2002 a 2013.</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true" rot="5656258">
            <a:off x="13457739" y="4295819"/>
            <a:ext cx="5179775" cy="600553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6405197">
            <a:off x="2856496" y="-2227095"/>
            <a:ext cx="6419936" cy="7913635"/>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6883412" y="3975755"/>
            <a:ext cx="5330268" cy="7048289"/>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4278248">
            <a:off x="-393423" y="2259222"/>
            <a:ext cx="6897074" cy="6612570"/>
          </a:xfrm>
          <a:prstGeom prst="rect">
            <a:avLst/>
          </a:prstGeom>
        </p:spPr>
      </p:pic>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1826813" y="-2335684"/>
            <a:ext cx="5591696" cy="6483126"/>
          </a:xfrm>
          <a:prstGeom prst="rect">
            <a:avLst/>
          </a:prstGeom>
        </p:spPr>
      </p:pic>
      <p:grpSp>
        <p:nvGrpSpPr>
          <p:cNvPr name="Group 7" id="7"/>
          <p:cNvGrpSpPr/>
          <p:nvPr/>
        </p:nvGrpSpPr>
        <p:grpSpPr>
          <a:xfrm rot="0">
            <a:off x="5655698" y="264058"/>
            <a:ext cx="9401685" cy="1447249"/>
            <a:chOff x="0" y="0"/>
            <a:chExt cx="3180323" cy="489563"/>
          </a:xfrm>
        </p:grpSpPr>
        <p:sp>
          <p:nvSpPr>
            <p:cNvPr name="Freeform 8" id="8"/>
            <p:cNvSpPr/>
            <p:nvPr/>
          </p:nvSpPr>
          <p:spPr>
            <a:xfrm>
              <a:off x="0" y="0"/>
              <a:ext cx="3180323" cy="489563"/>
            </a:xfrm>
            <a:custGeom>
              <a:avLst/>
              <a:gdLst/>
              <a:ahLst/>
              <a:cxnLst/>
              <a:rect r="r" b="b" t="t" l="l"/>
              <a:pathLst>
                <a:path h="489563" w="3180323">
                  <a:moveTo>
                    <a:pt x="0" y="0"/>
                  </a:moveTo>
                  <a:lnTo>
                    <a:pt x="3180323" y="0"/>
                  </a:lnTo>
                  <a:lnTo>
                    <a:pt x="3180323" y="489563"/>
                  </a:lnTo>
                  <a:lnTo>
                    <a:pt x="0" y="489563"/>
                  </a:lnTo>
                  <a:close/>
                </a:path>
              </a:pathLst>
            </a:custGeom>
            <a:solidFill>
              <a:srgbClr val="FFFFFF"/>
            </a:solidFill>
          </p:spPr>
        </p:sp>
      </p:grpSp>
      <p:grpSp>
        <p:nvGrpSpPr>
          <p:cNvPr name="Group 9" id="9"/>
          <p:cNvGrpSpPr/>
          <p:nvPr/>
        </p:nvGrpSpPr>
        <p:grpSpPr>
          <a:xfrm rot="0">
            <a:off x="3265123" y="264058"/>
            <a:ext cx="1956275" cy="1447249"/>
            <a:chOff x="0" y="0"/>
            <a:chExt cx="661752" cy="489563"/>
          </a:xfrm>
        </p:grpSpPr>
        <p:sp>
          <p:nvSpPr>
            <p:cNvPr name="Freeform 10" id="10"/>
            <p:cNvSpPr/>
            <p:nvPr/>
          </p:nvSpPr>
          <p:spPr>
            <a:xfrm>
              <a:off x="0" y="0"/>
              <a:ext cx="661752" cy="489563"/>
            </a:xfrm>
            <a:custGeom>
              <a:avLst/>
              <a:gdLst/>
              <a:ahLst/>
              <a:cxnLst/>
              <a:rect r="r" b="b" t="t" l="l"/>
              <a:pathLst>
                <a:path h="489563" w="661752">
                  <a:moveTo>
                    <a:pt x="0" y="0"/>
                  </a:moveTo>
                  <a:lnTo>
                    <a:pt x="661752" y="0"/>
                  </a:lnTo>
                  <a:lnTo>
                    <a:pt x="661752" y="489563"/>
                  </a:lnTo>
                  <a:lnTo>
                    <a:pt x="0" y="489563"/>
                  </a:lnTo>
                  <a:close/>
                </a:path>
              </a:pathLst>
            </a:custGeom>
            <a:solidFill>
              <a:srgbClr val="FFFFFF"/>
            </a:solidFill>
          </p:spPr>
        </p:sp>
      </p:grpSp>
      <p:grpSp>
        <p:nvGrpSpPr>
          <p:cNvPr name="Group 11" id="11"/>
          <p:cNvGrpSpPr/>
          <p:nvPr/>
        </p:nvGrpSpPr>
        <p:grpSpPr>
          <a:xfrm rot="0">
            <a:off x="220247" y="1911724"/>
            <a:ext cx="6969776" cy="6654683"/>
            <a:chOff x="0" y="0"/>
            <a:chExt cx="2492901" cy="2380200"/>
          </a:xfrm>
        </p:grpSpPr>
        <p:sp>
          <p:nvSpPr>
            <p:cNvPr name="Freeform 12" id="12"/>
            <p:cNvSpPr/>
            <p:nvPr/>
          </p:nvSpPr>
          <p:spPr>
            <a:xfrm>
              <a:off x="0" y="0"/>
              <a:ext cx="2492901" cy="2380200"/>
            </a:xfrm>
            <a:custGeom>
              <a:avLst/>
              <a:gdLst/>
              <a:ahLst/>
              <a:cxnLst/>
              <a:rect r="r" b="b" t="t" l="l"/>
              <a:pathLst>
                <a:path h="2380200" w="2492901">
                  <a:moveTo>
                    <a:pt x="0" y="0"/>
                  </a:moveTo>
                  <a:lnTo>
                    <a:pt x="2492901" y="0"/>
                  </a:lnTo>
                  <a:lnTo>
                    <a:pt x="2492901" y="2380200"/>
                  </a:lnTo>
                  <a:lnTo>
                    <a:pt x="0" y="2380200"/>
                  </a:lnTo>
                  <a:close/>
                </a:path>
              </a:pathLst>
            </a:custGeom>
            <a:solidFill>
              <a:srgbClr val="FFFFFF"/>
            </a:solidFill>
          </p:spPr>
        </p:sp>
      </p:grpSp>
      <p:pic>
        <p:nvPicPr>
          <p:cNvPr name="Picture 13" id="13"/>
          <p:cNvPicPr>
            <a:picLocks noChangeAspect="true"/>
          </p:cNvPicPr>
          <p:nvPr/>
        </p:nvPicPr>
        <p:blipFill>
          <a:blip r:embed="rId10"/>
          <a:srcRect l="0" t="177" r="0" b="177"/>
          <a:stretch>
            <a:fillRect/>
          </a:stretch>
        </p:blipFill>
        <p:spPr>
          <a:xfrm flipH="false" flipV="false" rot="0">
            <a:off x="7292347" y="1885657"/>
            <a:ext cx="10761714" cy="7571077"/>
          </a:xfrm>
          <a:prstGeom prst="rect">
            <a:avLst/>
          </a:prstGeom>
        </p:spPr>
      </p:pic>
      <p:sp>
        <p:nvSpPr>
          <p:cNvPr name="TextBox 14" id="14"/>
          <p:cNvSpPr txBox="true"/>
          <p:nvPr/>
        </p:nvSpPr>
        <p:spPr>
          <a:xfrm rot="0">
            <a:off x="5762753" y="775194"/>
            <a:ext cx="9187575" cy="802078"/>
          </a:xfrm>
          <a:prstGeom prst="rect">
            <a:avLst/>
          </a:prstGeom>
        </p:spPr>
        <p:txBody>
          <a:bodyPr anchor="t" rtlCol="false" tIns="0" lIns="0" bIns="0" rIns="0">
            <a:spAutoFit/>
          </a:bodyPr>
          <a:lstStyle/>
          <a:p>
            <a:pPr algn="ctr">
              <a:lnSpc>
                <a:spcPts val="6111"/>
              </a:lnSpc>
            </a:pPr>
            <a:r>
              <a:rPr lang="en-US" spc="536" sz="5711">
                <a:solidFill>
                  <a:srgbClr val="000000"/>
                </a:solidFill>
                <a:latin typeface="League Spartan"/>
              </a:rPr>
              <a:t>APTITUD NUMÉRICA</a:t>
            </a:r>
          </a:p>
        </p:txBody>
      </p:sp>
      <p:sp>
        <p:nvSpPr>
          <p:cNvPr name="TextBox 15" id="15"/>
          <p:cNvSpPr txBox="true"/>
          <p:nvPr/>
        </p:nvSpPr>
        <p:spPr>
          <a:xfrm rot="0">
            <a:off x="3247870" y="594904"/>
            <a:ext cx="1973528" cy="1198438"/>
          </a:xfrm>
          <a:prstGeom prst="rect">
            <a:avLst/>
          </a:prstGeom>
        </p:spPr>
        <p:txBody>
          <a:bodyPr anchor="t" rtlCol="false" tIns="0" lIns="0" bIns="0" rIns="0">
            <a:spAutoFit/>
          </a:bodyPr>
          <a:lstStyle/>
          <a:p>
            <a:pPr algn="ctr">
              <a:lnSpc>
                <a:spcPts val="9167"/>
              </a:lnSpc>
            </a:pPr>
            <a:r>
              <a:rPr lang="en-US" spc="1216" sz="8567">
                <a:solidFill>
                  <a:srgbClr val="000000"/>
                </a:solidFill>
                <a:latin typeface="League Spartan"/>
              </a:rPr>
              <a:t>30</a:t>
            </a:r>
          </a:p>
        </p:txBody>
      </p:sp>
      <p:sp>
        <p:nvSpPr>
          <p:cNvPr name="TextBox 16" id="16"/>
          <p:cNvSpPr txBox="true"/>
          <p:nvPr/>
        </p:nvSpPr>
        <p:spPr>
          <a:xfrm rot="0">
            <a:off x="343352" y="2375835"/>
            <a:ext cx="6723566" cy="6190572"/>
          </a:xfrm>
          <a:prstGeom prst="rect">
            <a:avLst/>
          </a:prstGeom>
        </p:spPr>
        <p:txBody>
          <a:bodyPr anchor="t" rtlCol="false" tIns="0" lIns="0" bIns="0" rIns="0">
            <a:spAutoFit/>
          </a:bodyPr>
          <a:lstStyle/>
          <a:p>
            <a:pPr>
              <a:lnSpc>
                <a:spcPts val="6129"/>
              </a:lnSpc>
            </a:pPr>
            <a:r>
              <a:rPr lang="en-US" spc="309" sz="5728">
                <a:solidFill>
                  <a:srgbClr val="000000"/>
                </a:solidFill>
                <a:latin typeface="Quicksand"/>
              </a:rPr>
              <a:t>La gráfica que muestra el porcentaje de ejecución, correspondiente al promedio 2002 - 2012, en cada mes es</a:t>
            </a:r>
          </a:p>
        </p:txBody>
      </p:sp>
      <p:pic>
        <p:nvPicPr>
          <p:cNvPr name="Picture 17" id="17"/>
          <p:cNvPicPr>
            <a:picLocks noChangeAspect="true"/>
          </p:cNvPicPr>
          <p:nvPr/>
        </p:nvPicPr>
        <p:blipFill>
          <a:blip r:embed="rId11"/>
          <a:srcRect l="0" t="0" r="0" b="0"/>
          <a:stretch>
            <a:fillRect/>
          </a:stretch>
        </p:blipFill>
        <p:spPr>
          <a:xfrm flipH="false" flipV="false" rot="0">
            <a:off x="319354" y="8708240"/>
            <a:ext cx="1389685" cy="13896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DAE4Ez_6O-4</dc:identifier>
  <dcterms:modified xsi:type="dcterms:W3CDTF">2011-08-01T06:04:30Z</dcterms:modified>
  <cp:revision>1</cp:revision>
  <dc:title>APTITUD NUMÉRICA</dc:title>
</cp:coreProperties>
</file>
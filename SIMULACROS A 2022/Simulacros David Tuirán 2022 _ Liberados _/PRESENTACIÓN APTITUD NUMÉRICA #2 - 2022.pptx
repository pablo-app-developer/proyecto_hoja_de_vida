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  <p:sldId id="290" r:id="rId4"/>
    <p:sldId id="291" r:id="rId5"/>
    <p:sldId id="293" r:id="rId6"/>
    <p:sldId id="294" r:id="rId7"/>
    <p:sldId id="258" r:id="rId8"/>
    <p:sldId id="292" r:id="rId9"/>
    <p:sldId id="295" r:id="rId10"/>
    <p:sldId id="296" r:id="rId11"/>
    <p:sldId id="297" r:id="rId12"/>
    <p:sldId id="259" r:id="rId13"/>
    <p:sldId id="298" r:id="rId14"/>
    <p:sldId id="299" r:id="rId15"/>
    <p:sldId id="260" r:id="rId16"/>
    <p:sldId id="300" r:id="rId17"/>
    <p:sldId id="301" r:id="rId18"/>
    <p:sldId id="261" r:id="rId19"/>
    <p:sldId id="302" r:id="rId20"/>
    <p:sldId id="303" r:id="rId21"/>
    <p:sldId id="262" r:id="rId22"/>
    <p:sldId id="304" r:id="rId23"/>
    <p:sldId id="305" r:id="rId24"/>
    <p:sldId id="306" r:id="rId25"/>
    <p:sldId id="307" r:id="rId26"/>
    <p:sldId id="263" r:id="rId27"/>
    <p:sldId id="308" r:id="rId28"/>
    <p:sldId id="309" r:id="rId29"/>
    <p:sldId id="310" r:id="rId30"/>
    <p:sldId id="311" r:id="rId31"/>
    <p:sldId id="264" r:id="rId32"/>
    <p:sldId id="312" r:id="rId33"/>
    <p:sldId id="313" r:id="rId34"/>
    <p:sldId id="265" r:id="rId35"/>
    <p:sldId id="314" r:id="rId36"/>
    <p:sldId id="315" r:id="rId37"/>
    <p:sldId id="266" r:id="rId38"/>
    <p:sldId id="316" r:id="rId39"/>
    <p:sldId id="343" r:id="rId40"/>
    <p:sldId id="267" r:id="rId41"/>
    <p:sldId id="317" r:id="rId42"/>
    <p:sldId id="342" r:id="rId43"/>
    <p:sldId id="268" r:id="rId44"/>
    <p:sldId id="269" r:id="rId45"/>
    <p:sldId id="318" r:id="rId46"/>
    <p:sldId id="270" r:id="rId47"/>
    <p:sldId id="319" r:id="rId48"/>
    <p:sldId id="271" r:id="rId49"/>
    <p:sldId id="320" r:id="rId50"/>
    <p:sldId id="272" r:id="rId51"/>
    <p:sldId id="273" r:id="rId52"/>
    <p:sldId id="274" r:id="rId53"/>
    <p:sldId id="321" r:id="rId54"/>
    <p:sldId id="322" r:id="rId55"/>
    <p:sldId id="275" r:id="rId56"/>
    <p:sldId id="323" r:id="rId57"/>
    <p:sldId id="324" r:id="rId58"/>
    <p:sldId id="276" r:id="rId59"/>
    <p:sldId id="325" r:id="rId60"/>
    <p:sldId id="326" r:id="rId61"/>
    <p:sldId id="277" r:id="rId62"/>
    <p:sldId id="327" r:id="rId63"/>
    <p:sldId id="328" r:id="rId64"/>
    <p:sldId id="278" r:id="rId65"/>
    <p:sldId id="329" r:id="rId66"/>
    <p:sldId id="330" r:id="rId67"/>
    <p:sldId id="279" r:id="rId68"/>
    <p:sldId id="280" r:id="rId69"/>
    <p:sldId id="331" r:id="rId70"/>
    <p:sldId id="281" r:id="rId71"/>
    <p:sldId id="332" r:id="rId72"/>
    <p:sldId id="282" r:id="rId73"/>
    <p:sldId id="283" r:id="rId74"/>
    <p:sldId id="333" r:id="rId75"/>
    <p:sldId id="284" r:id="rId76"/>
    <p:sldId id="285" r:id="rId77"/>
    <p:sldId id="286" r:id="rId78"/>
    <p:sldId id="334" r:id="rId79"/>
    <p:sldId id="335" r:id="rId80"/>
    <p:sldId id="287" r:id="rId81"/>
    <p:sldId id="336" r:id="rId82"/>
    <p:sldId id="337" r:id="rId83"/>
    <p:sldId id="288" r:id="rId84"/>
    <p:sldId id="338" r:id="rId85"/>
    <p:sldId id="339" r:id="rId86"/>
    <p:sldId id="289" r:id="rId87"/>
    <p:sldId id="340" r:id="rId88"/>
    <p:sldId id="341" r:id="rId89"/>
  </p:sldIdLst>
  <p:sldSz cx="18288000" cy="10287000"/>
  <p:notesSz cx="6858000" cy="9144000"/>
  <p:embeddedFontLst>
    <p:embeddedFont>
      <p:font typeface="Arimo" panose="020B0604020202020204" charset="0"/>
      <p:regular r:id="rId90"/>
    </p:embeddedFont>
    <p:embeddedFont>
      <p:font typeface="Cambria Math" panose="02040503050406030204" pitchFamily="18" charset="0"/>
      <p:regular r:id="rId91"/>
    </p:embeddedFont>
    <p:embeddedFont>
      <p:font typeface="Century Gothic" panose="020B0502020202020204" pitchFamily="34" charset="0"/>
      <p:regular r:id="rId92"/>
      <p:bold r:id="rId93"/>
      <p:italic r:id="rId94"/>
      <p:boldItalic r:id="rId95"/>
    </p:embeddedFont>
    <p:embeddedFont>
      <p:font typeface="League Spartan" panose="020B0604020202020204" charset="0"/>
      <p:regular r:id="rId96"/>
    </p:embeddedFont>
    <p:embeddedFont>
      <p:font typeface="Quicksand" panose="020B0604020202020204" charset="0"/>
      <p:regular r:id="rId97"/>
    </p:embeddedFont>
    <p:embeddedFont>
      <p:font typeface="Wingdings 3" panose="05040102010807070707" pitchFamily="18" charset="2"/>
      <p:regular r:id="rId9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font" Target="fonts/font1.fntdata"/><Relationship Id="rId95" Type="http://schemas.openxmlformats.org/officeDocument/2006/relationships/font" Target="fonts/font6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font" Target="fonts/font2.fntdata"/><Relationship Id="rId9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5.fntdata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4.fntdata"/><Relationship Id="rId98" Type="http://schemas.openxmlformats.org/officeDocument/2006/relationships/font" Target="fonts/font9.fntdata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433" y="2171701"/>
            <a:ext cx="13238487" cy="4994372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2433" y="7166070"/>
            <a:ext cx="13238487" cy="129213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41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1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5" y="4292600"/>
            <a:ext cx="13238486" cy="2873471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3" y="7166072"/>
            <a:ext cx="13238487" cy="1290600"/>
          </a:xfrm>
        </p:spPr>
        <p:txBody>
          <a:bodyPr anchor="t"/>
          <a:lstStyle>
            <a:lvl1pPr marL="0" indent="0" algn="l">
              <a:buNone/>
              <a:defRPr sz="3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50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54969" y="3090863"/>
            <a:ext cx="6594509" cy="6293645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81740" y="3084139"/>
            <a:ext cx="6594512" cy="6300368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8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4970" y="2857500"/>
            <a:ext cx="659450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4969" y="3771900"/>
            <a:ext cx="6594509" cy="5612607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481743" y="2857500"/>
            <a:ext cx="659450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481743" y="3771900"/>
            <a:ext cx="6594509" cy="5612607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9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308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32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0" y="2171700"/>
            <a:ext cx="5101596" cy="2171700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6925" y="2171700"/>
            <a:ext cx="7793996" cy="6858000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0" y="4693921"/>
            <a:ext cx="5101595" cy="4343399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33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0861" y="2781288"/>
            <a:ext cx="7639359" cy="2362212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24319" y="1714500"/>
            <a:ext cx="4800600" cy="685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486400"/>
            <a:ext cx="7627469" cy="2057400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56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5" y="7200880"/>
            <a:ext cx="13238486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32433" y="1028700"/>
            <a:ext cx="13238487" cy="546099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4" y="8050988"/>
            <a:ext cx="13238484" cy="74056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87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2171700"/>
            <a:ext cx="13238489" cy="2971800"/>
          </a:xfrm>
        </p:spPr>
        <p:txBody>
          <a:bodyPr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486400"/>
            <a:ext cx="13238489" cy="354330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93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2" y="2171700"/>
            <a:ext cx="11998973" cy="3485061"/>
          </a:xfrm>
        </p:spPr>
        <p:txBody>
          <a:bodyPr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895601" y="5656761"/>
            <a:ext cx="10919474" cy="51326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1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6525986"/>
            <a:ext cx="13238489" cy="251460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347443" y="1456880"/>
            <a:ext cx="1202868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83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5735" y="3920681"/>
            <a:ext cx="1202868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83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7860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1" y="4686302"/>
            <a:ext cx="13238490" cy="2479770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7166072"/>
            <a:ext cx="13238489" cy="1290600"/>
          </a:xfrm>
        </p:spPr>
        <p:txBody>
          <a:bodyPr anchor="t"/>
          <a:lstStyle>
            <a:lvl1pPr marL="0" indent="0" algn="l">
              <a:buNone/>
              <a:defRPr sz="3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37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3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421" y="2971800"/>
            <a:ext cx="442029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978695" y="4000500"/>
            <a:ext cx="4391025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5489" y="2971800"/>
            <a:ext cx="4404362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809659" y="4000500"/>
            <a:ext cx="4420191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87051" y="2971800"/>
            <a:ext cx="439817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0687051" y="4000500"/>
            <a:ext cx="4398170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589213" y="3200400"/>
            <a:ext cx="0" cy="59436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443341" y="3200400"/>
            <a:ext cx="0" cy="595032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76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3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8695" y="6376424"/>
            <a:ext cx="441007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78695" y="3314700"/>
            <a:ext cx="4410075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978695" y="7240817"/>
            <a:ext cx="4410075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4063" y="6376424"/>
            <a:ext cx="4395788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834062" y="3314700"/>
            <a:ext cx="4395788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832033" y="7240816"/>
            <a:ext cx="4401609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87051" y="6376424"/>
            <a:ext cx="439817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0687049" y="3314700"/>
            <a:ext cx="4398170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0686863" y="7240813"/>
            <a:ext cx="4403996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5589213" y="3200400"/>
            <a:ext cx="0" cy="59436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443341" y="3200400"/>
            <a:ext cx="0" cy="595032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68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0724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56319" y="645320"/>
            <a:ext cx="2628902" cy="8739188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8695" y="1331121"/>
            <a:ext cx="11134724" cy="805338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4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4004528"/>
            <a:ext cx="6055518" cy="6282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4338521"/>
            <a:ext cx="2283618" cy="354818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2913518" y="2514600"/>
            <a:ext cx="4229100" cy="42291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1999119" y="1"/>
            <a:ext cx="2405081" cy="17121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2908817" y="9144000"/>
            <a:ext cx="1490601" cy="1143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9167" y="679077"/>
            <a:ext cx="14107085" cy="21007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4969" y="3079378"/>
            <a:ext cx="13419812" cy="6293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5233459" y="2686052"/>
            <a:ext cx="1485899" cy="4571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65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3427360" y="4837946"/>
            <a:ext cx="5789693" cy="4572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5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5528811" y="443594"/>
            <a:ext cx="1257299" cy="11515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2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6862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63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3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7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7590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36.png"/><Relationship Id="rId9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40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image" Target="../media/image64.png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36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3" Type="http://schemas.openxmlformats.org/officeDocument/2006/relationships/image" Target="../media/image93.jp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" Type="http://schemas.openxmlformats.org/officeDocument/2006/relationships/image" Target="../media/image92.png"/><Relationship Id="rId16" Type="http://schemas.openxmlformats.org/officeDocument/2006/relationships/image" Target="../media/image106.png"/><Relationship Id="rId20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19" Type="http://schemas.openxmlformats.org/officeDocument/2006/relationships/image" Target="../media/image109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26" Type="http://schemas.openxmlformats.org/officeDocument/2006/relationships/image" Target="../media/image134.png"/><Relationship Id="rId39" Type="http://schemas.openxmlformats.org/officeDocument/2006/relationships/image" Target="../media/image147.png"/><Relationship Id="rId21" Type="http://schemas.openxmlformats.org/officeDocument/2006/relationships/image" Target="../media/image129.png"/><Relationship Id="rId34" Type="http://schemas.openxmlformats.org/officeDocument/2006/relationships/image" Target="../media/image142.png"/><Relationship Id="rId42" Type="http://schemas.openxmlformats.org/officeDocument/2006/relationships/image" Target="../media/image150.png"/><Relationship Id="rId47" Type="http://schemas.openxmlformats.org/officeDocument/2006/relationships/image" Target="../media/image155.png"/><Relationship Id="rId7" Type="http://schemas.openxmlformats.org/officeDocument/2006/relationships/image" Target="../media/image115.png"/><Relationship Id="rId2" Type="http://schemas.openxmlformats.org/officeDocument/2006/relationships/image" Target="../media/image36.png"/><Relationship Id="rId16" Type="http://schemas.openxmlformats.org/officeDocument/2006/relationships/image" Target="../media/image124.png"/><Relationship Id="rId29" Type="http://schemas.openxmlformats.org/officeDocument/2006/relationships/image" Target="../media/image137.png"/><Relationship Id="rId11" Type="http://schemas.openxmlformats.org/officeDocument/2006/relationships/image" Target="../media/image119.png"/><Relationship Id="rId24" Type="http://schemas.openxmlformats.org/officeDocument/2006/relationships/image" Target="../media/image132.png"/><Relationship Id="rId32" Type="http://schemas.openxmlformats.org/officeDocument/2006/relationships/image" Target="../media/image140.png"/><Relationship Id="rId37" Type="http://schemas.openxmlformats.org/officeDocument/2006/relationships/image" Target="../media/image145.png"/><Relationship Id="rId40" Type="http://schemas.openxmlformats.org/officeDocument/2006/relationships/image" Target="../media/image148.png"/><Relationship Id="rId45" Type="http://schemas.openxmlformats.org/officeDocument/2006/relationships/image" Target="../media/image153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23" Type="http://schemas.openxmlformats.org/officeDocument/2006/relationships/image" Target="../media/image131.png"/><Relationship Id="rId28" Type="http://schemas.openxmlformats.org/officeDocument/2006/relationships/image" Target="../media/image136.png"/><Relationship Id="rId36" Type="http://schemas.openxmlformats.org/officeDocument/2006/relationships/image" Target="../media/image144.png"/><Relationship Id="rId49" Type="http://schemas.openxmlformats.org/officeDocument/2006/relationships/image" Target="../media/image157.png"/><Relationship Id="rId10" Type="http://schemas.openxmlformats.org/officeDocument/2006/relationships/image" Target="../media/image118.png"/><Relationship Id="rId19" Type="http://schemas.openxmlformats.org/officeDocument/2006/relationships/image" Target="../media/image127.png"/><Relationship Id="rId31" Type="http://schemas.openxmlformats.org/officeDocument/2006/relationships/image" Target="../media/image139.png"/><Relationship Id="rId44" Type="http://schemas.openxmlformats.org/officeDocument/2006/relationships/image" Target="../media/image152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Relationship Id="rId22" Type="http://schemas.openxmlformats.org/officeDocument/2006/relationships/image" Target="../media/image130.png"/><Relationship Id="rId27" Type="http://schemas.openxmlformats.org/officeDocument/2006/relationships/image" Target="../media/image135.png"/><Relationship Id="rId30" Type="http://schemas.openxmlformats.org/officeDocument/2006/relationships/image" Target="../media/image138.png"/><Relationship Id="rId35" Type="http://schemas.openxmlformats.org/officeDocument/2006/relationships/image" Target="../media/image143.png"/><Relationship Id="rId43" Type="http://schemas.openxmlformats.org/officeDocument/2006/relationships/image" Target="../media/image151.png"/><Relationship Id="rId48" Type="http://schemas.openxmlformats.org/officeDocument/2006/relationships/image" Target="../media/image156.png"/><Relationship Id="rId8" Type="http://schemas.openxmlformats.org/officeDocument/2006/relationships/image" Target="../media/image116.png"/><Relationship Id="rId3" Type="http://schemas.openxmlformats.org/officeDocument/2006/relationships/image" Target="../media/image111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5" Type="http://schemas.openxmlformats.org/officeDocument/2006/relationships/image" Target="../media/image133.png"/><Relationship Id="rId33" Type="http://schemas.openxmlformats.org/officeDocument/2006/relationships/image" Target="../media/image141.png"/><Relationship Id="rId38" Type="http://schemas.openxmlformats.org/officeDocument/2006/relationships/image" Target="../media/image146.png"/><Relationship Id="rId46" Type="http://schemas.openxmlformats.org/officeDocument/2006/relationships/image" Target="../media/image154.png"/><Relationship Id="rId20" Type="http://schemas.openxmlformats.org/officeDocument/2006/relationships/image" Target="../media/image128.png"/><Relationship Id="rId41" Type="http://schemas.openxmlformats.org/officeDocument/2006/relationships/image" Target="../media/image1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image" Target="../media/image159.png"/><Relationship Id="rId7" Type="http://schemas.openxmlformats.org/officeDocument/2006/relationships/image" Target="../media/image163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0" Type="http://schemas.openxmlformats.org/officeDocument/2006/relationships/image" Target="../media/image166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8.png"/><Relationship Id="rId18" Type="http://schemas.openxmlformats.org/officeDocument/2006/relationships/image" Target="../media/image183.png"/><Relationship Id="rId3" Type="http://schemas.openxmlformats.org/officeDocument/2006/relationships/image" Target="../media/image168.png"/><Relationship Id="rId7" Type="http://schemas.openxmlformats.org/officeDocument/2006/relationships/image" Target="../media/image172.png"/><Relationship Id="rId12" Type="http://schemas.openxmlformats.org/officeDocument/2006/relationships/image" Target="../media/image177.png"/><Relationship Id="rId17" Type="http://schemas.openxmlformats.org/officeDocument/2006/relationships/image" Target="../media/image182.png"/><Relationship Id="rId2" Type="http://schemas.openxmlformats.org/officeDocument/2006/relationships/image" Target="../media/image36.png"/><Relationship Id="rId16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1.png"/><Relationship Id="rId11" Type="http://schemas.openxmlformats.org/officeDocument/2006/relationships/image" Target="../media/image176.png"/><Relationship Id="rId5" Type="http://schemas.openxmlformats.org/officeDocument/2006/relationships/image" Target="../media/image170.png"/><Relationship Id="rId15" Type="http://schemas.openxmlformats.org/officeDocument/2006/relationships/image" Target="../media/image180.png"/><Relationship Id="rId10" Type="http://schemas.openxmlformats.org/officeDocument/2006/relationships/image" Target="../media/image175.png"/><Relationship Id="rId4" Type="http://schemas.openxmlformats.org/officeDocument/2006/relationships/image" Target="../media/image169.png"/><Relationship Id="rId9" Type="http://schemas.openxmlformats.org/officeDocument/2006/relationships/image" Target="../media/image174.png"/><Relationship Id="rId14" Type="http://schemas.openxmlformats.org/officeDocument/2006/relationships/image" Target="../media/image17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13" Type="http://schemas.openxmlformats.org/officeDocument/2006/relationships/image" Target="../media/image194.png"/><Relationship Id="rId18" Type="http://schemas.openxmlformats.org/officeDocument/2006/relationships/image" Target="../media/image199.png"/><Relationship Id="rId26" Type="http://schemas.openxmlformats.org/officeDocument/2006/relationships/image" Target="../media/image207.png"/><Relationship Id="rId3" Type="http://schemas.openxmlformats.org/officeDocument/2006/relationships/image" Target="../media/image184.png"/><Relationship Id="rId21" Type="http://schemas.openxmlformats.org/officeDocument/2006/relationships/image" Target="../media/image202.png"/><Relationship Id="rId7" Type="http://schemas.openxmlformats.org/officeDocument/2006/relationships/image" Target="../media/image188.png"/><Relationship Id="rId12" Type="http://schemas.openxmlformats.org/officeDocument/2006/relationships/image" Target="../media/image193.png"/><Relationship Id="rId17" Type="http://schemas.openxmlformats.org/officeDocument/2006/relationships/image" Target="../media/image198.png"/><Relationship Id="rId25" Type="http://schemas.openxmlformats.org/officeDocument/2006/relationships/image" Target="../media/image206.png"/><Relationship Id="rId2" Type="http://schemas.openxmlformats.org/officeDocument/2006/relationships/image" Target="../media/image40.png"/><Relationship Id="rId16" Type="http://schemas.openxmlformats.org/officeDocument/2006/relationships/image" Target="../media/image197.png"/><Relationship Id="rId20" Type="http://schemas.openxmlformats.org/officeDocument/2006/relationships/image" Target="../media/image201.png"/><Relationship Id="rId29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7.png"/><Relationship Id="rId11" Type="http://schemas.openxmlformats.org/officeDocument/2006/relationships/image" Target="../media/image192.png"/><Relationship Id="rId24" Type="http://schemas.openxmlformats.org/officeDocument/2006/relationships/image" Target="../media/image205.png"/><Relationship Id="rId5" Type="http://schemas.openxmlformats.org/officeDocument/2006/relationships/image" Target="../media/image186.png"/><Relationship Id="rId15" Type="http://schemas.openxmlformats.org/officeDocument/2006/relationships/image" Target="../media/image196.png"/><Relationship Id="rId23" Type="http://schemas.openxmlformats.org/officeDocument/2006/relationships/image" Target="../media/image204.png"/><Relationship Id="rId28" Type="http://schemas.openxmlformats.org/officeDocument/2006/relationships/image" Target="../media/image209.png"/><Relationship Id="rId10" Type="http://schemas.openxmlformats.org/officeDocument/2006/relationships/image" Target="../media/image191.png"/><Relationship Id="rId19" Type="http://schemas.openxmlformats.org/officeDocument/2006/relationships/image" Target="../media/image200.png"/><Relationship Id="rId4" Type="http://schemas.openxmlformats.org/officeDocument/2006/relationships/image" Target="../media/image185.png"/><Relationship Id="rId9" Type="http://schemas.openxmlformats.org/officeDocument/2006/relationships/image" Target="../media/image190.png"/><Relationship Id="rId14" Type="http://schemas.openxmlformats.org/officeDocument/2006/relationships/image" Target="../media/image195.png"/><Relationship Id="rId22" Type="http://schemas.openxmlformats.org/officeDocument/2006/relationships/image" Target="../media/image203.png"/><Relationship Id="rId27" Type="http://schemas.openxmlformats.org/officeDocument/2006/relationships/image" Target="../media/image20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image" Target="../media/image211.png"/><Relationship Id="rId7" Type="http://schemas.openxmlformats.org/officeDocument/2006/relationships/image" Target="../media/image21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4.png"/><Relationship Id="rId5" Type="http://schemas.openxmlformats.org/officeDocument/2006/relationships/image" Target="../media/image213.png"/><Relationship Id="rId10" Type="http://schemas.openxmlformats.org/officeDocument/2006/relationships/image" Target="../media/image218.png"/><Relationship Id="rId4" Type="http://schemas.openxmlformats.org/officeDocument/2006/relationships/image" Target="../media/image212.png"/><Relationship Id="rId9" Type="http://schemas.openxmlformats.org/officeDocument/2006/relationships/image" Target="../media/image21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png"/><Relationship Id="rId13" Type="http://schemas.openxmlformats.org/officeDocument/2006/relationships/image" Target="../media/image229.png"/><Relationship Id="rId3" Type="http://schemas.openxmlformats.org/officeDocument/2006/relationships/image" Target="../media/image219.png"/><Relationship Id="rId7" Type="http://schemas.openxmlformats.org/officeDocument/2006/relationships/image" Target="../media/image223.png"/><Relationship Id="rId12" Type="http://schemas.openxmlformats.org/officeDocument/2006/relationships/image" Target="../media/image228.png"/><Relationship Id="rId2" Type="http://schemas.openxmlformats.org/officeDocument/2006/relationships/image" Target="../media/image36.png"/><Relationship Id="rId16" Type="http://schemas.openxmlformats.org/officeDocument/2006/relationships/image" Target="../media/image2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2.png"/><Relationship Id="rId11" Type="http://schemas.openxmlformats.org/officeDocument/2006/relationships/image" Target="../media/image227.png"/><Relationship Id="rId5" Type="http://schemas.openxmlformats.org/officeDocument/2006/relationships/image" Target="../media/image221.png"/><Relationship Id="rId15" Type="http://schemas.openxmlformats.org/officeDocument/2006/relationships/image" Target="../media/image231.png"/><Relationship Id="rId10" Type="http://schemas.openxmlformats.org/officeDocument/2006/relationships/image" Target="../media/image226.png"/><Relationship Id="rId4" Type="http://schemas.openxmlformats.org/officeDocument/2006/relationships/image" Target="../media/image220.png"/><Relationship Id="rId9" Type="http://schemas.openxmlformats.org/officeDocument/2006/relationships/image" Target="../media/image225.png"/><Relationship Id="rId14" Type="http://schemas.openxmlformats.org/officeDocument/2006/relationships/image" Target="../media/image23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3" Type="http://schemas.openxmlformats.org/officeDocument/2006/relationships/image" Target="../media/image233.png"/><Relationship Id="rId7" Type="http://schemas.openxmlformats.org/officeDocument/2006/relationships/image" Target="../media/image237.png"/><Relationship Id="rId12" Type="http://schemas.openxmlformats.org/officeDocument/2006/relationships/image" Target="../media/image24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6.png"/><Relationship Id="rId11" Type="http://schemas.openxmlformats.org/officeDocument/2006/relationships/image" Target="../media/image241.png"/><Relationship Id="rId5" Type="http://schemas.openxmlformats.org/officeDocument/2006/relationships/image" Target="../media/image235.png"/><Relationship Id="rId10" Type="http://schemas.openxmlformats.org/officeDocument/2006/relationships/image" Target="../media/image240.png"/><Relationship Id="rId4" Type="http://schemas.openxmlformats.org/officeDocument/2006/relationships/image" Target="../media/image234.png"/><Relationship Id="rId9" Type="http://schemas.openxmlformats.org/officeDocument/2006/relationships/image" Target="../media/image23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png"/><Relationship Id="rId13" Type="http://schemas.openxmlformats.org/officeDocument/2006/relationships/image" Target="../media/image253.png"/><Relationship Id="rId3" Type="http://schemas.openxmlformats.org/officeDocument/2006/relationships/image" Target="../media/image243.png"/><Relationship Id="rId7" Type="http://schemas.openxmlformats.org/officeDocument/2006/relationships/image" Target="../media/image247.png"/><Relationship Id="rId12" Type="http://schemas.openxmlformats.org/officeDocument/2006/relationships/image" Target="../media/image25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6.png"/><Relationship Id="rId11" Type="http://schemas.openxmlformats.org/officeDocument/2006/relationships/image" Target="../media/image251.png"/><Relationship Id="rId5" Type="http://schemas.openxmlformats.org/officeDocument/2006/relationships/image" Target="../media/image245.png"/><Relationship Id="rId10" Type="http://schemas.openxmlformats.org/officeDocument/2006/relationships/image" Target="../media/image250.png"/><Relationship Id="rId4" Type="http://schemas.openxmlformats.org/officeDocument/2006/relationships/image" Target="../media/image244.png"/><Relationship Id="rId9" Type="http://schemas.openxmlformats.org/officeDocument/2006/relationships/image" Target="../media/image24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55.svg"/><Relationship Id="rId7" Type="http://schemas.openxmlformats.org/officeDocument/2006/relationships/image" Target="../media/image259.sv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8.png"/><Relationship Id="rId11" Type="http://schemas.microsoft.com/office/2007/relationships/hdphoto" Target="../media/hdphoto1.wdp"/><Relationship Id="rId5" Type="http://schemas.openxmlformats.org/officeDocument/2006/relationships/image" Target="../media/image257.svg"/><Relationship Id="rId10" Type="http://schemas.openxmlformats.org/officeDocument/2006/relationships/image" Target="../media/image262.png"/><Relationship Id="rId4" Type="http://schemas.openxmlformats.org/officeDocument/2006/relationships/image" Target="../media/image256.png"/><Relationship Id="rId9" Type="http://schemas.openxmlformats.org/officeDocument/2006/relationships/image" Target="../media/image261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12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3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55.svg"/><Relationship Id="rId7" Type="http://schemas.openxmlformats.org/officeDocument/2006/relationships/image" Target="../media/image259.sv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8.png"/><Relationship Id="rId11" Type="http://schemas.microsoft.com/office/2007/relationships/hdphoto" Target="../media/hdphoto1.wdp"/><Relationship Id="rId5" Type="http://schemas.openxmlformats.org/officeDocument/2006/relationships/image" Target="../media/image257.svg"/><Relationship Id="rId10" Type="http://schemas.openxmlformats.org/officeDocument/2006/relationships/image" Target="../media/image264.png"/><Relationship Id="rId4" Type="http://schemas.openxmlformats.org/officeDocument/2006/relationships/image" Target="../media/image256.png"/><Relationship Id="rId9" Type="http://schemas.openxmlformats.org/officeDocument/2006/relationships/image" Target="../media/image261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55.svg"/><Relationship Id="rId7" Type="http://schemas.openxmlformats.org/officeDocument/2006/relationships/image" Target="../media/image259.sv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8.png"/><Relationship Id="rId11" Type="http://schemas.microsoft.com/office/2007/relationships/hdphoto" Target="../media/hdphoto1.wdp"/><Relationship Id="rId5" Type="http://schemas.openxmlformats.org/officeDocument/2006/relationships/image" Target="../media/image257.svg"/><Relationship Id="rId10" Type="http://schemas.openxmlformats.org/officeDocument/2006/relationships/image" Target="../media/image264.png"/><Relationship Id="rId4" Type="http://schemas.openxmlformats.org/officeDocument/2006/relationships/image" Target="../media/image256.png"/><Relationship Id="rId9" Type="http://schemas.openxmlformats.org/officeDocument/2006/relationships/image" Target="../media/image261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55.svg"/><Relationship Id="rId7" Type="http://schemas.openxmlformats.org/officeDocument/2006/relationships/image" Target="../media/image259.sv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8.png"/><Relationship Id="rId11" Type="http://schemas.microsoft.com/office/2007/relationships/hdphoto" Target="../media/hdphoto1.wdp"/><Relationship Id="rId5" Type="http://schemas.openxmlformats.org/officeDocument/2006/relationships/image" Target="../media/image257.svg"/><Relationship Id="rId10" Type="http://schemas.openxmlformats.org/officeDocument/2006/relationships/image" Target="../media/image264.png"/><Relationship Id="rId4" Type="http://schemas.openxmlformats.org/officeDocument/2006/relationships/image" Target="../media/image256.png"/><Relationship Id="rId9" Type="http://schemas.openxmlformats.org/officeDocument/2006/relationships/image" Target="../media/image261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65.png"/><Relationship Id="rId7" Type="http://schemas.openxmlformats.org/officeDocument/2006/relationships/image" Target="../media/image26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8.png"/><Relationship Id="rId5" Type="http://schemas.openxmlformats.org/officeDocument/2006/relationships/image" Target="../media/image267.png"/><Relationship Id="rId4" Type="http://schemas.openxmlformats.org/officeDocument/2006/relationships/image" Target="../media/image266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4.png"/><Relationship Id="rId5" Type="http://schemas.openxmlformats.org/officeDocument/2006/relationships/image" Target="../media/image273.png"/><Relationship Id="rId4" Type="http://schemas.openxmlformats.org/officeDocument/2006/relationships/image" Target="../media/image272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275.png"/><Relationship Id="rId7" Type="http://schemas.openxmlformats.org/officeDocument/2006/relationships/image" Target="../media/image27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8.png"/><Relationship Id="rId5" Type="http://schemas.openxmlformats.org/officeDocument/2006/relationships/image" Target="../media/image277.png"/><Relationship Id="rId4" Type="http://schemas.openxmlformats.org/officeDocument/2006/relationships/image" Target="../media/image276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png"/><Relationship Id="rId13" Type="http://schemas.openxmlformats.org/officeDocument/2006/relationships/image" Target="../media/image291.png"/><Relationship Id="rId18" Type="http://schemas.openxmlformats.org/officeDocument/2006/relationships/image" Target="../media/image296.png"/><Relationship Id="rId3" Type="http://schemas.openxmlformats.org/officeDocument/2006/relationships/image" Target="../media/image281.png"/><Relationship Id="rId7" Type="http://schemas.openxmlformats.org/officeDocument/2006/relationships/image" Target="../media/image285.png"/><Relationship Id="rId12" Type="http://schemas.openxmlformats.org/officeDocument/2006/relationships/image" Target="../media/image290.png"/><Relationship Id="rId17" Type="http://schemas.openxmlformats.org/officeDocument/2006/relationships/image" Target="../media/image295.png"/><Relationship Id="rId2" Type="http://schemas.openxmlformats.org/officeDocument/2006/relationships/image" Target="../media/image36.png"/><Relationship Id="rId16" Type="http://schemas.openxmlformats.org/officeDocument/2006/relationships/image" Target="../media/image2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4.png"/><Relationship Id="rId11" Type="http://schemas.openxmlformats.org/officeDocument/2006/relationships/image" Target="../media/image289.png"/><Relationship Id="rId5" Type="http://schemas.openxmlformats.org/officeDocument/2006/relationships/image" Target="../media/image283.png"/><Relationship Id="rId15" Type="http://schemas.openxmlformats.org/officeDocument/2006/relationships/image" Target="../media/image293.png"/><Relationship Id="rId10" Type="http://schemas.openxmlformats.org/officeDocument/2006/relationships/image" Target="../media/image288.png"/><Relationship Id="rId4" Type="http://schemas.openxmlformats.org/officeDocument/2006/relationships/image" Target="../media/image282.png"/><Relationship Id="rId9" Type="http://schemas.openxmlformats.org/officeDocument/2006/relationships/image" Target="../media/image287.png"/><Relationship Id="rId14" Type="http://schemas.openxmlformats.org/officeDocument/2006/relationships/image" Target="../media/image292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png"/><Relationship Id="rId7" Type="http://schemas.openxmlformats.org/officeDocument/2006/relationships/image" Target="../media/image30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0.png"/><Relationship Id="rId5" Type="http://schemas.openxmlformats.org/officeDocument/2006/relationships/image" Target="../media/image299.png"/><Relationship Id="rId4" Type="http://schemas.openxmlformats.org/officeDocument/2006/relationships/image" Target="../media/image298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55.svg"/><Relationship Id="rId7" Type="http://schemas.openxmlformats.org/officeDocument/2006/relationships/image" Target="../media/image259.sv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8.png"/><Relationship Id="rId11" Type="http://schemas.microsoft.com/office/2007/relationships/hdphoto" Target="../media/hdphoto3.wdp"/><Relationship Id="rId5" Type="http://schemas.openxmlformats.org/officeDocument/2006/relationships/image" Target="../media/image257.svg"/><Relationship Id="rId10" Type="http://schemas.openxmlformats.org/officeDocument/2006/relationships/image" Target="../media/image302.png"/><Relationship Id="rId4" Type="http://schemas.openxmlformats.org/officeDocument/2006/relationships/image" Target="../media/image256.png"/><Relationship Id="rId9" Type="http://schemas.openxmlformats.org/officeDocument/2006/relationships/image" Target="../media/image261.sv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55.svg"/><Relationship Id="rId7" Type="http://schemas.openxmlformats.org/officeDocument/2006/relationships/image" Target="../media/image259.sv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8.png"/><Relationship Id="rId11" Type="http://schemas.microsoft.com/office/2007/relationships/hdphoto" Target="../media/hdphoto3.wdp"/><Relationship Id="rId5" Type="http://schemas.openxmlformats.org/officeDocument/2006/relationships/image" Target="../media/image257.svg"/><Relationship Id="rId10" Type="http://schemas.openxmlformats.org/officeDocument/2006/relationships/image" Target="../media/image302.png"/><Relationship Id="rId4" Type="http://schemas.openxmlformats.org/officeDocument/2006/relationships/image" Target="../media/image256.png"/><Relationship Id="rId9" Type="http://schemas.openxmlformats.org/officeDocument/2006/relationships/image" Target="../media/image261.sv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55.svg"/><Relationship Id="rId7" Type="http://schemas.openxmlformats.org/officeDocument/2006/relationships/image" Target="../media/image259.sv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8.png"/><Relationship Id="rId11" Type="http://schemas.microsoft.com/office/2007/relationships/hdphoto" Target="../media/hdphoto3.wdp"/><Relationship Id="rId5" Type="http://schemas.openxmlformats.org/officeDocument/2006/relationships/image" Target="../media/image257.svg"/><Relationship Id="rId10" Type="http://schemas.openxmlformats.org/officeDocument/2006/relationships/image" Target="../media/image302.png"/><Relationship Id="rId4" Type="http://schemas.openxmlformats.org/officeDocument/2006/relationships/image" Target="../media/image256.png"/><Relationship Id="rId9" Type="http://schemas.openxmlformats.org/officeDocument/2006/relationships/image" Target="../media/image261.sv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303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303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55.svg"/><Relationship Id="rId7" Type="http://schemas.openxmlformats.org/officeDocument/2006/relationships/image" Target="../media/image259.sv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8.png"/><Relationship Id="rId11" Type="http://schemas.microsoft.com/office/2007/relationships/hdphoto" Target="../media/hdphoto3.wdp"/><Relationship Id="rId5" Type="http://schemas.openxmlformats.org/officeDocument/2006/relationships/image" Target="../media/image257.svg"/><Relationship Id="rId10" Type="http://schemas.openxmlformats.org/officeDocument/2006/relationships/image" Target="../media/image302.png"/><Relationship Id="rId4" Type="http://schemas.openxmlformats.org/officeDocument/2006/relationships/image" Target="../media/image256.png"/><Relationship Id="rId9" Type="http://schemas.openxmlformats.org/officeDocument/2006/relationships/image" Target="../media/image261.sv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png"/><Relationship Id="rId3" Type="http://schemas.openxmlformats.org/officeDocument/2006/relationships/image" Target="../media/image304.png"/><Relationship Id="rId7" Type="http://schemas.openxmlformats.org/officeDocument/2006/relationships/image" Target="../media/image30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7.png"/><Relationship Id="rId5" Type="http://schemas.openxmlformats.org/officeDocument/2006/relationships/image" Target="../media/image306.png"/><Relationship Id="rId10" Type="http://schemas.openxmlformats.org/officeDocument/2006/relationships/image" Target="../media/image311.png"/><Relationship Id="rId4" Type="http://schemas.openxmlformats.org/officeDocument/2006/relationships/image" Target="../media/image305.png"/><Relationship Id="rId9" Type="http://schemas.openxmlformats.org/officeDocument/2006/relationships/image" Target="../media/image310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5.png"/><Relationship Id="rId5" Type="http://schemas.openxmlformats.org/officeDocument/2006/relationships/image" Target="../media/image314.png"/><Relationship Id="rId4" Type="http://schemas.openxmlformats.org/officeDocument/2006/relationships/image" Target="../media/image313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png"/><Relationship Id="rId3" Type="http://schemas.openxmlformats.org/officeDocument/2006/relationships/image" Target="../media/image316.png"/><Relationship Id="rId7" Type="http://schemas.openxmlformats.org/officeDocument/2006/relationships/image" Target="../media/image32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9.png"/><Relationship Id="rId5" Type="http://schemas.openxmlformats.org/officeDocument/2006/relationships/image" Target="../media/image318.png"/><Relationship Id="rId4" Type="http://schemas.openxmlformats.org/officeDocument/2006/relationships/image" Target="../media/image317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2.png"/><Relationship Id="rId7" Type="http://schemas.openxmlformats.org/officeDocument/2006/relationships/image" Target="../media/image32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5.png"/><Relationship Id="rId5" Type="http://schemas.openxmlformats.org/officeDocument/2006/relationships/image" Target="../media/image324.png"/><Relationship Id="rId4" Type="http://schemas.openxmlformats.org/officeDocument/2006/relationships/image" Target="../media/image323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3486215">
            <a:off x="14264700" y="-1534787"/>
            <a:ext cx="4677353" cy="573908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2887680">
            <a:off x="-532557" y="-1349864"/>
            <a:ext cx="5026146" cy="634032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-1205189" y="5979780"/>
            <a:ext cx="4208766" cy="487972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3802002" y="2461984"/>
            <a:ext cx="5026146" cy="6340322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12323785" y="4800515"/>
            <a:ext cx="6166915" cy="6058994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 rot="-3277726">
            <a:off x="7112652" y="-2136520"/>
            <a:ext cx="6419936" cy="7913635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4485341" y="2314575"/>
            <a:ext cx="9317319" cy="5657850"/>
            <a:chOff x="0" y="0"/>
            <a:chExt cx="3151784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51784" cy="1913890"/>
            </a:xfrm>
            <a:custGeom>
              <a:avLst/>
              <a:gdLst/>
              <a:ahLst/>
              <a:cxnLst/>
              <a:rect l="l" t="t" r="r" b="b"/>
              <a:pathLst>
                <a:path w="3151784" h="1913890">
                  <a:moveTo>
                    <a:pt x="0" y="0"/>
                  </a:moveTo>
                  <a:lnTo>
                    <a:pt x="3151784" y="0"/>
                  </a:lnTo>
                  <a:lnTo>
                    <a:pt x="3151784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 flipH="1" flipV="1">
            <a:off x="5237998" y="8419644"/>
            <a:ext cx="6432830" cy="6167476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485341" y="2360026"/>
            <a:ext cx="9432955" cy="496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3"/>
              </a:lnSpc>
            </a:pPr>
            <a:r>
              <a:rPr lang="en-US" sz="10894" spc="926">
                <a:solidFill>
                  <a:srgbClr val="000000"/>
                </a:solidFill>
                <a:latin typeface="League Spartan"/>
              </a:rPr>
              <a:t>APTITUD NUMÉRICA #2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61291" y="9162425"/>
            <a:ext cx="13497859" cy="402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65"/>
              </a:lnSpc>
            </a:pPr>
            <a:r>
              <a:rPr lang="en-US" sz="4320" b="1" spc="336" dirty="0">
                <a:solidFill>
                  <a:srgbClr val="000000"/>
                </a:solidFill>
                <a:latin typeface="Quicksand"/>
              </a:rPr>
              <a:t>DOCENTE: DARWIN JOSÉ  VIVIESCAS TUIRÁN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38445" y="1427070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47870" y="1427070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45500" y="1938206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35452" y="1764873"/>
            <a:ext cx="1581111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247870" y="3306870"/>
            <a:ext cx="11792260" cy="3191548"/>
            <a:chOff x="0" y="0"/>
            <a:chExt cx="3988987" cy="10796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88987" cy="1079610"/>
            </a:xfrm>
            <a:custGeom>
              <a:avLst/>
              <a:gdLst/>
              <a:ahLst/>
              <a:cxnLst/>
              <a:rect l="l" t="t" r="r" b="b"/>
              <a:pathLst>
                <a:path w="3988987" h="1079610">
                  <a:moveTo>
                    <a:pt x="0" y="0"/>
                  </a:moveTo>
                  <a:lnTo>
                    <a:pt x="3988987" y="0"/>
                  </a:lnTo>
                  <a:lnTo>
                    <a:pt x="3988987" y="1079610"/>
                  </a:lnTo>
                  <a:lnTo>
                    <a:pt x="0" y="107961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3435452" y="3499546"/>
            <a:ext cx="11497623" cy="2867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51"/>
              </a:lnSpc>
            </a:pP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un colegio el número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 sexto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es ¾ del número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séptimo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y el número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6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representa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mitad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5. Si hay 36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séptimo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; el número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5 es: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93671" y="8458375"/>
            <a:ext cx="2301204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50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66095" y="8458375"/>
            <a:ext cx="2289324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108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59337" y="8458375"/>
            <a:ext cx="2242549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54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99065" y="8458375"/>
            <a:ext cx="2289324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27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C3CA0A0-C5D4-443D-96CA-69363A22737E}"/>
              </a:ext>
            </a:extLst>
          </p:cNvPr>
          <p:cNvSpPr txBox="1"/>
          <p:nvPr/>
        </p:nvSpPr>
        <p:spPr>
          <a:xfrm>
            <a:off x="190500" y="266700"/>
            <a:ext cx="17907000" cy="15063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3751"/>
              </a:lnSpc>
            </a:pP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un colegio el número de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de sexto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es ¾ del número de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séptimo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y el número de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6°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representa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mitad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5°. Si hay 36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séptimo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; el número de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5°es: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BF7D7D0-C81E-4189-BDDF-CCF67B48A1B9}"/>
                  </a:ext>
                </a:extLst>
              </p:cNvPr>
              <p:cNvSpPr txBox="1"/>
              <p:nvPr/>
            </p:nvSpPr>
            <p:spPr>
              <a:xfrm>
                <a:off x="190500" y="2324100"/>
                <a:ext cx="4347600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𝑝𝑡𝑖𝑚𝑜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BF7D7D0-C81E-4189-BDDF-CCF67B48A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2324100"/>
                <a:ext cx="4347600" cy="11524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F570E4D-C5FB-4FBA-92EB-C1BCBC012DDE}"/>
                  </a:ext>
                </a:extLst>
              </p:cNvPr>
              <p:cNvSpPr txBox="1"/>
              <p:nvPr/>
            </p:nvSpPr>
            <p:spPr>
              <a:xfrm>
                <a:off x="5638800" y="2306782"/>
                <a:ext cx="4047839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𝑄𝑢𝑖𝑛𝑡𝑜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F570E4D-C5FB-4FBA-92EB-C1BCBC012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306782"/>
                <a:ext cx="4047839" cy="11524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1AE7AA18-E6EF-4C52-96F9-31045C5E8507}"/>
                  </a:ext>
                </a:extLst>
              </p:cNvPr>
              <p:cNvSpPr txBox="1"/>
              <p:nvPr/>
            </p:nvSpPr>
            <p:spPr>
              <a:xfrm>
                <a:off x="10787339" y="2592570"/>
                <a:ext cx="610641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𝑝𝑡𝑖𝑚𝑜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=36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𝑒𝑠𝑡𝑢𝑑𝑖𝑎𝑛𝑡𝑒𝑠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1AE7AA18-E6EF-4C52-96F9-31045C5E8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7339" y="2592570"/>
                <a:ext cx="6106415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447EAC32-BB87-484B-97B6-B3FE0088CB67}"/>
                  </a:ext>
                </a:extLst>
              </p:cNvPr>
              <p:cNvSpPr txBox="1"/>
              <p:nvPr/>
            </p:nvSpPr>
            <p:spPr>
              <a:xfrm>
                <a:off x="190500" y="4027685"/>
                <a:ext cx="6067367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.36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𝑒𝑠𝑡𝑢𝑑𝑖𝑎𝑛𝑡𝑒𝑠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447EAC32-BB87-484B-97B6-B3FE0088C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4027685"/>
                <a:ext cx="6067367" cy="11524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1DDD169-2496-419F-B059-44185F5D59CE}"/>
                  </a:ext>
                </a:extLst>
              </p:cNvPr>
              <p:cNvSpPr txBox="1"/>
              <p:nvPr/>
            </p:nvSpPr>
            <p:spPr>
              <a:xfrm>
                <a:off x="645690" y="7655123"/>
                <a:ext cx="550689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=27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𝑒𝑠𝑡𝑢𝑑𝑖𝑎𝑛𝑡𝑒𝑠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1DDD169-2496-419F-B059-44185F5D5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0" y="7655123"/>
                <a:ext cx="5506892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EC9C34F5-4DC1-4627-B485-4D704B3D01DC}"/>
                  </a:ext>
                </a:extLst>
              </p:cNvPr>
              <p:cNvSpPr txBox="1"/>
              <p:nvPr/>
            </p:nvSpPr>
            <p:spPr>
              <a:xfrm>
                <a:off x="140645" y="5731270"/>
                <a:ext cx="5955155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𝑒𝑠𝑡𝑢𝑑𝑖𝑎𝑛𝑡𝑒𝑠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EC9C34F5-4DC1-4627-B485-4D704B3D0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45" y="5731270"/>
                <a:ext cx="5955155" cy="11524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EB26142-BBEC-496C-B2F7-4EE6CDF191BA}"/>
                  </a:ext>
                </a:extLst>
              </p:cNvPr>
              <p:cNvSpPr txBox="1"/>
              <p:nvPr/>
            </p:nvSpPr>
            <p:spPr>
              <a:xfrm>
                <a:off x="6624358" y="5999740"/>
                <a:ext cx="612456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=3.(9)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𝑒𝑠𝑡𝑢𝑑𝑖𝑎𝑛𝑡𝑒𝑠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EB26142-BBEC-496C-B2F7-4EE6CDF19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358" y="5999740"/>
                <a:ext cx="6124562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DAE3303-4913-4F47-B897-8D56ABD5B8A6}"/>
                  </a:ext>
                </a:extLst>
              </p:cNvPr>
              <p:cNvSpPr txBox="1"/>
              <p:nvPr/>
            </p:nvSpPr>
            <p:spPr>
              <a:xfrm>
                <a:off x="13639800" y="3476595"/>
                <a:ext cx="4047839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𝑄𝑢𝑖𝑛𝑡𝑜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DAE3303-4913-4F47-B897-8D56ABD5B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9800" y="3476595"/>
                <a:ext cx="4047839" cy="11524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A8063AF-8DE4-490F-B49F-007E4515C7D9}"/>
                  </a:ext>
                </a:extLst>
              </p:cNvPr>
              <p:cNvSpPr txBox="1"/>
              <p:nvPr/>
            </p:nvSpPr>
            <p:spPr>
              <a:xfrm>
                <a:off x="13639800" y="4925543"/>
                <a:ext cx="415363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2.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𝑄𝑢𝑖𝑛𝑡𝑜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A8063AF-8DE4-490F-B49F-007E4515C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9800" y="4925543"/>
                <a:ext cx="4153637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6EC93E68-1AE4-4B37-95E0-BB3F786AA973}"/>
                  </a:ext>
                </a:extLst>
              </p:cNvPr>
              <p:cNvSpPr txBox="1"/>
              <p:nvPr/>
            </p:nvSpPr>
            <p:spPr>
              <a:xfrm>
                <a:off x="13674436" y="5927351"/>
                <a:ext cx="397564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2.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(27)=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𝑄𝑢𝑖𝑛𝑡𝑜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6EC93E68-1AE4-4B37-95E0-BB3F786AA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4436" y="5927351"/>
                <a:ext cx="3975640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A5C5279-145A-467B-A14A-4D150C47F96B}"/>
                  </a:ext>
                </a:extLst>
              </p:cNvPr>
              <p:cNvSpPr txBox="1"/>
              <p:nvPr/>
            </p:nvSpPr>
            <p:spPr>
              <a:xfrm>
                <a:off x="11835656" y="7330028"/>
                <a:ext cx="580665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54 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𝑒𝑠𝑡𝑢𝑑𝑖𝑎𝑛𝑡𝑒𝑠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𝑄𝑢𝑖𝑛𝑡𝑜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A5C5279-145A-467B-A14A-4D150C47F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5656" y="7330028"/>
                <a:ext cx="5806654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85133AE-1458-47D5-9228-26FEC63AB142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85133AE-1458-47D5-9228-26FEC63AB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396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38445" y="1427070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47870" y="1427070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45500" y="1938206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35452" y="1764873"/>
            <a:ext cx="1581111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247870" y="3306870"/>
            <a:ext cx="11792260" cy="3191548"/>
            <a:chOff x="0" y="0"/>
            <a:chExt cx="3988987" cy="10796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88987" cy="1079610"/>
            </a:xfrm>
            <a:custGeom>
              <a:avLst/>
              <a:gdLst/>
              <a:ahLst/>
              <a:cxnLst/>
              <a:rect l="l" t="t" r="r" b="b"/>
              <a:pathLst>
                <a:path w="3988987" h="1079610">
                  <a:moveTo>
                    <a:pt x="0" y="0"/>
                  </a:moveTo>
                  <a:lnTo>
                    <a:pt x="3988987" y="0"/>
                  </a:lnTo>
                  <a:lnTo>
                    <a:pt x="3988987" y="1079610"/>
                  </a:lnTo>
                  <a:lnTo>
                    <a:pt x="0" y="107961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3435452" y="3499546"/>
            <a:ext cx="11497623" cy="2867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51"/>
              </a:lnSpc>
            </a:pP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un colegio el número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 sexto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es ¾ del número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séptimo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y el número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6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representa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mitad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5. Si hay 36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séptimo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; el número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5 es: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93671" y="8458375"/>
            <a:ext cx="2301204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50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66095" y="8458375"/>
            <a:ext cx="2289324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108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59337" y="8458375"/>
            <a:ext cx="2242549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54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99065" y="8458375"/>
            <a:ext cx="2289324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27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8829E7F3-FBEF-434E-8E20-48183319E82C}"/>
              </a:ext>
            </a:extLst>
          </p:cNvPr>
          <p:cNvSpPr/>
          <p:nvPr/>
        </p:nvSpPr>
        <p:spPr>
          <a:xfrm>
            <a:off x="9300874" y="6414243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696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C3CA0A0-C5D4-443D-96CA-69363A22737E}"/>
              </a:ext>
            </a:extLst>
          </p:cNvPr>
          <p:cNvSpPr txBox="1"/>
          <p:nvPr/>
        </p:nvSpPr>
        <p:spPr>
          <a:xfrm>
            <a:off x="190500" y="266700"/>
            <a:ext cx="17907000" cy="15063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3751"/>
              </a:lnSpc>
            </a:pP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un colegio el número de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de sexto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es ¾ del número de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séptimo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y el número de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6°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representa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mitad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5°. Si hay 36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séptimo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; el número de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2400" spc="189" dirty="0">
                <a:solidFill>
                  <a:srgbClr val="000000"/>
                </a:solidFill>
                <a:latin typeface="Quicksand"/>
              </a:rPr>
              <a:t> 5°es: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BF7D7D0-C81E-4189-BDDF-CCF67B48A1B9}"/>
                  </a:ext>
                </a:extLst>
              </p:cNvPr>
              <p:cNvSpPr txBox="1"/>
              <p:nvPr/>
            </p:nvSpPr>
            <p:spPr>
              <a:xfrm>
                <a:off x="381000" y="3417141"/>
                <a:ext cx="4347600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𝑝𝑡𝑖𝑚𝑜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BF7D7D0-C81E-4189-BDDF-CCF67B48A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417141"/>
                <a:ext cx="4347600" cy="11524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F570E4D-C5FB-4FBA-92EB-C1BCBC012DDE}"/>
                  </a:ext>
                </a:extLst>
              </p:cNvPr>
              <p:cNvSpPr txBox="1"/>
              <p:nvPr/>
            </p:nvSpPr>
            <p:spPr>
              <a:xfrm>
                <a:off x="6096000" y="3459654"/>
                <a:ext cx="4047839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𝑄𝑢𝑖𝑛𝑡𝑜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F570E4D-C5FB-4FBA-92EB-C1BCBC012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59654"/>
                <a:ext cx="4047839" cy="11524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1AE7AA18-E6EF-4C52-96F9-31045C5E8507}"/>
                  </a:ext>
                </a:extLst>
              </p:cNvPr>
              <p:cNvSpPr txBox="1"/>
              <p:nvPr/>
            </p:nvSpPr>
            <p:spPr>
              <a:xfrm>
                <a:off x="10972800" y="2308555"/>
                <a:ext cx="610641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𝑝𝑡𝑖𝑚𝑜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=36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𝑒𝑠𝑡𝑢𝑑𝑖𝑎𝑛𝑡𝑒𝑠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1AE7AA18-E6EF-4C52-96F9-31045C5E8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0" y="2308555"/>
                <a:ext cx="6106415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85133AE-1458-47D5-9228-26FEC63AB142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𝐶𝑂𝑀𝑃𝑅𝑂𝐵𝐴𝑁𝐷𝑂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𝐿𝐴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𝑅𝐸𝑆𝑃𝑈𝐸𝑆𝑇𝐴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85133AE-1458-47D5-9228-26FEC63AB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>
            <a:extLst>
              <a:ext uri="{FF2B5EF4-FFF2-40B4-BE49-F238E27FC236}">
                <a16:creationId xmlns:a16="http://schemas.microsoft.com/office/drawing/2014/main" id="{09C6CFC1-3D3C-4E6C-B216-AC400BD292B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7116" t="65067" r="23060" b="22375"/>
          <a:stretch/>
        </p:blipFill>
        <p:spPr>
          <a:xfrm>
            <a:off x="190500" y="1887438"/>
            <a:ext cx="7782815" cy="13798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78BF6C27-A133-465B-BDE1-13946EDA617F}"/>
                  </a:ext>
                </a:extLst>
              </p:cNvPr>
              <p:cNvSpPr txBox="1"/>
              <p:nvPr/>
            </p:nvSpPr>
            <p:spPr>
              <a:xfrm>
                <a:off x="381000" y="4719528"/>
                <a:ext cx="4347600" cy="1154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𝑝𝑡𝑖𝑚𝑜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78BF6C27-A133-465B-BDE1-13946EDA6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719528"/>
                <a:ext cx="4347600" cy="11541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084E2279-223E-41F9-88AF-C548BD4778A3}"/>
                  </a:ext>
                </a:extLst>
              </p:cNvPr>
              <p:cNvSpPr txBox="1"/>
              <p:nvPr/>
            </p:nvSpPr>
            <p:spPr>
              <a:xfrm>
                <a:off x="6116782" y="4953893"/>
                <a:ext cx="3031471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084E2279-223E-41F9-88AF-C548BD477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782" y="4953893"/>
                <a:ext cx="3031471" cy="11524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95B71AC6-BEF2-4529-BBD5-D6B45CE4C15A}"/>
                  </a:ext>
                </a:extLst>
              </p:cNvPr>
              <p:cNvSpPr txBox="1"/>
              <p:nvPr/>
            </p:nvSpPr>
            <p:spPr>
              <a:xfrm>
                <a:off x="6144491" y="6431865"/>
                <a:ext cx="266226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95B71AC6-BEF2-4529-BBD5-D6B45CE4C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491" y="6431865"/>
                <a:ext cx="2662267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B654B47-3FC1-4959-90BF-A14E066A99A1}"/>
                  </a:ext>
                </a:extLst>
              </p:cNvPr>
              <p:cNvSpPr txBox="1"/>
              <p:nvPr/>
            </p:nvSpPr>
            <p:spPr>
              <a:xfrm>
                <a:off x="360218" y="6303845"/>
                <a:ext cx="3630994" cy="1154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25=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𝑝𝑡𝑖𝑚𝑜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B654B47-3FC1-4959-90BF-A14E066A9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18" y="6303845"/>
                <a:ext cx="3630994" cy="11541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D6A360CF-E996-44E5-A55A-1202ECFBA252}"/>
                  </a:ext>
                </a:extLst>
              </p:cNvPr>
              <p:cNvSpPr txBox="1"/>
              <p:nvPr/>
            </p:nvSpPr>
            <p:spPr>
              <a:xfrm>
                <a:off x="346364" y="7795259"/>
                <a:ext cx="421878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33,333=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𝑝𝑡𝑖𝑚𝑜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D6A360CF-E996-44E5-A55A-1202ECFBA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4" y="7795259"/>
                <a:ext cx="4218783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E838EF88-8ADA-4ED9-9C90-8AF3B07265B6}"/>
              </a:ext>
            </a:extLst>
          </p:cNvPr>
          <p:cNvSpPr/>
          <p:nvPr/>
        </p:nvSpPr>
        <p:spPr>
          <a:xfrm>
            <a:off x="5833919" y="4804554"/>
            <a:ext cx="4572000" cy="283494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04BC1C4-D10C-4DC6-9C64-61385D11BF08}"/>
              </a:ext>
            </a:extLst>
          </p:cNvPr>
          <p:cNvSpPr/>
          <p:nvPr/>
        </p:nvSpPr>
        <p:spPr>
          <a:xfrm>
            <a:off x="381000" y="6061679"/>
            <a:ext cx="4572000" cy="283494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13CFCBC8-7A3A-46E6-8D17-A413A8AF0EC5}"/>
                  </a:ext>
                </a:extLst>
              </p:cNvPr>
              <p:cNvSpPr txBox="1"/>
              <p:nvPr/>
            </p:nvSpPr>
            <p:spPr>
              <a:xfrm>
                <a:off x="6095999" y="5125871"/>
                <a:ext cx="3315203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108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13CFCBC8-7A3A-46E6-8D17-A413A8AF0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5125871"/>
                <a:ext cx="3315203" cy="115249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3A3AC535-D45B-4DF7-A9D9-1FB77A05E5DC}"/>
                  </a:ext>
                </a:extLst>
              </p:cNvPr>
              <p:cNvSpPr txBox="1"/>
              <p:nvPr/>
            </p:nvSpPr>
            <p:spPr>
              <a:xfrm>
                <a:off x="6301383" y="6651156"/>
                <a:ext cx="266226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=54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3A3AC535-D45B-4DF7-A9D9-1FB77A05E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383" y="6651156"/>
                <a:ext cx="2662267" cy="6155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D9C3E0CF-05BC-49A9-9E2A-51589D4E9DF3}"/>
                  </a:ext>
                </a:extLst>
              </p:cNvPr>
              <p:cNvSpPr txBox="1"/>
              <p:nvPr/>
            </p:nvSpPr>
            <p:spPr>
              <a:xfrm>
                <a:off x="346363" y="6115856"/>
                <a:ext cx="3630994" cy="1154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54=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𝑝𝑡𝑖𝑚𝑜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D9C3E0CF-05BC-49A9-9E2A-51589D4E9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3" y="6115856"/>
                <a:ext cx="3630994" cy="115416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45CEBFFC-C288-4F81-B827-AC63125110CA}"/>
                  </a:ext>
                </a:extLst>
              </p:cNvPr>
              <p:cNvSpPr txBox="1"/>
              <p:nvPr/>
            </p:nvSpPr>
            <p:spPr>
              <a:xfrm>
                <a:off x="464811" y="7675471"/>
                <a:ext cx="337400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72 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𝑝𝑡𝑖𝑚𝑜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45CEBFFC-C288-4F81-B827-AC6312511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11" y="7675471"/>
                <a:ext cx="3374001" cy="61555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ángulo 29">
            <a:extLst>
              <a:ext uri="{FF2B5EF4-FFF2-40B4-BE49-F238E27FC236}">
                <a16:creationId xmlns:a16="http://schemas.microsoft.com/office/drawing/2014/main" id="{230E985B-0004-49F3-99F1-B4C78D9CFA54}"/>
              </a:ext>
            </a:extLst>
          </p:cNvPr>
          <p:cNvSpPr/>
          <p:nvPr/>
        </p:nvSpPr>
        <p:spPr>
          <a:xfrm>
            <a:off x="5833919" y="4804553"/>
            <a:ext cx="4572000" cy="283494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CF0066A-097F-4DB3-9EAF-655078349CF5}"/>
              </a:ext>
            </a:extLst>
          </p:cNvPr>
          <p:cNvSpPr/>
          <p:nvPr/>
        </p:nvSpPr>
        <p:spPr>
          <a:xfrm>
            <a:off x="381000" y="6061678"/>
            <a:ext cx="4572000" cy="283494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FCAC6A7C-FD6E-4133-B649-52FAEC40B0AC}"/>
                  </a:ext>
                </a:extLst>
              </p:cNvPr>
              <p:cNvSpPr txBox="1"/>
              <p:nvPr/>
            </p:nvSpPr>
            <p:spPr>
              <a:xfrm>
                <a:off x="6144491" y="4984939"/>
                <a:ext cx="3031471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54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FCAC6A7C-FD6E-4133-B649-52FAEC40B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491" y="4984939"/>
                <a:ext cx="3031471" cy="115249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F38FF0C8-9C31-4499-B431-00F6302EB2B8}"/>
                  </a:ext>
                </a:extLst>
              </p:cNvPr>
              <p:cNvSpPr txBox="1"/>
              <p:nvPr/>
            </p:nvSpPr>
            <p:spPr>
              <a:xfrm>
                <a:off x="6221788" y="6319721"/>
                <a:ext cx="266226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𝑆𝑒𝑥𝑡𝑜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=27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F38FF0C8-9C31-4499-B431-00F6302EB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788" y="6319721"/>
                <a:ext cx="2662267" cy="61555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F38141AB-562B-4D93-A64E-76096076A067}"/>
                  </a:ext>
                </a:extLst>
              </p:cNvPr>
              <p:cNvSpPr txBox="1"/>
              <p:nvPr/>
            </p:nvSpPr>
            <p:spPr>
              <a:xfrm>
                <a:off x="381000" y="6144413"/>
                <a:ext cx="3630994" cy="1154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27=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𝑝𝑡𝑖𝑚𝑜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F38141AB-562B-4D93-A64E-76096076A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6144413"/>
                <a:ext cx="3630994" cy="115416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F7D86793-FA3E-4B18-AD0F-C38C5372EE3E}"/>
                  </a:ext>
                </a:extLst>
              </p:cNvPr>
              <p:cNvSpPr txBox="1"/>
              <p:nvPr/>
            </p:nvSpPr>
            <p:spPr>
              <a:xfrm>
                <a:off x="360218" y="7710185"/>
                <a:ext cx="326179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𝑝𝑡𝑖𝑚𝑜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F7D86793-FA3E-4B18-AD0F-C38C5372E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18" y="7710185"/>
                <a:ext cx="3261790" cy="61555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55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24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38445" y="1427070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47870" y="1427070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45500" y="1938206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35452" y="1764873"/>
            <a:ext cx="1581111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247870" y="3306870"/>
            <a:ext cx="11792260" cy="3191548"/>
            <a:chOff x="0" y="0"/>
            <a:chExt cx="3988987" cy="10796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88987" cy="1079610"/>
            </a:xfrm>
            <a:custGeom>
              <a:avLst/>
              <a:gdLst/>
              <a:ahLst/>
              <a:cxnLst/>
              <a:rect l="l" t="t" r="r" b="b"/>
              <a:pathLst>
                <a:path w="3988987" h="1079610">
                  <a:moveTo>
                    <a:pt x="0" y="0"/>
                  </a:moveTo>
                  <a:lnTo>
                    <a:pt x="3988987" y="0"/>
                  </a:lnTo>
                  <a:lnTo>
                    <a:pt x="3988987" y="1079610"/>
                  </a:lnTo>
                  <a:lnTo>
                    <a:pt x="0" y="107961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3435452" y="3499546"/>
            <a:ext cx="11497623" cy="2867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51"/>
              </a:lnSpc>
            </a:pP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un colegio el número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 sexto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es ¾ del número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séptimo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y el número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6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representa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mitad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5. Si hay 36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séptimo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; el número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estudiantes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3505" spc="189" dirty="0" err="1">
                <a:solidFill>
                  <a:srgbClr val="000000"/>
                </a:solidFill>
                <a:latin typeface="Quicksand"/>
              </a:rPr>
              <a:t>grado</a:t>
            </a:r>
            <a:r>
              <a:rPr lang="en-US" sz="3505" spc="189" dirty="0">
                <a:solidFill>
                  <a:srgbClr val="000000"/>
                </a:solidFill>
                <a:latin typeface="Quicksand"/>
              </a:rPr>
              <a:t> 5 es: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93671" y="8458375"/>
            <a:ext cx="2301204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50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66095" y="8458375"/>
            <a:ext cx="2289324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108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59337" y="8458375"/>
            <a:ext cx="2242549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54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99065" y="8458375"/>
            <a:ext cx="2289324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27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8829E7F3-FBEF-434E-8E20-48183319E82C}"/>
              </a:ext>
            </a:extLst>
          </p:cNvPr>
          <p:cNvSpPr/>
          <p:nvPr/>
        </p:nvSpPr>
        <p:spPr>
          <a:xfrm>
            <a:off x="9300874" y="6414243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819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38445" y="1427070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47870" y="1427070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45500" y="1938206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35452" y="1757917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247870" y="3251952"/>
            <a:ext cx="11792260" cy="3191548"/>
            <a:chOff x="0" y="0"/>
            <a:chExt cx="3988987" cy="10796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88987" cy="1079610"/>
            </a:xfrm>
            <a:custGeom>
              <a:avLst/>
              <a:gdLst/>
              <a:ahLst/>
              <a:cxnLst/>
              <a:rect l="l" t="t" r="r" b="b"/>
              <a:pathLst>
                <a:path w="3988987" h="1079610">
                  <a:moveTo>
                    <a:pt x="0" y="0"/>
                  </a:moveTo>
                  <a:lnTo>
                    <a:pt x="3988987" y="0"/>
                  </a:lnTo>
                  <a:lnTo>
                    <a:pt x="3988987" y="1079610"/>
                  </a:lnTo>
                  <a:lnTo>
                    <a:pt x="0" y="107961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3444977" y="3502338"/>
            <a:ext cx="11604678" cy="275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4"/>
              </a:lnSpc>
            </a:pP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concurso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hacen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40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preguntas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y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pregunta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correcta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se premia con 5 puntos buenos;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mientras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que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pregunta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mal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respondida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o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contestada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califica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con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tres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puntos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malos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. Si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contestando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todas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las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preguntas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resultado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es cero; las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preguntas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correctas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fueron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4355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15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20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25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C3CA0A0-C5D4-443D-96CA-69363A22737E}"/>
              </a:ext>
            </a:extLst>
          </p:cNvPr>
          <p:cNvSpPr txBox="1"/>
          <p:nvPr/>
        </p:nvSpPr>
        <p:spPr>
          <a:xfrm>
            <a:off x="190500" y="266700"/>
            <a:ext cx="17907000" cy="143577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3644"/>
              </a:lnSpc>
            </a:pP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concurso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hacen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40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preguntas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y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pregunta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correcta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se premia con 5 puntos buenos;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mientras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que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pregunta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mal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respondida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o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contestada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califica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con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tres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puntos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malos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. Si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contestando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todas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las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preguntas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resultado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es cero; las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preguntas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correctas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fueron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BF7D7D0-C81E-4189-BDDF-CCF67B48A1B9}"/>
                  </a:ext>
                </a:extLst>
              </p:cNvPr>
              <p:cNvSpPr txBox="1"/>
              <p:nvPr/>
            </p:nvSpPr>
            <p:spPr>
              <a:xfrm>
                <a:off x="190500" y="2307151"/>
                <a:ext cx="567963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40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𝑜𝑟𝑟𝑒𝑐𝑡𝑎𝑠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𝑀𝑎𝑙𝑎𝑠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=40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BF7D7D0-C81E-4189-BDDF-CCF67B48A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2307151"/>
                <a:ext cx="5679632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F570E4D-C5FB-4FBA-92EB-C1BCBC012DDE}"/>
                  </a:ext>
                </a:extLst>
              </p:cNvPr>
              <p:cNvSpPr txBox="1"/>
              <p:nvPr/>
            </p:nvSpPr>
            <p:spPr>
              <a:xfrm>
                <a:off x="8747564" y="2342090"/>
                <a:ext cx="873258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𝐶𝑜𝑟𝑟𝑒𝑐𝑡𝑎𝑠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−3×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𝑀𝑎𝑙𝑎𝑠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𝑃𝑢𝑛𝑡𝑎𝑗𝑒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F570E4D-C5FB-4FBA-92EB-C1BCBC012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564" y="2342090"/>
                <a:ext cx="8732583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145B31D-EC65-4624-AD67-D5C717C99AC8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145B31D-EC65-4624-AD67-D5C717C99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639C272-D404-45AC-BBC9-6DC598623278}"/>
                  </a:ext>
                </a:extLst>
              </p:cNvPr>
              <p:cNvSpPr txBox="1"/>
              <p:nvPr/>
            </p:nvSpPr>
            <p:spPr>
              <a:xfrm>
                <a:off x="9528258" y="3289478"/>
                <a:ext cx="717119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𝐶𝑜𝑟𝑟𝑒𝑐𝑡𝑎𝑠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−3×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𝑀𝑎𝑙𝑎𝑠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639C272-D404-45AC-BBC9-6DC598623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258" y="3289478"/>
                <a:ext cx="7171194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8AF3D89D-BF81-44EE-9049-D4FFE29E2678}"/>
                  </a:ext>
                </a:extLst>
              </p:cNvPr>
              <p:cNvSpPr txBox="1"/>
              <p:nvPr/>
            </p:nvSpPr>
            <p:spPr>
              <a:xfrm>
                <a:off x="190500" y="3388529"/>
                <a:ext cx="569726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𝑀𝑎𝑙𝑎𝑠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=40−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𝐶𝑜𝑟𝑟𝑒𝑐𝑡𝑎𝑠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8AF3D89D-BF81-44EE-9049-D4FFE29E2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3388529"/>
                <a:ext cx="5697264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9A1C01B7-18E6-4417-B322-D164681EF250}"/>
                  </a:ext>
                </a:extLst>
              </p:cNvPr>
              <p:cNvSpPr txBox="1"/>
              <p:nvPr/>
            </p:nvSpPr>
            <p:spPr>
              <a:xfrm>
                <a:off x="7239000" y="4236866"/>
                <a:ext cx="965142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𝐶𝑜𝑟𝑟𝑒𝑐𝑡𝑎𝑠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−3×(40−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𝐶𝑜𝑟𝑟𝑒𝑐𝑡𝑎𝑠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9A1C01B7-18E6-4417-B322-D164681EF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4236866"/>
                <a:ext cx="9651425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112E248E-2BF4-403E-9F77-14ADAC8B9631}"/>
                  </a:ext>
                </a:extLst>
              </p:cNvPr>
              <p:cNvSpPr txBox="1"/>
              <p:nvPr/>
            </p:nvSpPr>
            <p:spPr>
              <a:xfrm>
                <a:off x="7239000" y="5126805"/>
                <a:ext cx="8914299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5.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𝐶𝑜𝑟𝑟𝑒𝑐𝑡𝑎𝑠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−120+3.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𝐶𝑜𝑟𝑟𝑒𝑐𝑡𝑎𝑠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112E248E-2BF4-403E-9F77-14ADAC8B9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5126805"/>
                <a:ext cx="8914299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D288A617-C37B-431B-8197-0BE1EA41C10B}"/>
                  </a:ext>
                </a:extLst>
              </p:cNvPr>
              <p:cNvSpPr txBox="1"/>
              <p:nvPr/>
            </p:nvSpPr>
            <p:spPr>
              <a:xfrm>
                <a:off x="7391400" y="6069106"/>
                <a:ext cx="442852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𝐶𝑜𝑟𝑟𝑒𝑐𝑡𝑎𝑠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D288A617-C37B-431B-8197-0BE1EA41C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0" y="6069106"/>
                <a:ext cx="4428520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73F6D6FF-774A-4952-B953-DE6AB971CD24}"/>
                  </a:ext>
                </a:extLst>
              </p:cNvPr>
              <p:cNvSpPr txBox="1"/>
              <p:nvPr/>
            </p:nvSpPr>
            <p:spPr>
              <a:xfrm>
                <a:off x="7535291" y="6930276"/>
                <a:ext cx="3953518" cy="115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𝐶𝑜𝑟𝑟𝑒𝑐𝑡𝑎𝑠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73F6D6FF-774A-4952-B953-DE6AB971C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291" y="6930276"/>
                <a:ext cx="3953518" cy="11564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E8D6737D-DFCE-46DA-B63A-98C19EA42066}"/>
                  </a:ext>
                </a:extLst>
              </p:cNvPr>
              <p:cNvSpPr txBox="1"/>
              <p:nvPr/>
            </p:nvSpPr>
            <p:spPr>
              <a:xfrm>
                <a:off x="12302589" y="7287106"/>
                <a:ext cx="385071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𝐶𝑜𝑟𝑟𝑒𝑐𝑡𝑎𝑠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E8D6737D-DFCE-46DA-B63A-98C19EA42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2589" y="7287106"/>
                <a:ext cx="3850710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65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38445" y="1427070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47870" y="1427070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45500" y="1938206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35452" y="1757917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247870" y="3251952"/>
            <a:ext cx="11792260" cy="3191548"/>
            <a:chOff x="0" y="0"/>
            <a:chExt cx="3988987" cy="10796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88987" cy="1079610"/>
            </a:xfrm>
            <a:custGeom>
              <a:avLst/>
              <a:gdLst/>
              <a:ahLst/>
              <a:cxnLst/>
              <a:rect l="l" t="t" r="r" b="b"/>
              <a:pathLst>
                <a:path w="3988987" h="1079610">
                  <a:moveTo>
                    <a:pt x="0" y="0"/>
                  </a:moveTo>
                  <a:lnTo>
                    <a:pt x="3988987" y="0"/>
                  </a:lnTo>
                  <a:lnTo>
                    <a:pt x="3988987" y="1079610"/>
                  </a:lnTo>
                  <a:lnTo>
                    <a:pt x="0" y="107961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3444977" y="3502338"/>
            <a:ext cx="11604678" cy="275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4"/>
              </a:lnSpc>
            </a:pP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concurso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hacen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40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preguntas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y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pregunta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correcta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se premia con 5 puntos buenos;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mientras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que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pregunta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mal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respondida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o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contestada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califica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con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tres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puntos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malos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. Si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contestando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todas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las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preguntas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resultado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es cero; las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preguntas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correctas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fueron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4355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15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20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25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0A30AA37-B957-424A-8D22-6FFC52BFE147}"/>
              </a:ext>
            </a:extLst>
          </p:cNvPr>
          <p:cNvSpPr/>
          <p:nvPr/>
        </p:nvSpPr>
        <p:spPr>
          <a:xfrm>
            <a:off x="6118247" y="6619755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33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C3CA0A0-C5D4-443D-96CA-69363A22737E}"/>
              </a:ext>
            </a:extLst>
          </p:cNvPr>
          <p:cNvSpPr txBox="1"/>
          <p:nvPr/>
        </p:nvSpPr>
        <p:spPr>
          <a:xfrm>
            <a:off x="190500" y="266700"/>
            <a:ext cx="17907000" cy="143577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3644"/>
              </a:lnSpc>
            </a:pP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concurso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hacen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40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preguntas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y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pregunta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correcta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se premia con 5 puntos buenos;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mientras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que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pregunta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mal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respondida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o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contestada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califica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con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tres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puntos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malos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. Si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contestando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todas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las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preguntas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resultado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es cero; las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preguntas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correctas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183" dirty="0" err="1">
                <a:solidFill>
                  <a:srgbClr val="000000"/>
                </a:solidFill>
                <a:latin typeface="Quicksand"/>
              </a:rPr>
              <a:t>fueron</a:t>
            </a:r>
            <a:r>
              <a:rPr lang="en-US" sz="2400" spc="183" dirty="0">
                <a:solidFill>
                  <a:srgbClr val="000000"/>
                </a:solidFill>
                <a:latin typeface="Quicksand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BF7D7D0-C81E-4189-BDDF-CCF67B48A1B9}"/>
                  </a:ext>
                </a:extLst>
              </p:cNvPr>
              <p:cNvSpPr txBox="1"/>
              <p:nvPr/>
            </p:nvSpPr>
            <p:spPr>
              <a:xfrm>
                <a:off x="457200" y="3965446"/>
                <a:ext cx="567963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40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𝑜𝑟𝑟𝑒𝑐𝑡𝑎𝑠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𝑀𝑎𝑙𝑎𝑠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=40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BF7D7D0-C81E-4189-BDDF-CCF67B48A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965446"/>
                <a:ext cx="5679632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145B31D-EC65-4624-AD67-D5C717C99AC8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𝐶𝑂𝑀𝑃𝑅𝑂𝐵𝐴𝑁𝐷𝑂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𝐿𝐴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𝑅𝐸𝑆𝑃𝑈𝐸𝑆𝑇𝐴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145B31D-EC65-4624-AD67-D5C717C99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>
            <a:extLst>
              <a:ext uri="{FF2B5EF4-FFF2-40B4-BE49-F238E27FC236}">
                <a16:creationId xmlns:a16="http://schemas.microsoft.com/office/drawing/2014/main" id="{C9A9A356-10BC-4F6F-ACA5-9AF88296F8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15" t="64583" r="23646" b="20833"/>
          <a:stretch/>
        </p:blipFill>
        <p:spPr>
          <a:xfrm>
            <a:off x="4572000" y="1897969"/>
            <a:ext cx="8153400" cy="17036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4A6D662-2832-4AE3-93DF-F9D64AA57B02}"/>
                  </a:ext>
                </a:extLst>
              </p:cNvPr>
              <p:cNvSpPr txBox="1"/>
              <p:nvPr/>
            </p:nvSpPr>
            <p:spPr>
              <a:xfrm>
                <a:off x="8001000" y="3965445"/>
                <a:ext cx="715356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40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𝑜𝑟𝑟𝑒𝑐𝑡𝑎𝑠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𝑀𝑎𝑙𝑎𝑠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4A6D662-2832-4AE3-93DF-F9D64AA57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965445"/>
                <a:ext cx="7153561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778CC21-91CC-4A94-A163-DBC36A61AF2B}"/>
                  </a:ext>
                </a:extLst>
              </p:cNvPr>
              <p:cNvSpPr txBox="1"/>
              <p:nvPr/>
            </p:nvSpPr>
            <p:spPr>
              <a:xfrm>
                <a:off x="457200" y="4944781"/>
                <a:ext cx="284052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5+35=40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778CC21-91CC-4A94-A163-DBC36A61A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944781"/>
                <a:ext cx="2840521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E293D2F4-B142-4240-A6FE-E289AF992B5D}"/>
                  </a:ext>
                </a:extLst>
              </p:cNvPr>
              <p:cNvSpPr txBox="1"/>
              <p:nvPr/>
            </p:nvSpPr>
            <p:spPr>
              <a:xfrm>
                <a:off x="8014855" y="4948245"/>
                <a:ext cx="431445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×5−35×3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E293D2F4-B142-4240-A6FE-E289AF992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855" y="4948245"/>
                <a:ext cx="4314451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684086-DC81-4AAC-B47D-F210F73578FF}"/>
                  </a:ext>
                </a:extLst>
              </p:cNvPr>
              <p:cNvSpPr txBox="1"/>
              <p:nvPr/>
            </p:nvSpPr>
            <p:spPr>
              <a:xfrm>
                <a:off x="13259010" y="4944781"/>
                <a:ext cx="379110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−105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=−75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684086-DC81-4AAC-B47D-F210F7357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9010" y="4944781"/>
                <a:ext cx="3791102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54D9BA20-6336-48B4-98BA-3B1C97CDAF71}"/>
                  </a:ext>
                </a:extLst>
              </p:cNvPr>
              <p:cNvSpPr txBox="1"/>
              <p:nvPr/>
            </p:nvSpPr>
            <p:spPr>
              <a:xfrm>
                <a:off x="366705" y="6228414"/>
                <a:ext cx="3172691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25+15=40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54D9BA20-6336-48B4-98BA-3B1C97CDA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05" y="6228414"/>
                <a:ext cx="3172691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E42A976A-3EDA-492A-9ACA-6D461386BCC3}"/>
                  </a:ext>
                </a:extLst>
              </p:cNvPr>
              <p:cNvSpPr txBox="1"/>
              <p:nvPr/>
            </p:nvSpPr>
            <p:spPr>
              <a:xfrm>
                <a:off x="7391400" y="5682742"/>
                <a:ext cx="459818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×5−15×3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E42A976A-3EDA-492A-9ACA-6D461386B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0" y="5682742"/>
                <a:ext cx="4598182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8A7A693F-DFD1-4AE0-A093-BFE084DB8519}"/>
                  </a:ext>
                </a:extLst>
              </p:cNvPr>
              <p:cNvSpPr txBox="1"/>
              <p:nvPr/>
            </p:nvSpPr>
            <p:spPr>
              <a:xfrm>
                <a:off x="13030200" y="5608920"/>
                <a:ext cx="340798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125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−45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=80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8A7A693F-DFD1-4AE0-A093-BFE084DB8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0200" y="5608920"/>
                <a:ext cx="3407984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B0060884-DDC3-42CB-B0CC-F430CA2878BA}"/>
                  </a:ext>
                </a:extLst>
              </p:cNvPr>
              <p:cNvSpPr txBox="1"/>
              <p:nvPr/>
            </p:nvSpPr>
            <p:spPr>
              <a:xfrm>
                <a:off x="366705" y="7025859"/>
                <a:ext cx="3172691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20+20=40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B0060884-DDC3-42CB-B0CC-F430CA287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05" y="7025859"/>
                <a:ext cx="3172691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E170AF3-CF0C-472A-ADF1-A01BD0C2AC54}"/>
                  </a:ext>
                </a:extLst>
              </p:cNvPr>
              <p:cNvSpPr txBox="1"/>
              <p:nvPr/>
            </p:nvSpPr>
            <p:spPr>
              <a:xfrm>
                <a:off x="7391400" y="6480186"/>
                <a:ext cx="459818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×5−20×3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E170AF3-CF0C-472A-ADF1-A01BD0C2A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0" y="6480186"/>
                <a:ext cx="4598182" cy="6155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4C4A30D4-BE44-4210-808B-FC88C3511EE4}"/>
                  </a:ext>
                </a:extLst>
              </p:cNvPr>
              <p:cNvSpPr txBox="1"/>
              <p:nvPr/>
            </p:nvSpPr>
            <p:spPr>
              <a:xfrm>
                <a:off x="12582785" y="6410306"/>
                <a:ext cx="340798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100−60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=40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4C4A30D4-BE44-4210-808B-FC88C3511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2785" y="6410306"/>
                <a:ext cx="3407984" cy="61555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56801D1B-B86B-46BC-A6FE-9702F72E2CA6}"/>
                  </a:ext>
                </a:extLst>
              </p:cNvPr>
              <p:cNvSpPr txBox="1"/>
              <p:nvPr/>
            </p:nvSpPr>
            <p:spPr>
              <a:xfrm>
                <a:off x="345584" y="7945710"/>
                <a:ext cx="3172691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15+25=40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56801D1B-B86B-46BC-A6FE-9702F72E2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584" y="7945710"/>
                <a:ext cx="3172691" cy="61555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37FB65-E1B9-4571-AB1D-F0FF99643252}"/>
                  </a:ext>
                </a:extLst>
              </p:cNvPr>
              <p:cNvSpPr txBox="1"/>
              <p:nvPr/>
            </p:nvSpPr>
            <p:spPr>
              <a:xfrm>
                <a:off x="7391400" y="7400038"/>
                <a:ext cx="459818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15×5−25×3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37FB65-E1B9-4571-AB1D-F0FF99643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0" y="7400038"/>
                <a:ext cx="4598182" cy="61555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B26A7FDD-CBA1-4E2B-A263-21B5C5E4A32A}"/>
                  </a:ext>
                </a:extLst>
              </p:cNvPr>
              <p:cNvSpPr txBox="1"/>
              <p:nvPr/>
            </p:nvSpPr>
            <p:spPr>
              <a:xfrm>
                <a:off x="13001065" y="7389642"/>
                <a:ext cx="284052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75−75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B26A7FDD-CBA1-4E2B-A263-21B5C5E4A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1065" y="7389642"/>
                <a:ext cx="2840521" cy="61555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írculo: vacío 3">
            <a:extLst>
              <a:ext uri="{FF2B5EF4-FFF2-40B4-BE49-F238E27FC236}">
                <a16:creationId xmlns:a16="http://schemas.microsoft.com/office/drawing/2014/main" id="{BC4416AB-8A87-426F-B8FA-2A20C41183DF}"/>
              </a:ext>
            </a:extLst>
          </p:cNvPr>
          <p:cNvSpPr/>
          <p:nvPr/>
        </p:nvSpPr>
        <p:spPr>
          <a:xfrm>
            <a:off x="4572000" y="2309355"/>
            <a:ext cx="1564832" cy="165609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7" name="Círculo: vacío 36">
            <a:extLst>
              <a:ext uri="{FF2B5EF4-FFF2-40B4-BE49-F238E27FC236}">
                <a16:creationId xmlns:a16="http://schemas.microsoft.com/office/drawing/2014/main" id="{44D082C3-9677-4497-937F-A961A88B720C}"/>
              </a:ext>
            </a:extLst>
          </p:cNvPr>
          <p:cNvSpPr/>
          <p:nvPr/>
        </p:nvSpPr>
        <p:spPr>
          <a:xfrm>
            <a:off x="11323359" y="2421367"/>
            <a:ext cx="1564832" cy="165609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8" name="Círculo: vacío 37">
            <a:extLst>
              <a:ext uri="{FF2B5EF4-FFF2-40B4-BE49-F238E27FC236}">
                <a16:creationId xmlns:a16="http://schemas.microsoft.com/office/drawing/2014/main" id="{49A82EF0-FF02-4740-8373-6AE94A66C0DF}"/>
              </a:ext>
            </a:extLst>
          </p:cNvPr>
          <p:cNvSpPr/>
          <p:nvPr/>
        </p:nvSpPr>
        <p:spPr>
          <a:xfrm>
            <a:off x="9063916" y="2373165"/>
            <a:ext cx="1564832" cy="165609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9" name="Círculo: vacío 38">
            <a:extLst>
              <a:ext uri="{FF2B5EF4-FFF2-40B4-BE49-F238E27FC236}">
                <a16:creationId xmlns:a16="http://schemas.microsoft.com/office/drawing/2014/main" id="{445F16B6-FCE0-4870-BDFE-C2C1AF79C805}"/>
              </a:ext>
            </a:extLst>
          </p:cNvPr>
          <p:cNvSpPr/>
          <p:nvPr/>
        </p:nvSpPr>
        <p:spPr>
          <a:xfrm>
            <a:off x="6837639" y="2359443"/>
            <a:ext cx="1564832" cy="165609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16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37" grpId="0" animBg="1"/>
      <p:bldP spid="38" grpId="0" animBg="1"/>
      <p:bldP spid="3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38445" y="1427070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47870" y="1427070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45500" y="1938206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35452" y="1757917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247870" y="3251952"/>
            <a:ext cx="11792260" cy="3191548"/>
            <a:chOff x="0" y="0"/>
            <a:chExt cx="3988987" cy="10796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88987" cy="1079610"/>
            </a:xfrm>
            <a:custGeom>
              <a:avLst/>
              <a:gdLst/>
              <a:ahLst/>
              <a:cxnLst/>
              <a:rect l="l" t="t" r="r" b="b"/>
              <a:pathLst>
                <a:path w="3988987" h="1079610">
                  <a:moveTo>
                    <a:pt x="0" y="0"/>
                  </a:moveTo>
                  <a:lnTo>
                    <a:pt x="3988987" y="0"/>
                  </a:lnTo>
                  <a:lnTo>
                    <a:pt x="3988987" y="1079610"/>
                  </a:lnTo>
                  <a:lnTo>
                    <a:pt x="0" y="107961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3444977" y="3502338"/>
            <a:ext cx="11604678" cy="275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4"/>
              </a:lnSpc>
            </a:pP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concurso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hacen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40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preguntas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y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pregunta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correcta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se premia con 5 puntos buenos;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mientras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que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pregunta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mal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respondida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o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contestada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califica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con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tres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puntos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malos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. Si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contestando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todas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las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preguntas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resultado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es cero; las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preguntas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correctas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405" spc="183" dirty="0" err="1">
                <a:solidFill>
                  <a:srgbClr val="000000"/>
                </a:solidFill>
                <a:latin typeface="Quicksand"/>
              </a:rPr>
              <a:t>fueron</a:t>
            </a:r>
            <a:r>
              <a:rPr lang="en-US" sz="3405" spc="183" dirty="0">
                <a:solidFill>
                  <a:srgbClr val="000000"/>
                </a:solidFill>
                <a:latin typeface="Quicksand"/>
              </a:rPr>
              <a:t>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4355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15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20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25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0A30AA37-B957-424A-8D22-6FFC52BFE147}"/>
              </a:ext>
            </a:extLst>
          </p:cNvPr>
          <p:cNvSpPr/>
          <p:nvPr/>
        </p:nvSpPr>
        <p:spPr>
          <a:xfrm>
            <a:off x="6118247" y="6619755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5138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38445" y="1427070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47870" y="1427070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45500" y="1938206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35452" y="1757917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247870" y="3251952"/>
            <a:ext cx="11792260" cy="3191548"/>
            <a:chOff x="0" y="0"/>
            <a:chExt cx="3988987" cy="10796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88987" cy="1079610"/>
            </a:xfrm>
            <a:custGeom>
              <a:avLst/>
              <a:gdLst/>
              <a:ahLst/>
              <a:cxnLst/>
              <a:rect l="l" t="t" r="r" b="b"/>
              <a:pathLst>
                <a:path w="3988987" h="1079610">
                  <a:moveTo>
                    <a:pt x="0" y="0"/>
                  </a:moveTo>
                  <a:lnTo>
                    <a:pt x="3988987" y="0"/>
                  </a:lnTo>
                  <a:lnTo>
                    <a:pt x="3988987" y="1079610"/>
                  </a:lnTo>
                  <a:lnTo>
                    <a:pt x="0" y="107961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3395189" y="3223159"/>
            <a:ext cx="11537886" cy="332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93"/>
              </a:lnSpc>
            </a:pP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supermercado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le dan a María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$ 10.000, un valor de $ 700,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cambió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bonos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.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Cuánto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debe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recibir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si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cambió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1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billete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de $ 10.000, 3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billetes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de $20.000, 1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billete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de $50.000 y 4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billetes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de $ 5.000: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$8.600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4355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$9.800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$12.400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$6.800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C3CA0A0-C5D4-443D-96CA-69363A22737E}"/>
              </a:ext>
            </a:extLst>
          </p:cNvPr>
          <p:cNvSpPr txBox="1"/>
          <p:nvPr/>
        </p:nvSpPr>
        <p:spPr>
          <a:xfrm>
            <a:off x="190500" y="266700"/>
            <a:ext cx="17907000" cy="171790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4393"/>
              </a:lnSpc>
            </a:pPr>
            <a:r>
              <a:rPr lang="en-US" sz="2400" spc="22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21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2400" spc="221" dirty="0" err="1">
                <a:solidFill>
                  <a:srgbClr val="000000"/>
                </a:solidFill>
                <a:latin typeface="Quicksand"/>
              </a:rPr>
              <a:t>supermercado</a:t>
            </a:r>
            <a:r>
              <a:rPr lang="en-US" sz="2400" spc="221" dirty="0">
                <a:solidFill>
                  <a:srgbClr val="000000"/>
                </a:solidFill>
                <a:latin typeface="Quicksand"/>
              </a:rPr>
              <a:t> le dan a María </a:t>
            </a:r>
            <a:r>
              <a:rPr lang="en-US" sz="2400" spc="221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2400" spc="22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21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2400" spc="221" dirty="0">
                <a:solidFill>
                  <a:srgbClr val="000000"/>
                </a:solidFill>
                <a:latin typeface="Quicksand"/>
              </a:rPr>
              <a:t> $ 10.000, un valor de $ 700, </a:t>
            </a:r>
            <a:r>
              <a:rPr lang="en-US" sz="2400" spc="221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2400" spc="221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2400" spc="221" dirty="0" err="1">
                <a:solidFill>
                  <a:srgbClr val="000000"/>
                </a:solidFill>
                <a:latin typeface="Quicksand"/>
              </a:rPr>
              <a:t>cambió</a:t>
            </a:r>
            <a:r>
              <a:rPr lang="en-US" sz="2400" spc="221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21" dirty="0" err="1">
                <a:solidFill>
                  <a:srgbClr val="000000"/>
                </a:solidFill>
                <a:latin typeface="Quicksand"/>
              </a:rPr>
              <a:t>bonos</a:t>
            </a:r>
            <a:r>
              <a:rPr lang="en-US" sz="2400" spc="221" dirty="0">
                <a:solidFill>
                  <a:srgbClr val="000000"/>
                </a:solidFill>
                <a:latin typeface="Quicksand"/>
              </a:rPr>
              <a:t>. </a:t>
            </a:r>
            <a:r>
              <a:rPr lang="en-US" sz="2400" spc="221" dirty="0" err="1">
                <a:solidFill>
                  <a:srgbClr val="000000"/>
                </a:solidFill>
                <a:latin typeface="Quicksand"/>
              </a:rPr>
              <a:t>Cuánto</a:t>
            </a:r>
            <a:r>
              <a:rPr lang="en-US" sz="2400" spc="22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21" dirty="0" err="1">
                <a:solidFill>
                  <a:srgbClr val="000000"/>
                </a:solidFill>
                <a:latin typeface="Quicksand"/>
              </a:rPr>
              <a:t>debe</a:t>
            </a:r>
            <a:r>
              <a:rPr lang="en-US" sz="2400" spc="22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21" dirty="0" err="1">
                <a:solidFill>
                  <a:srgbClr val="000000"/>
                </a:solidFill>
                <a:latin typeface="Quicksand"/>
              </a:rPr>
              <a:t>recibir</a:t>
            </a:r>
            <a:r>
              <a:rPr lang="en-US" sz="2400" spc="221" dirty="0">
                <a:solidFill>
                  <a:srgbClr val="000000"/>
                </a:solidFill>
                <a:latin typeface="Quicksand"/>
              </a:rPr>
              <a:t> si </a:t>
            </a:r>
            <a:r>
              <a:rPr lang="en-US" sz="2400" spc="221" dirty="0" err="1">
                <a:solidFill>
                  <a:srgbClr val="000000"/>
                </a:solidFill>
                <a:latin typeface="Quicksand"/>
              </a:rPr>
              <a:t>cambió</a:t>
            </a:r>
            <a:r>
              <a:rPr lang="en-US" sz="2400" spc="221" dirty="0">
                <a:solidFill>
                  <a:srgbClr val="000000"/>
                </a:solidFill>
                <a:latin typeface="Quicksand"/>
              </a:rPr>
              <a:t> 1 </a:t>
            </a:r>
            <a:r>
              <a:rPr lang="en-US" sz="2400" spc="221" dirty="0" err="1">
                <a:solidFill>
                  <a:srgbClr val="000000"/>
                </a:solidFill>
                <a:latin typeface="Quicksand"/>
              </a:rPr>
              <a:t>billete</a:t>
            </a:r>
            <a:r>
              <a:rPr lang="en-US" sz="2400" spc="221" dirty="0">
                <a:solidFill>
                  <a:srgbClr val="000000"/>
                </a:solidFill>
                <a:latin typeface="Quicksand"/>
              </a:rPr>
              <a:t> de $ 10.000, 3 </a:t>
            </a:r>
            <a:r>
              <a:rPr lang="en-US" sz="2400" spc="221" dirty="0" err="1">
                <a:solidFill>
                  <a:srgbClr val="000000"/>
                </a:solidFill>
                <a:latin typeface="Quicksand"/>
              </a:rPr>
              <a:t>billetes</a:t>
            </a:r>
            <a:r>
              <a:rPr lang="en-US" sz="2400" spc="221" dirty="0">
                <a:solidFill>
                  <a:srgbClr val="000000"/>
                </a:solidFill>
                <a:latin typeface="Quicksand"/>
              </a:rPr>
              <a:t> de $20.000, 1 </a:t>
            </a:r>
            <a:r>
              <a:rPr lang="en-US" sz="2400" spc="221" dirty="0" err="1">
                <a:solidFill>
                  <a:srgbClr val="000000"/>
                </a:solidFill>
                <a:latin typeface="Quicksand"/>
              </a:rPr>
              <a:t>billete</a:t>
            </a:r>
            <a:r>
              <a:rPr lang="en-US" sz="2400" spc="221" dirty="0">
                <a:solidFill>
                  <a:srgbClr val="000000"/>
                </a:solidFill>
                <a:latin typeface="Quicksand"/>
              </a:rPr>
              <a:t> de $50.000 y 4 </a:t>
            </a:r>
            <a:r>
              <a:rPr lang="en-US" sz="2400" spc="221" dirty="0" err="1">
                <a:solidFill>
                  <a:srgbClr val="000000"/>
                </a:solidFill>
                <a:latin typeface="Quicksand"/>
              </a:rPr>
              <a:t>billetes</a:t>
            </a:r>
            <a:r>
              <a:rPr lang="en-US" sz="2400" spc="221" dirty="0">
                <a:solidFill>
                  <a:srgbClr val="000000"/>
                </a:solidFill>
                <a:latin typeface="Quicksand"/>
              </a:rPr>
              <a:t> de $ 5.000: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BF7D7D0-C81E-4189-BDDF-CCF67B48A1B9}"/>
                  </a:ext>
                </a:extLst>
              </p:cNvPr>
              <p:cNvSpPr txBox="1"/>
              <p:nvPr/>
            </p:nvSpPr>
            <p:spPr>
              <a:xfrm>
                <a:off x="190500" y="2307151"/>
                <a:ext cx="589039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𝑃𝑜𝑟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𝑐𝑎𝑑𝑎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$10.000=$700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BF7D7D0-C81E-4189-BDDF-CCF67B48A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2307151"/>
                <a:ext cx="5890395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145B31D-EC65-4624-AD67-D5C717C99AC8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145B31D-EC65-4624-AD67-D5C717C99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E584337-3C05-4E25-B8F7-24C18C0ECBAF}"/>
                  </a:ext>
                </a:extLst>
              </p:cNvPr>
              <p:cNvSpPr txBox="1"/>
              <p:nvPr/>
            </p:nvSpPr>
            <p:spPr>
              <a:xfrm>
                <a:off x="8001000" y="2307151"/>
                <a:ext cx="727256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𝑏𝑖𝑙𝑙𝑒𝑡𝑒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$10.000  =$10.000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E584337-3C05-4E25-B8F7-24C18C0EC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2307151"/>
                <a:ext cx="7272567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D535784-FDEF-49AC-B52B-D3FA588004A4}"/>
                  </a:ext>
                </a:extLst>
              </p:cNvPr>
              <p:cNvSpPr txBox="1"/>
              <p:nvPr/>
            </p:nvSpPr>
            <p:spPr>
              <a:xfrm>
                <a:off x="8001000" y="3133808"/>
                <a:ext cx="728462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𝑏𝑖𝑙𝑙𝑒𝑡𝑒𝑠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$20.000=$60.000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D535784-FDEF-49AC-B52B-D3FA58800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133808"/>
                <a:ext cx="7284623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6757368-BD55-4313-BA18-17EDC07F518C}"/>
                  </a:ext>
                </a:extLst>
              </p:cNvPr>
              <p:cNvSpPr txBox="1"/>
              <p:nvPr/>
            </p:nvSpPr>
            <p:spPr>
              <a:xfrm>
                <a:off x="8001000" y="3918347"/>
                <a:ext cx="727256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𝑏𝑖𝑙𝑙𝑒𝑡𝑒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$50.000=  $50.000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6757368-BD55-4313-BA18-17EDC07F5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918347"/>
                <a:ext cx="7272567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6952608-D930-451D-B165-BDE957329179}"/>
                  </a:ext>
                </a:extLst>
              </p:cNvPr>
              <p:cNvSpPr txBox="1"/>
              <p:nvPr/>
            </p:nvSpPr>
            <p:spPr>
              <a:xfrm>
                <a:off x="8001000" y="4748327"/>
                <a:ext cx="733752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𝑏𝑖𝑙𝑙𝑒𝑡𝑒𝑠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  $5.000= $20.000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6952608-D930-451D-B165-BDE957329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4748327"/>
                <a:ext cx="7337521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80E356C-1BDC-423F-9043-9936CF29EF3E}"/>
                  </a:ext>
                </a:extLst>
              </p:cNvPr>
              <p:cNvSpPr txBox="1"/>
              <p:nvPr/>
            </p:nvSpPr>
            <p:spPr>
              <a:xfrm>
                <a:off x="11085992" y="5525153"/>
                <a:ext cx="434561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= $140.000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80E356C-1BDC-423F-9043-9936CF29E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5992" y="5525153"/>
                <a:ext cx="4345613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07C185BF-F746-4E2A-9941-FA5513036C62}"/>
                  </a:ext>
                </a:extLst>
              </p:cNvPr>
              <p:cNvSpPr txBox="1"/>
              <p:nvPr/>
            </p:nvSpPr>
            <p:spPr>
              <a:xfrm>
                <a:off x="381000" y="5525152"/>
                <a:ext cx="671376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$10.000−−−−−−−−−$700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07C185BF-F746-4E2A-9941-FA5513036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525152"/>
                <a:ext cx="6713761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57D15F1D-1100-40CE-9303-554421657CE7}"/>
                  </a:ext>
                </a:extLst>
              </p:cNvPr>
              <p:cNvSpPr txBox="1"/>
              <p:nvPr/>
            </p:nvSpPr>
            <p:spPr>
              <a:xfrm>
                <a:off x="197427" y="6246258"/>
                <a:ext cx="666996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$140.000−−−−−−−−−−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57D15F1D-1100-40CE-9303-554421657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27" y="6246258"/>
                <a:ext cx="6669966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B2F8E03D-BB8D-417B-95D1-653093214860}"/>
                  </a:ext>
                </a:extLst>
              </p:cNvPr>
              <p:cNvSpPr txBox="1"/>
              <p:nvPr/>
            </p:nvSpPr>
            <p:spPr>
              <a:xfrm>
                <a:off x="225136" y="7494706"/>
                <a:ext cx="4984826" cy="12286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$140.000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×$700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$10.000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B2F8E03D-BB8D-417B-95D1-653093214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36" y="7494706"/>
                <a:ext cx="4984826" cy="12286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E9ECE067-4D6C-4040-9155-1C2A42D07E95}"/>
                  </a:ext>
                </a:extLst>
              </p:cNvPr>
              <p:cNvSpPr txBox="1"/>
              <p:nvPr/>
            </p:nvSpPr>
            <p:spPr>
              <a:xfrm>
                <a:off x="6143240" y="7801232"/>
                <a:ext cx="271138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=$ 9.800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E9ECE067-4D6C-4040-9155-1C2A42D07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240" y="7801232"/>
                <a:ext cx="2711383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448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38445" y="1427070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47870" y="1427070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45500" y="1938206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35452" y="1757917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247870" y="3251952"/>
            <a:ext cx="11792260" cy="3191548"/>
            <a:chOff x="0" y="0"/>
            <a:chExt cx="3988987" cy="10796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88987" cy="1079610"/>
            </a:xfrm>
            <a:custGeom>
              <a:avLst/>
              <a:gdLst/>
              <a:ahLst/>
              <a:cxnLst/>
              <a:rect l="l" t="t" r="r" b="b"/>
              <a:pathLst>
                <a:path w="3988987" h="1079610">
                  <a:moveTo>
                    <a:pt x="0" y="0"/>
                  </a:moveTo>
                  <a:lnTo>
                    <a:pt x="3988987" y="0"/>
                  </a:lnTo>
                  <a:lnTo>
                    <a:pt x="3988987" y="1079610"/>
                  </a:lnTo>
                  <a:lnTo>
                    <a:pt x="0" y="107961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3395189" y="3223159"/>
            <a:ext cx="11537886" cy="332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93"/>
              </a:lnSpc>
            </a:pP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supermercado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le dan a María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$ 10.000, un valor de $ 700,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cambió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bonos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.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Cuánto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debe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recibir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si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cambió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1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billete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de $ 10.000, 3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billetes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de $20.000, 1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billete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de $50.000 y 4 </a:t>
            </a:r>
            <a:r>
              <a:rPr lang="en-US" sz="4105" spc="221" dirty="0" err="1">
                <a:solidFill>
                  <a:srgbClr val="000000"/>
                </a:solidFill>
                <a:latin typeface="Quicksand"/>
              </a:rPr>
              <a:t>billetes</a:t>
            </a:r>
            <a:r>
              <a:rPr lang="en-US" sz="4105" spc="221" dirty="0">
                <a:solidFill>
                  <a:srgbClr val="000000"/>
                </a:solidFill>
                <a:latin typeface="Quicksand"/>
              </a:rPr>
              <a:t> de $ 5.000: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$8.600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4355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$9.800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$12.400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$6.800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40807760-13A1-4D59-B68F-D5A5CF28289D}"/>
              </a:ext>
            </a:extLst>
          </p:cNvPr>
          <p:cNvSpPr/>
          <p:nvPr/>
        </p:nvSpPr>
        <p:spPr>
          <a:xfrm>
            <a:off x="6181443" y="6735642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45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38445" y="1427070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47870" y="1427070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45500" y="1938206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35452" y="1757917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247870" y="3251952"/>
            <a:ext cx="11792260" cy="3191548"/>
            <a:chOff x="0" y="0"/>
            <a:chExt cx="3988987" cy="10796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88987" cy="1079610"/>
            </a:xfrm>
            <a:custGeom>
              <a:avLst/>
              <a:gdLst/>
              <a:ahLst/>
              <a:cxnLst/>
              <a:rect l="l" t="t" r="r" b="b"/>
              <a:pathLst>
                <a:path w="3988987" h="1079610">
                  <a:moveTo>
                    <a:pt x="0" y="0"/>
                  </a:moveTo>
                  <a:lnTo>
                    <a:pt x="3988987" y="0"/>
                  </a:lnTo>
                  <a:lnTo>
                    <a:pt x="3988987" y="1079610"/>
                  </a:lnTo>
                  <a:lnTo>
                    <a:pt x="0" y="107961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3301398" y="3282542"/>
            <a:ext cx="11685205" cy="3091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72"/>
              </a:lnSpc>
            </a:pP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Una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araña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teje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su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red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marco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ventana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.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día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duplica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superficie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hecha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hasta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entonces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, y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tarda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20 días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cubrir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totalmente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hueco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de la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ventana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. El número de días que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tardarán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cubrir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hueco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dos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arañas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que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misma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eficiencia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10 días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4355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12 días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15 días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19 días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C3CA0A0-C5D4-443D-96CA-69363A22737E}"/>
              </a:ext>
            </a:extLst>
          </p:cNvPr>
          <p:cNvSpPr txBox="1"/>
          <p:nvPr/>
        </p:nvSpPr>
        <p:spPr>
          <a:xfrm>
            <a:off x="190500" y="266700"/>
            <a:ext cx="17907000" cy="161210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4072"/>
              </a:lnSpc>
            </a:pP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Una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araña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teje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su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red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marco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ventana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.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día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duplica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superficie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hecha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hasta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entonces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, y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tarda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20 días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cubrir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totalmente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hueco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de la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ventana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. El número de días que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tardarán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cubrir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hueco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dos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arañas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que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misma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05" dirty="0" err="1">
                <a:solidFill>
                  <a:srgbClr val="000000"/>
                </a:solidFill>
                <a:latin typeface="Quicksand"/>
              </a:rPr>
              <a:t>eficiencia</a:t>
            </a:r>
            <a:r>
              <a:rPr lang="en-US" sz="2400" spc="205" dirty="0">
                <a:solidFill>
                  <a:srgbClr val="000000"/>
                </a:solidFill>
                <a:latin typeface="Quicksand"/>
              </a:rPr>
              <a:t> 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145B31D-EC65-4624-AD67-D5C717C99AC8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354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𝐴𝑃𝐿𝐼𝐶𝐴𝑁𝐷𝑂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𝐴𝐿𝐺𝑂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𝐷𝐸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𝑆𝐸𝑁𝑇𝐼𝐷𝑂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𝐶𝑂𝑀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Ú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145B31D-EC65-4624-AD67-D5C717C99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354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47EAFEF7-D73F-4051-ADFD-29D3AA4C7FB9}"/>
              </a:ext>
            </a:extLst>
          </p:cNvPr>
          <p:cNvSpPr/>
          <p:nvPr/>
        </p:nvSpPr>
        <p:spPr>
          <a:xfrm>
            <a:off x="381000" y="2139554"/>
            <a:ext cx="17449800" cy="69663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E4E4390-A25F-4910-A15B-1AE8EB6E1064}"/>
                  </a:ext>
                </a:extLst>
              </p:cNvPr>
              <p:cNvSpPr txBox="1"/>
              <p:nvPr/>
            </p:nvSpPr>
            <p:spPr>
              <a:xfrm>
                <a:off x="9123218" y="5305012"/>
                <a:ext cx="9754379" cy="6354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20 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𝐴𝑆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E4E4390-A25F-4910-A15B-1AE8EB6E1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3218" y="5305012"/>
                <a:ext cx="9754379" cy="6354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D78D7F5F-3101-4AEC-90F6-B5375494F90F}"/>
              </a:ext>
            </a:extLst>
          </p:cNvPr>
          <p:cNvSpPr/>
          <p:nvPr/>
        </p:nvSpPr>
        <p:spPr>
          <a:xfrm>
            <a:off x="381000" y="2135585"/>
            <a:ext cx="8763000" cy="69703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A9CDB92A-0CCB-4057-A284-33659DB90D87}"/>
                  </a:ext>
                </a:extLst>
              </p:cNvPr>
              <p:cNvSpPr txBox="1"/>
              <p:nvPr/>
            </p:nvSpPr>
            <p:spPr>
              <a:xfrm>
                <a:off x="381000" y="5143500"/>
                <a:ext cx="9754379" cy="6354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𝐴𝑆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A9CDB92A-0CCB-4057-A284-33659DB90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143500"/>
                <a:ext cx="9754379" cy="6354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4A330C69-26C7-4CA5-934E-D66C71C1B746}"/>
              </a:ext>
            </a:extLst>
          </p:cNvPr>
          <p:cNvSpPr/>
          <p:nvPr/>
        </p:nvSpPr>
        <p:spPr>
          <a:xfrm>
            <a:off x="381000" y="2135585"/>
            <a:ext cx="4495800" cy="69663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9255D7B-A209-4487-888C-04F83C58E242}"/>
              </a:ext>
            </a:extLst>
          </p:cNvPr>
          <p:cNvSpPr/>
          <p:nvPr/>
        </p:nvSpPr>
        <p:spPr>
          <a:xfrm>
            <a:off x="280164" y="2072805"/>
            <a:ext cx="4596636" cy="352789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6966DDA-0F5A-4EF6-A28B-57EFEA97E689}"/>
              </a:ext>
            </a:extLst>
          </p:cNvPr>
          <p:cNvSpPr/>
          <p:nvPr/>
        </p:nvSpPr>
        <p:spPr>
          <a:xfrm>
            <a:off x="381000" y="2095500"/>
            <a:ext cx="4495800" cy="15935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5C7E3FD-1C0C-44F0-9A4A-216B7F6D7CFE}"/>
              </a:ext>
            </a:extLst>
          </p:cNvPr>
          <p:cNvSpPr/>
          <p:nvPr/>
        </p:nvSpPr>
        <p:spPr>
          <a:xfrm>
            <a:off x="333288" y="1970359"/>
            <a:ext cx="2234436" cy="171864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AD20478-B26A-4268-925F-BC46023A0E81}"/>
              </a:ext>
            </a:extLst>
          </p:cNvPr>
          <p:cNvSpPr/>
          <p:nvPr/>
        </p:nvSpPr>
        <p:spPr>
          <a:xfrm>
            <a:off x="221672" y="2022695"/>
            <a:ext cx="1226128" cy="15935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563AE02-753A-44AB-B4AF-E665DA409A46}"/>
              </a:ext>
            </a:extLst>
          </p:cNvPr>
          <p:cNvSpPr/>
          <p:nvPr/>
        </p:nvSpPr>
        <p:spPr>
          <a:xfrm>
            <a:off x="280164" y="2020469"/>
            <a:ext cx="1167636" cy="9132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385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3" grpId="0" animBg="1"/>
      <p:bldP spid="4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38445" y="1427070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47870" y="1427070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45500" y="1938206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35452" y="1757917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247870" y="3251952"/>
            <a:ext cx="11792260" cy="3191548"/>
            <a:chOff x="0" y="0"/>
            <a:chExt cx="3988987" cy="10796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88987" cy="1079610"/>
            </a:xfrm>
            <a:custGeom>
              <a:avLst/>
              <a:gdLst/>
              <a:ahLst/>
              <a:cxnLst/>
              <a:rect l="l" t="t" r="r" b="b"/>
              <a:pathLst>
                <a:path w="3988987" h="1079610">
                  <a:moveTo>
                    <a:pt x="0" y="0"/>
                  </a:moveTo>
                  <a:lnTo>
                    <a:pt x="3988987" y="0"/>
                  </a:lnTo>
                  <a:lnTo>
                    <a:pt x="3988987" y="1079610"/>
                  </a:lnTo>
                  <a:lnTo>
                    <a:pt x="0" y="107961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3301398" y="3282542"/>
            <a:ext cx="11685205" cy="3091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72"/>
              </a:lnSpc>
            </a:pP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Una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araña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teje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su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red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marco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ventana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.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día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duplica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superficie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hecha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hasta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entonces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, y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tarda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20 días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cubrir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totalmente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hueco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de la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ventana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. El número de días que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tardarán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cubrir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hueco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dos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arañas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que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misma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805" spc="205" dirty="0" err="1">
                <a:solidFill>
                  <a:srgbClr val="000000"/>
                </a:solidFill>
                <a:latin typeface="Quicksand"/>
              </a:rPr>
              <a:t>eficiencia</a:t>
            </a:r>
            <a:r>
              <a:rPr lang="en-US" sz="3805" spc="205" dirty="0">
                <a:solidFill>
                  <a:srgbClr val="000000"/>
                </a:solidFill>
                <a:latin typeface="Quicksand"/>
              </a:rPr>
              <a:t> 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10 días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4355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12 días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15 días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19 días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53401B4C-3450-420C-8CC1-5888DF662FF1}"/>
              </a:ext>
            </a:extLst>
          </p:cNvPr>
          <p:cNvSpPr/>
          <p:nvPr/>
        </p:nvSpPr>
        <p:spPr>
          <a:xfrm>
            <a:off x="12290425" y="6425645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68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856892" y="2176664"/>
            <a:ext cx="16004572" cy="4149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24"/>
              </a:lnSpc>
            </a:pP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Se forma un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cubo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soldando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12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pedazos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de alambre de 3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centímetros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longitud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uno. Si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mosca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de uno de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vértices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y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sigue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caminando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a lo largo de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lados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;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entonces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, la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distancian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máxima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que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podrá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recorrer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antes de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empezar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a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regresar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a un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vértice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segunda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vez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, sin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recorrer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lado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dos veces es: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15 cm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4355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18 cm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21 cm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24 cm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C3CA0A0-C5D4-443D-96CA-69363A22737E}"/>
              </a:ext>
            </a:extLst>
          </p:cNvPr>
          <p:cNvSpPr txBox="1"/>
          <p:nvPr/>
        </p:nvSpPr>
        <p:spPr>
          <a:xfrm>
            <a:off x="190500" y="266700"/>
            <a:ext cx="17907000" cy="242643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4724"/>
              </a:lnSpc>
            </a:pP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Se forma un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cubo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soldando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12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pedazos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de alambre de 3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centímetros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longitud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uno. Si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mosca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de uno de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vértices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y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sigue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caminando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a lo largo de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lados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;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entonces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, la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distancia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máxima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que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podrá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recorrer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antes de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empezar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a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regresar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a un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vértice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segunda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vez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, sin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recorrer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2400" spc="238" dirty="0" err="1">
                <a:solidFill>
                  <a:srgbClr val="000000"/>
                </a:solidFill>
                <a:latin typeface="Quicksand"/>
              </a:rPr>
              <a:t>lado</a:t>
            </a:r>
            <a:r>
              <a:rPr lang="en-US" sz="2400" spc="238" dirty="0">
                <a:solidFill>
                  <a:srgbClr val="000000"/>
                </a:solidFill>
                <a:latin typeface="Quicksand"/>
              </a:rPr>
              <a:t> dos veces es: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145B31D-EC65-4624-AD67-D5C717C99AC8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𝐴𝑁𝐴𝐿𝐼𝑍𝐴𝑁𝐷𝑂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𝐸𝑁𝑈𝑁𝐶𝐼𝐴𝐷𝑂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145B31D-EC65-4624-AD67-D5C717C99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5DA93ED0-E06D-41A6-ABC8-971F9360A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30068"/>
            <a:ext cx="5791200" cy="643466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1CBB43A-8A29-4ABA-BBFE-E25D4281B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2781300"/>
            <a:ext cx="6549390" cy="72771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77E60BA-B382-4278-A58E-DA25728FE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688166"/>
            <a:ext cx="6838950" cy="759883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EFCEFC6-0CCC-44ED-849F-BA234C1CF5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2688166"/>
            <a:ext cx="6838950" cy="7598833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2666F51-C6A0-43CE-A252-7926E7A90E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" y="2688166"/>
            <a:ext cx="6838950" cy="7598833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901EBF04-DA85-45E7-8989-40D383753E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50" y="2688166"/>
            <a:ext cx="6838950" cy="75988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8D8CC535-005B-4592-9FD3-64F6EABB2DEB}"/>
                  </a:ext>
                </a:extLst>
              </p:cNvPr>
              <p:cNvSpPr txBox="1"/>
              <p:nvPr/>
            </p:nvSpPr>
            <p:spPr>
              <a:xfrm>
                <a:off x="7316932" y="279861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𝑁𝑈𝐸𝑆𝑇𝑅𝑂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𝐶𝑈𝐵𝑂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8D8CC535-005B-4592-9FD3-64F6EABB2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932" y="2798618"/>
                <a:ext cx="9754379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A799DDB7-D1CF-4045-AB43-3981FBDA4F2A}"/>
                  </a:ext>
                </a:extLst>
              </p:cNvPr>
              <p:cNvSpPr txBox="1"/>
              <p:nvPr/>
            </p:nvSpPr>
            <p:spPr>
              <a:xfrm>
                <a:off x="7214755" y="3519656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𝑃𝑈𝑁𝑇𝑂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𝐷𝐸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𝑃𝐴𝑅𝑇𝐼𝐷𝐴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A799DDB7-D1CF-4045-AB43-3981FBDA4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755" y="3519656"/>
                <a:ext cx="9754379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FE9AC85A-17E0-4825-A11D-DD73969BBD89}"/>
                  </a:ext>
                </a:extLst>
              </p:cNvPr>
              <p:cNvSpPr txBox="1"/>
              <p:nvPr/>
            </p:nvSpPr>
            <p:spPr>
              <a:xfrm>
                <a:off x="7368151" y="4240694"/>
                <a:ext cx="276645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3 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FE9AC85A-17E0-4825-A11D-DD73969BB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8151" y="4240694"/>
                <a:ext cx="2766450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0848F44B-31B1-4B43-8664-95B48F568167}"/>
                  </a:ext>
                </a:extLst>
              </p:cNvPr>
              <p:cNvSpPr txBox="1"/>
              <p:nvPr/>
            </p:nvSpPr>
            <p:spPr>
              <a:xfrm>
                <a:off x="7368151" y="4961732"/>
                <a:ext cx="276645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6 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0848F44B-31B1-4B43-8664-95B48F568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8151" y="4961732"/>
                <a:ext cx="2766450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69F1AA16-B90B-4AC4-B52D-AE1165CE96D6}"/>
                  </a:ext>
                </a:extLst>
              </p:cNvPr>
              <p:cNvSpPr txBox="1"/>
              <p:nvPr/>
            </p:nvSpPr>
            <p:spPr>
              <a:xfrm>
                <a:off x="7368151" y="5700506"/>
                <a:ext cx="276645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9 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69F1AA16-B90B-4AC4-B52D-AE1165CE9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8151" y="5700506"/>
                <a:ext cx="2766450" cy="6155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EC01F187-E483-47EC-8F3C-79EEC3730D8D}"/>
                  </a:ext>
                </a:extLst>
              </p:cNvPr>
              <p:cNvSpPr txBox="1"/>
              <p:nvPr/>
            </p:nvSpPr>
            <p:spPr>
              <a:xfrm>
                <a:off x="7406249" y="6474556"/>
                <a:ext cx="276645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EC01F187-E483-47EC-8F3C-79EEC3730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249" y="6474556"/>
                <a:ext cx="2766450" cy="61555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Imagen 35">
            <a:extLst>
              <a:ext uri="{FF2B5EF4-FFF2-40B4-BE49-F238E27FC236}">
                <a16:creationId xmlns:a16="http://schemas.microsoft.com/office/drawing/2014/main" id="{7B38D250-64D7-4FD9-BFAD-699789455CE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7649" y="2688166"/>
            <a:ext cx="6838951" cy="75988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89C5CDC1-9834-42C6-A6E6-D93C9DBFC082}"/>
                  </a:ext>
                </a:extLst>
              </p:cNvPr>
              <p:cNvSpPr txBox="1"/>
              <p:nvPr/>
            </p:nvSpPr>
            <p:spPr>
              <a:xfrm>
                <a:off x="7368151" y="7142582"/>
                <a:ext cx="276645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89C5CDC1-9834-42C6-A6E6-D93C9DBFC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8151" y="7142582"/>
                <a:ext cx="2766450" cy="61555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Imagen 38">
            <a:extLst>
              <a:ext uri="{FF2B5EF4-FFF2-40B4-BE49-F238E27FC236}">
                <a16:creationId xmlns:a16="http://schemas.microsoft.com/office/drawing/2014/main" id="{26541B04-3531-4515-95EE-456CE869E87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7648" y="2688165"/>
            <a:ext cx="6838952" cy="75988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F8A49804-1E79-4803-B713-F55B53621670}"/>
                  </a:ext>
                </a:extLst>
              </p:cNvPr>
              <p:cNvSpPr txBox="1"/>
              <p:nvPr/>
            </p:nvSpPr>
            <p:spPr>
              <a:xfrm>
                <a:off x="11215752" y="4421778"/>
                <a:ext cx="276645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F8A49804-1E79-4803-B713-F55B53621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5752" y="4421778"/>
                <a:ext cx="2766450" cy="61555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2" name="Imagen 41">
            <a:extLst>
              <a:ext uri="{FF2B5EF4-FFF2-40B4-BE49-F238E27FC236}">
                <a16:creationId xmlns:a16="http://schemas.microsoft.com/office/drawing/2014/main" id="{0BB65400-4BED-46ED-A4FF-314E8DF827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7648" y="2688164"/>
            <a:ext cx="6838952" cy="75988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B915827E-90E7-417F-B2AA-351EE85D1C45}"/>
                  </a:ext>
                </a:extLst>
              </p:cNvPr>
              <p:cNvSpPr txBox="1"/>
              <p:nvPr/>
            </p:nvSpPr>
            <p:spPr>
              <a:xfrm>
                <a:off x="11215752" y="5249670"/>
                <a:ext cx="276645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B915827E-90E7-417F-B2AA-351EE85D1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5752" y="5249670"/>
                <a:ext cx="2766450" cy="61555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757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856892" y="2176664"/>
            <a:ext cx="16004572" cy="4149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24"/>
              </a:lnSpc>
            </a:pP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Se forma un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cubo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soldando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12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pedazos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de alambre de 3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centímetros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longitud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uno. Si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mosca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de uno de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vértices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y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sigue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caminando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a lo largo de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lados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;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entonces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, la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distancian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máxima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que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podrá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recorrer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antes de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empezar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a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regresar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a un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vértice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segunda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vez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, sin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recorrer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4415" spc="238" dirty="0" err="1">
                <a:solidFill>
                  <a:srgbClr val="000000"/>
                </a:solidFill>
                <a:latin typeface="Quicksand"/>
              </a:rPr>
              <a:t>lado</a:t>
            </a:r>
            <a:r>
              <a:rPr lang="en-US" sz="4415" spc="238" dirty="0">
                <a:solidFill>
                  <a:srgbClr val="000000"/>
                </a:solidFill>
                <a:latin typeface="Quicksand"/>
              </a:rPr>
              <a:t> dos veces es: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15 cm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4355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18 cm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21 cm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24 cm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83275E29-42C9-40B2-A4A7-02A9E3A9D86D}"/>
              </a:ext>
            </a:extLst>
          </p:cNvPr>
          <p:cNvSpPr/>
          <p:nvPr/>
        </p:nvSpPr>
        <p:spPr>
          <a:xfrm>
            <a:off x="9258499" y="6443496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9923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19354" y="1793342"/>
            <a:ext cx="17636008" cy="4867962"/>
            <a:chOff x="0" y="0"/>
            <a:chExt cx="5965761" cy="164669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965761" cy="1646693"/>
            </a:xfrm>
            <a:custGeom>
              <a:avLst/>
              <a:gdLst/>
              <a:ahLst/>
              <a:cxnLst/>
              <a:rect l="l" t="t" r="r" b="b"/>
              <a:pathLst>
                <a:path w="5965761" h="1646693">
                  <a:moveTo>
                    <a:pt x="0" y="0"/>
                  </a:moveTo>
                  <a:lnTo>
                    <a:pt x="5965761" y="0"/>
                  </a:lnTo>
                  <a:lnTo>
                    <a:pt x="5965761" y="1646693"/>
                  </a:lnTo>
                  <a:lnTo>
                    <a:pt x="0" y="1646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503194" y="2007928"/>
            <a:ext cx="17281612" cy="4293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9"/>
              </a:lnSpc>
            </a:pP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Juan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pinta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su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casa y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compra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determinado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número de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de pintura.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las 2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alcobas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gasta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cuarta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de la pintura;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estudio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1/6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del resto.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sala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y la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cocina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2/5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partes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de lo que le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quedaba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y 1/3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del resto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exteriores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y el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jardín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. Si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finalmente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le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sobraron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2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; el total de pintura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comprada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Juan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fue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528752"/>
            <a:ext cx="2592806" cy="48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1"/>
              </a:lnSpc>
            </a:pPr>
            <a:r>
              <a:rPr lang="en-US" sz="3505" spc="189">
                <a:solidFill>
                  <a:srgbClr val="000000"/>
                </a:solidFill>
                <a:latin typeface="Quicksand"/>
              </a:rPr>
              <a:t>6 galones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6314355" y="8528752"/>
            <a:ext cx="2592806" cy="48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1"/>
              </a:lnSpc>
            </a:pPr>
            <a:r>
              <a:rPr lang="en-US" sz="3505" spc="189">
                <a:solidFill>
                  <a:srgbClr val="000000"/>
                </a:solidFill>
                <a:latin typeface="Quicksand"/>
              </a:rPr>
              <a:t>7 galones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80840" y="8528752"/>
            <a:ext cx="2592806" cy="48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1"/>
              </a:lnSpc>
            </a:pPr>
            <a:r>
              <a:rPr lang="en-US" sz="3505" spc="189">
                <a:solidFill>
                  <a:srgbClr val="000000"/>
                </a:solidFill>
                <a:latin typeface="Quicksand"/>
              </a:rPr>
              <a:t>8 galones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47324" y="8528752"/>
            <a:ext cx="2592806" cy="48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1"/>
              </a:lnSpc>
            </a:pPr>
            <a:r>
              <a:rPr lang="en-US" sz="3505" spc="189">
                <a:solidFill>
                  <a:srgbClr val="000000"/>
                </a:solidFill>
                <a:latin typeface="Quicksand"/>
              </a:rPr>
              <a:t>9 galones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C3CA0A0-C5D4-443D-96CA-69363A22737E}"/>
              </a:ext>
            </a:extLst>
          </p:cNvPr>
          <p:cNvSpPr txBox="1"/>
          <p:nvPr/>
        </p:nvSpPr>
        <p:spPr>
          <a:xfrm>
            <a:off x="190500" y="266700"/>
            <a:ext cx="17907000" cy="24745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4809"/>
              </a:lnSpc>
            </a:pP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Juan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pinta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su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casa y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compra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determinado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número de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de pintura.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las 2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alcobas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gasta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cuarta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de la pintura;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estudio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1/6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del resto.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sala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y la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cocina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2/5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partes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de lo que le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quedaba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y 1/3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del resto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exteriores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y el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jardín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. Si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finalmente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le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sobraron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2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; el total de pintura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comprada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Juan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fue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145B31D-EC65-4624-AD67-D5C717C99AC8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145B31D-EC65-4624-AD67-D5C717C99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B2F8E03D-BB8D-417B-95D1-653093214860}"/>
                  </a:ext>
                </a:extLst>
              </p:cNvPr>
              <p:cNvSpPr txBox="1"/>
              <p:nvPr/>
            </p:nvSpPr>
            <p:spPr>
              <a:xfrm>
                <a:off x="190500" y="2787524"/>
                <a:ext cx="244926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=1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B2F8E03D-BB8D-417B-95D1-653093214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2787524"/>
                <a:ext cx="2449260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229C44EE-C23D-4E16-83CC-CA09325F4535}"/>
                  </a:ext>
                </a:extLst>
              </p:cNvPr>
              <p:cNvSpPr txBox="1"/>
              <p:nvPr/>
            </p:nvSpPr>
            <p:spPr>
              <a:xfrm>
                <a:off x="27709" y="3183479"/>
                <a:ext cx="8102474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𝐺𝑎𝑠𝑡𝑎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𝑎𝑙𝑐𝑜𝑏𝑎𝑠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𝑝𝑖𝑛𝑡𝑢𝑟𝑎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229C44EE-C23D-4E16-83CC-CA09325F4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9" y="3183479"/>
                <a:ext cx="8102474" cy="11524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4CCF8A62-ED94-4B6C-9892-E0EB836A8C11}"/>
                  </a:ext>
                </a:extLst>
              </p:cNvPr>
              <p:cNvSpPr txBox="1"/>
              <p:nvPr/>
            </p:nvSpPr>
            <p:spPr>
              <a:xfrm>
                <a:off x="24626" y="3914805"/>
                <a:ext cx="5569666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𝑆𝑜𝑏𝑟𝑎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𝑝𝑖𝑛𝑡𝑢𝑟𝑎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4CCF8A62-ED94-4B6C-9892-E0EB836A8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6" y="3914805"/>
                <a:ext cx="5569666" cy="11524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0B10B95-E429-4D51-82B6-D8C6F5994815}"/>
                  </a:ext>
                </a:extLst>
              </p:cNvPr>
              <p:cNvSpPr txBox="1"/>
              <p:nvPr/>
            </p:nvSpPr>
            <p:spPr>
              <a:xfrm>
                <a:off x="10477147" y="2745770"/>
                <a:ext cx="1321259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0B10B95-E429-4D51-82B6-D8C6F5994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147" y="2745770"/>
                <a:ext cx="1321259" cy="11524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0BD848C0-274D-402E-AF4A-A1B618DB697F}"/>
                  </a:ext>
                </a:extLst>
              </p:cNvPr>
              <p:cNvSpPr txBox="1"/>
              <p:nvPr/>
            </p:nvSpPr>
            <p:spPr>
              <a:xfrm>
                <a:off x="11806251" y="2686249"/>
                <a:ext cx="1846851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0BD848C0-274D-402E-AF4A-A1B618DB6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6251" y="2686249"/>
                <a:ext cx="1846851" cy="11524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00831CCE-61FB-4A23-8C73-37E2D1D02F04}"/>
                  </a:ext>
                </a:extLst>
              </p:cNvPr>
              <p:cNvSpPr txBox="1"/>
              <p:nvPr/>
            </p:nvSpPr>
            <p:spPr>
              <a:xfrm>
                <a:off x="13653102" y="2681393"/>
                <a:ext cx="1846852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4−1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00831CCE-61FB-4A23-8C73-37E2D1D02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3102" y="2681393"/>
                <a:ext cx="1846852" cy="11524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7E4E4CA-B297-4C80-9920-1C2CF32FBE16}"/>
                  </a:ext>
                </a:extLst>
              </p:cNvPr>
              <p:cNvSpPr txBox="1"/>
              <p:nvPr/>
            </p:nvSpPr>
            <p:spPr>
              <a:xfrm>
                <a:off x="15487779" y="2720387"/>
                <a:ext cx="951991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17E4E4CA-B297-4C80-9920-1C2CF32FB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7779" y="2720387"/>
                <a:ext cx="951991" cy="11524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7DE4DDE-612B-4B6E-AAA4-8BD02D0C1012}"/>
                  </a:ext>
                </a:extLst>
              </p:cNvPr>
              <p:cNvSpPr txBox="1"/>
              <p:nvPr/>
            </p:nvSpPr>
            <p:spPr>
              <a:xfrm>
                <a:off x="-9421" y="4744869"/>
                <a:ext cx="8550931" cy="115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𝐺𝑎𝑠𝑡𝑎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𝑒𝑠𝑡𝑢𝑑𝑖𝑜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𝑙𝑜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𝑞𝑢𝑒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𝑠𝑜𝑏𝑟𝑎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7DE4DDE-612B-4B6E-AAA4-8BD02D0C1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421" y="4744869"/>
                <a:ext cx="8550931" cy="11564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635CFE7F-E44F-40FE-ADFB-971D046048B4}"/>
                  </a:ext>
                </a:extLst>
              </p:cNvPr>
              <p:cNvSpPr txBox="1"/>
              <p:nvPr/>
            </p:nvSpPr>
            <p:spPr>
              <a:xfrm>
                <a:off x="8130183" y="3901002"/>
                <a:ext cx="5991512" cy="115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𝑙𝑜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𝑞𝑢𝑒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𝑠𝑜𝑏𝑟𝑎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635CFE7F-E44F-40FE-ADFB-971D04604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0183" y="3901002"/>
                <a:ext cx="5991512" cy="115647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ADF6A550-19C5-4B2E-96F3-69339CD9176C}"/>
                  </a:ext>
                </a:extLst>
              </p:cNvPr>
              <p:cNvSpPr txBox="1"/>
              <p:nvPr/>
            </p:nvSpPr>
            <p:spPr>
              <a:xfrm>
                <a:off x="14014986" y="3861161"/>
                <a:ext cx="1830822" cy="115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E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ADF6A550-19C5-4B2E-96F3-69339CD91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14986" y="3861161"/>
                <a:ext cx="1830822" cy="11564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46884FF9-916A-42BF-81D7-510B9FC8CDBC}"/>
                  </a:ext>
                </a:extLst>
              </p:cNvPr>
              <p:cNvSpPr txBox="1"/>
              <p:nvPr/>
            </p:nvSpPr>
            <p:spPr>
              <a:xfrm>
                <a:off x="15761035" y="3840324"/>
                <a:ext cx="1235723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46884FF9-916A-42BF-81D7-510B9FC8C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1035" y="3840324"/>
                <a:ext cx="1235723" cy="115249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94D582C2-9A59-45F0-8776-D758F5598978}"/>
                  </a:ext>
                </a:extLst>
              </p:cNvPr>
              <p:cNvSpPr txBox="1"/>
              <p:nvPr/>
            </p:nvSpPr>
            <p:spPr>
              <a:xfrm>
                <a:off x="16950229" y="3815512"/>
                <a:ext cx="951991" cy="115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94D582C2-9A59-45F0-8776-D758F5598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50229" y="3815512"/>
                <a:ext cx="951991" cy="115647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7333F463-5D81-4EEA-A5A5-AEFA3D8E36EE}"/>
                  </a:ext>
                </a:extLst>
              </p:cNvPr>
              <p:cNvSpPr txBox="1"/>
              <p:nvPr/>
            </p:nvSpPr>
            <p:spPr>
              <a:xfrm>
                <a:off x="8362496" y="4759919"/>
                <a:ext cx="951991" cy="115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7333F463-5D81-4EEA-A5A5-AEFA3D8E3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496" y="4759919"/>
                <a:ext cx="951991" cy="115647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758E9B04-733C-4B9C-B7B7-C1098D67A0FF}"/>
                  </a:ext>
                </a:extLst>
              </p:cNvPr>
              <p:cNvSpPr txBox="1"/>
              <p:nvPr/>
            </p:nvSpPr>
            <p:spPr>
              <a:xfrm>
                <a:off x="-86436" y="5524500"/>
                <a:ext cx="5757217" cy="12055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𝑆𝑜𝑏𝑟𝑎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𝑝𝑖𝑛𝑡𝑢𝑟𝑎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758E9B04-733C-4B9C-B7B7-C1098D67A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6436" y="5524500"/>
                <a:ext cx="5757217" cy="120558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A39FAA5-D6E8-4E36-A0F8-A9CBDCEB3680}"/>
                  </a:ext>
                </a:extLst>
              </p:cNvPr>
              <p:cNvSpPr txBox="1"/>
              <p:nvPr/>
            </p:nvSpPr>
            <p:spPr>
              <a:xfrm>
                <a:off x="10649084" y="4992819"/>
                <a:ext cx="1321259" cy="115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A39FAA5-D6E8-4E36-A0F8-A9CBDCEB3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9084" y="4992819"/>
                <a:ext cx="1321259" cy="115647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EC383AEB-E037-4031-B275-43E9759203AC}"/>
                  </a:ext>
                </a:extLst>
              </p:cNvPr>
              <p:cNvSpPr txBox="1"/>
              <p:nvPr/>
            </p:nvSpPr>
            <p:spPr>
              <a:xfrm>
                <a:off x="11641731" y="4985305"/>
                <a:ext cx="2479964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EC383AEB-E037-4031-B275-43E975920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1731" y="4985305"/>
                <a:ext cx="2479964" cy="115647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81AEB18E-0177-4927-8638-7E6DBDF43DCF}"/>
                  </a:ext>
                </a:extLst>
              </p:cNvPr>
              <p:cNvSpPr txBox="1"/>
              <p:nvPr/>
            </p:nvSpPr>
            <p:spPr>
              <a:xfrm>
                <a:off x="12962990" y="4991310"/>
                <a:ext cx="2479964" cy="1209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81AEB18E-0177-4927-8638-7E6DBDF43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2990" y="4991310"/>
                <a:ext cx="2479964" cy="120956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02F0F7C-D3DD-4E10-BAD3-CB854618B530}"/>
                  </a:ext>
                </a:extLst>
              </p:cNvPr>
              <p:cNvSpPr txBox="1"/>
              <p:nvPr/>
            </p:nvSpPr>
            <p:spPr>
              <a:xfrm>
                <a:off x="-195549" y="6429405"/>
                <a:ext cx="7912551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𝑆𝑎𝑙𝑎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𝑐𝑜𝑐𝑖𝑛𝑎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𝑙𝑜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𝑞𝑢𝑒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𝑠𝑜𝑏𝑟𝑎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02F0F7C-D3DD-4E10-BAD3-CB854618B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5549" y="6429405"/>
                <a:ext cx="7912551" cy="115249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E62E1BB0-4147-40C7-A6DB-4DEBAB1C0581}"/>
                  </a:ext>
                </a:extLst>
              </p:cNvPr>
              <p:cNvSpPr txBox="1"/>
              <p:nvPr/>
            </p:nvSpPr>
            <p:spPr>
              <a:xfrm>
                <a:off x="7454467" y="6470003"/>
                <a:ext cx="951991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E62E1BB0-4147-40C7-A6DB-4DEBAB1C0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467" y="6470003"/>
                <a:ext cx="951991" cy="115249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E1DDB507-C8CD-41A0-B4DB-746FF4AF7813}"/>
                  </a:ext>
                </a:extLst>
              </p:cNvPr>
              <p:cNvSpPr txBox="1"/>
              <p:nvPr/>
            </p:nvSpPr>
            <p:spPr>
              <a:xfrm>
                <a:off x="10085728" y="6171637"/>
                <a:ext cx="1556003" cy="1168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E1DDB507-C8CD-41A0-B4DB-746FF4AF7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5728" y="6171637"/>
                <a:ext cx="1556003" cy="116897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2C48158A-C6F6-479D-BFE8-8CC3221EB3E1}"/>
                  </a:ext>
                </a:extLst>
              </p:cNvPr>
              <p:cNvSpPr txBox="1"/>
              <p:nvPr/>
            </p:nvSpPr>
            <p:spPr>
              <a:xfrm>
                <a:off x="11569224" y="6156803"/>
                <a:ext cx="1943032" cy="1168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2C48158A-C6F6-479D-BFE8-8CC3221EB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9224" y="6156803"/>
                <a:ext cx="1943032" cy="116897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34D9AEB1-C362-4AE4-9CFE-1F3007C64647}"/>
                  </a:ext>
                </a:extLst>
              </p:cNvPr>
              <p:cNvSpPr txBox="1"/>
              <p:nvPr/>
            </p:nvSpPr>
            <p:spPr>
              <a:xfrm>
                <a:off x="13445046" y="6169307"/>
                <a:ext cx="1235723" cy="115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34D9AEB1-C362-4AE4-9CFE-1F3007C64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5046" y="6169307"/>
                <a:ext cx="1235723" cy="115647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22AD5C22-F225-4F58-ABFC-C04D87CBF328}"/>
                  </a:ext>
                </a:extLst>
              </p:cNvPr>
              <p:cNvSpPr txBox="1"/>
              <p:nvPr/>
            </p:nvSpPr>
            <p:spPr>
              <a:xfrm>
                <a:off x="14612803" y="6105433"/>
                <a:ext cx="951992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22AD5C22-F225-4F58-ABFC-C04D87CBF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2803" y="6105433"/>
                <a:ext cx="951992" cy="115249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A49D371-0DB0-4A27-B335-5BEA069E0AB1}"/>
                  </a:ext>
                </a:extLst>
              </p:cNvPr>
              <p:cNvSpPr txBox="1"/>
              <p:nvPr/>
            </p:nvSpPr>
            <p:spPr>
              <a:xfrm>
                <a:off x="24626" y="7356035"/>
                <a:ext cx="5569666" cy="115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𝑆𝑜𝑏𝑟𝑎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𝑝𝑖𝑛𝑡𝑢𝑟𝑎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A49D371-0DB0-4A27-B335-5BEA069E0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6" y="7356035"/>
                <a:ext cx="5569666" cy="115647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B2C733FC-FEC3-4F5E-BACA-0487B2D038F9}"/>
                  </a:ext>
                </a:extLst>
              </p:cNvPr>
              <p:cNvSpPr txBox="1"/>
              <p:nvPr/>
            </p:nvSpPr>
            <p:spPr>
              <a:xfrm>
                <a:off x="10649084" y="7348125"/>
                <a:ext cx="1321259" cy="1168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B2C733FC-FEC3-4F5E-BACA-0487B2D03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9084" y="7348125"/>
                <a:ext cx="1321259" cy="116897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D39932C3-F4FF-4E9D-B7C2-ECCF82CCF85F}"/>
                  </a:ext>
                </a:extLst>
              </p:cNvPr>
              <p:cNvSpPr txBox="1"/>
              <p:nvPr/>
            </p:nvSpPr>
            <p:spPr>
              <a:xfrm>
                <a:off x="11887200" y="7353300"/>
                <a:ext cx="1846851" cy="1168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D39932C3-F4FF-4E9D-B7C2-ECCF82CCF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0" y="7353300"/>
                <a:ext cx="1846851" cy="116897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A8717C41-77A4-4169-B981-12BD279B9387}"/>
                  </a:ext>
                </a:extLst>
              </p:cNvPr>
              <p:cNvSpPr txBox="1"/>
              <p:nvPr/>
            </p:nvSpPr>
            <p:spPr>
              <a:xfrm>
                <a:off x="13689377" y="7356035"/>
                <a:ext cx="1846852" cy="1168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5−2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A8717C41-77A4-4169-B981-12BD279B9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9377" y="7356035"/>
                <a:ext cx="1846852" cy="1168974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6BCDBAA4-F0E4-492F-B92D-2BBFA0C89679}"/>
                  </a:ext>
                </a:extLst>
              </p:cNvPr>
              <p:cNvSpPr txBox="1"/>
              <p:nvPr/>
            </p:nvSpPr>
            <p:spPr>
              <a:xfrm>
                <a:off x="15594831" y="7356035"/>
                <a:ext cx="951992" cy="115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6BCDBAA4-F0E4-492F-B92D-2BBFA0C89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4831" y="7356035"/>
                <a:ext cx="951992" cy="115647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4E2BBD9F-F846-4BA9-9F67-D61D8180F009}"/>
                  </a:ext>
                </a:extLst>
              </p:cNvPr>
              <p:cNvSpPr txBox="1"/>
              <p:nvPr/>
            </p:nvSpPr>
            <p:spPr>
              <a:xfrm>
                <a:off x="-86436" y="8267700"/>
                <a:ext cx="6085063" cy="115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𝐽𝑎𝑟𝑑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𝑒𝑥𝑡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𝑑𝑒𝑙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𝑟𝑒𝑠𝑡𝑜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4E2BBD9F-F846-4BA9-9F67-D61D8180F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6436" y="8267700"/>
                <a:ext cx="6085063" cy="115647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E93FE51F-4A3C-4302-991E-F0A684E7DBE9}"/>
                  </a:ext>
                </a:extLst>
              </p:cNvPr>
              <p:cNvSpPr txBox="1"/>
              <p:nvPr/>
            </p:nvSpPr>
            <p:spPr>
              <a:xfrm>
                <a:off x="5851718" y="8267700"/>
                <a:ext cx="951991" cy="115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E93FE51F-4A3C-4302-991E-F0A684E7D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718" y="8267700"/>
                <a:ext cx="951991" cy="115647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37366F70-5A2B-405E-80A1-FB22842B6954}"/>
              </a:ext>
            </a:extLst>
          </p:cNvPr>
          <p:cNvSpPr/>
          <p:nvPr/>
        </p:nvSpPr>
        <p:spPr>
          <a:xfrm>
            <a:off x="9630587" y="2781300"/>
            <a:ext cx="8352613" cy="664287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7F86B008-E330-4570-A28F-D3EB82036323}"/>
                  </a:ext>
                </a:extLst>
              </p:cNvPr>
              <p:cNvSpPr txBox="1"/>
              <p:nvPr/>
            </p:nvSpPr>
            <p:spPr>
              <a:xfrm>
                <a:off x="10155225" y="3095300"/>
                <a:ext cx="1556003" cy="115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7F86B008-E330-4570-A28F-D3EB82036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5225" y="3095300"/>
                <a:ext cx="1556003" cy="115647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184BBC37-9B4E-46F2-A785-5814C459D8AD}"/>
                  </a:ext>
                </a:extLst>
              </p:cNvPr>
              <p:cNvSpPr txBox="1"/>
              <p:nvPr/>
            </p:nvSpPr>
            <p:spPr>
              <a:xfrm>
                <a:off x="11929188" y="3104208"/>
                <a:ext cx="1849157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184BBC37-9B4E-46F2-A785-5814C459D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9188" y="3104208"/>
                <a:ext cx="1849157" cy="115647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FD7E7B50-C808-40A5-87CA-564EF83E0B13}"/>
                  </a:ext>
                </a:extLst>
              </p:cNvPr>
              <p:cNvSpPr txBox="1"/>
              <p:nvPr/>
            </p:nvSpPr>
            <p:spPr>
              <a:xfrm>
                <a:off x="13580058" y="3123312"/>
                <a:ext cx="1849157" cy="11524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FD7E7B50-C808-40A5-87CA-564EF83E0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0058" y="3123312"/>
                <a:ext cx="1849157" cy="1152495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4CF70CDE-B4CB-4956-98A7-A26F52816A95}"/>
                  </a:ext>
                </a:extLst>
              </p:cNvPr>
              <p:cNvSpPr txBox="1"/>
              <p:nvPr/>
            </p:nvSpPr>
            <p:spPr>
              <a:xfrm>
                <a:off x="14773015" y="3090966"/>
                <a:ext cx="1849157" cy="11524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4CF70CDE-B4CB-4956-98A7-A26F52816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3015" y="3090966"/>
                <a:ext cx="1849157" cy="1152495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3416760A-2301-40D7-97A2-8175C1257B09}"/>
                  </a:ext>
                </a:extLst>
              </p:cNvPr>
              <p:cNvSpPr txBox="1"/>
              <p:nvPr/>
            </p:nvSpPr>
            <p:spPr>
              <a:xfrm>
                <a:off x="7575173" y="8275214"/>
                <a:ext cx="5757217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𝑆𝑜𝑏𝑟𝑎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𝑝𝑖𝑛𝑡𝑢𝑟𝑎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3416760A-2301-40D7-97A2-8175C1257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173" y="8275214"/>
                <a:ext cx="5757217" cy="1152495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7BF08F3B-6226-4842-B898-6D00152539C2}"/>
                  </a:ext>
                </a:extLst>
              </p:cNvPr>
              <p:cNvSpPr txBox="1"/>
              <p:nvPr/>
            </p:nvSpPr>
            <p:spPr>
              <a:xfrm>
                <a:off x="13177253" y="8611878"/>
                <a:ext cx="2895729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𝑔𝑎𝑙𝑜𝑛𝑒𝑠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7BF08F3B-6226-4842-B898-6D0015253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7253" y="8611878"/>
                <a:ext cx="2895729" cy="615553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6A5B8B11-19AB-4F5E-BF6A-9B02268A5D24}"/>
                  </a:ext>
                </a:extLst>
              </p:cNvPr>
              <p:cNvSpPr txBox="1"/>
              <p:nvPr/>
            </p:nvSpPr>
            <p:spPr>
              <a:xfrm>
                <a:off x="10177206" y="4494071"/>
                <a:ext cx="1321259" cy="115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6A5B8B11-19AB-4F5E-BF6A-9B02268A5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7206" y="4494071"/>
                <a:ext cx="1321259" cy="115647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8AB796AF-10AE-4EEA-86A7-FAC2D62873E8}"/>
                  </a:ext>
                </a:extLst>
              </p:cNvPr>
              <p:cNvSpPr txBox="1"/>
              <p:nvPr/>
            </p:nvSpPr>
            <p:spPr>
              <a:xfrm>
                <a:off x="11701080" y="4501585"/>
                <a:ext cx="1846852" cy="115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3−1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8AB796AF-10AE-4EEA-86A7-FAC2D6287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1080" y="4501585"/>
                <a:ext cx="1846852" cy="115647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1F2D80CA-BB5A-4B66-B2E6-AD53F8B8F0BF}"/>
                  </a:ext>
                </a:extLst>
              </p:cNvPr>
              <p:cNvSpPr txBox="1"/>
              <p:nvPr/>
            </p:nvSpPr>
            <p:spPr>
              <a:xfrm>
                <a:off x="13665323" y="4509084"/>
                <a:ext cx="951992" cy="115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1F2D80CA-BB5A-4B66-B2E6-AD53F8B8F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5323" y="4509084"/>
                <a:ext cx="951992" cy="115647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C8203129-5961-4DF4-830A-C11A6D469291}"/>
                  </a:ext>
                </a:extLst>
              </p:cNvPr>
              <p:cNvSpPr txBox="1"/>
              <p:nvPr/>
            </p:nvSpPr>
            <p:spPr>
              <a:xfrm>
                <a:off x="14690723" y="4494071"/>
                <a:ext cx="951991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C8203129-5961-4DF4-830A-C11A6D469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0723" y="4494071"/>
                <a:ext cx="951991" cy="1152495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ángulo 62">
            <a:extLst>
              <a:ext uri="{FF2B5EF4-FFF2-40B4-BE49-F238E27FC236}">
                <a16:creationId xmlns:a16="http://schemas.microsoft.com/office/drawing/2014/main" id="{5FCD9C85-F461-40E6-A6CA-AEB26043FB55}"/>
              </a:ext>
            </a:extLst>
          </p:cNvPr>
          <p:cNvSpPr/>
          <p:nvPr/>
        </p:nvSpPr>
        <p:spPr>
          <a:xfrm>
            <a:off x="16898" y="3342665"/>
            <a:ext cx="18080602" cy="52326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AC63AFB7-F828-4FE5-9FD7-4BF335F90006}"/>
                  </a:ext>
                </a:extLst>
              </p:cNvPr>
              <p:cNvSpPr txBox="1"/>
              <p:nvPr/>
            </p:nvSpPr>
            <p:spPr>
              <a:xfrm>
                <a:off x="121589" y="3520855"/>
                <a:ext cx="10855921" cy="1152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𝑆𝑖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𝑝𝑖𝑛𝑡𝑢𝑟𝑎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−−−−−−−−−−−2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𝑔𝑎𝑙𝑜𝑛𝑒𝑠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AC63AFB7-F828-4FE5-9FD7-4BF335F90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89" y="3520855"/>
                <a:ext cx="10855921" cy="1152495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E198F4D0-087B-49E9-9B70-03B88911B3FB}"/>
                  </a:ext>
                </a:extLst>
              </p:cNvPr>
              <p:cNvSpPr txBox="1"/>
              <p:nvPr/>
            </p:nvSpPr>
            <p:spPr>
              <a:xfrm>
                <a:off x="173237" y="4795781"/>
                <a:ext cx="956672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𝐸𝑙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𝑝𝑖𝑛𝑡𝑢𝑟𝑎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−−−−−−−−       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E198F4D0-087B-49E9-9B70-03B88911B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37" y="4795781"/>
                <a:ext cx="9566721" cy="615553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EA2A8805-050B-412A-900C-B4146D597A89}"/>
                  </a:ext>
                </a:extLst>
              </p:cNvPr>
              <p:cNvSpPr txBox="1"/>
              <p:nvPr/>
            </p:nvSpPr>
            <p:spPr>
              <a:xfrm>
                <a:off x="544625" y="5826612"/>
                <a:ext cx="4371966" cy="16613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𝑔𝑎𝑙𝑜𝑛𝑒𝑠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 ×1</m:t>
                          </m:r>
                        </m:num>
                        <m:den>
                          <m:f>
                            <m:fPr>
                              <m:ctrlP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EA2A8805-050B-412A-900C-B4146D597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25" y="5826612"/>
                <a:ext cx="4371966" cy="166135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472DB734-F458-40F7-AB17-C736F6F1D1EE}"/>
                  </a:ext>
                </a:extLst>
              </p:cNvPr>
              <p:cNvSpPr txBox="1"/>
              <p:nvPr/>
            </p:nvSpPr>
            <p:spPr>
              <a:xfrm>
                <a:off x="4852330" y="5854104"/>
                <a:ext cx="3007938" cy="16613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𝑔𝑎𝑙𝑜𝑛𝑒𝑠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f>
                            <m:fPr>
                              <m:ctrlP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472DB734-F458-40F7-AB17-C736F6F1D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330" y="5854104"/>
                <a:ext cx="3007938" cy="166135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3501731F-8BCA-4B64-8226-27CB8BE60E3D}"/>
                  </a:ext>
                </a:extLst>
              </p:cNvPr>
              <p:cNvSpPr txBox="1"/>
              <p:nvPr/>
            </p:nvSpPr>
            <p:spPr>
              <a:xfrm>
                <a:off x="7789540" y="5482325"/>
                <a:ext cx="3007938" cy="20678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  <m:t>𝑔𝑎𝑙𝑜𝑛𝑒𝑠</m:t>
                              </m:r>
                            </m:num>
                            <m:den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f>
                            <m:fPr>
                              <m:ctrlP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3501731F-8BCA-4B64-8226-27CB8BE60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540" y="5482325"/>
                <a:ext cx="3007938" cy="2067874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07EA3B13-822A-4819-8D8D-A7444BF2276C}"/>
                  </a:ext>
                </a:extLst>
              </p:cNvPr>
              <p:cNvSpPr txBox="1"/>
              <p:nvPr/>
            </p:nvSpPr>
            <p:spPr>
              <a:xfrm>
                <a:off x="10924899" y="5902701"/>
                <a:ext cx="2895729" cy="11647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𝑔𝑎𝑙𝑜𝑛𝑒𝑠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07EA3B13-822A-4819-8D8D-A7444BF22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4899" y="5902701"/>
                <a:ext cx="2895729" cy="116474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A7C62AD8-FDBA-4833-9576-F1F16F4FA7DF}"/>
                  </a:ext>
                </a:extLst>
              </p:cNvPr>
              <p:cNvSpPr txBox="1"/>
              <p:nvPr/>
            </p:nvSpPr>
            <p:spPr>
              <a:xfrm>
                <a:off x="13923812" y="6200872"/>
                <a:ext cx="278351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𝑔𝑎𝑙𝑜𝑛𝑒𝑠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A7C62AD8-FDBA-4833-9576-F1F16F4FA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3812" y="6200872"/>
                <a:ext cx="2783518" cy="615553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5903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4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0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1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6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19354" y="1793342"/>
            <a:ext cx="17636008" cy="4867962"/>
            <a:chOff x="0" y="0"/>
            <a:chExt cx="5965761" cy="164669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965761" cy="1646693"/>
            </a:xfrm>
            <a:custGeom>
              <a:avLst/>
              <a:gdLst/>
              <a:ahLst/>
              <a:cxnLst/>
              <a:rect l="l" t="t" r="r" b="b"/>
              <a:pathLst>
                <a:path w="5965761" h="1646693">
                  <a:moveTo>
                    <a:pt x="0" y="0"/>
                  </a:moveTo>
                  <a:lnTo>
                    <a:pt x="5965761" y="0"/>
                  </a:lnTo>
                  <a:lnTo>
                    <a:pt x="5965761" y="1646693"/>
                  </a:lnTo>
                  <a:lnTo>
                    <a:pt x="0" y="1646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503194" y="2007928"/>
            <a:ext cx="17281612" cy="4293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9"/>
              </a:lnSpc>
            </a:pP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Juan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pinta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su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casa y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compra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determinado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número de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de pintura.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las 2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alcobas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gasta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cuarta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de la pintura;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estudio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1/6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del resto.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sala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y la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cocina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2/5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partes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de lo que le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quedaba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y 1/3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del resto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exteriores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y el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jardín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. Si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finalmente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le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sobraron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2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; el total de pintura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comprada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Juan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fue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528752"/>
            <a:ext cx="2592806" cy="48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1"/>
              </a:lnSpc>
            </a:pPr>
            <a:r>
              <a:rPr lang="en-US" sz="3505" spc="189">
                <a:solidFill>
                  <a:srgbClr val="000000"/>
                </a:solidFill>
                <a:latin typeface="Quicksand"/>
              </a:rPr>
              <a:t>6 galones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6314355" y="8528752"/>
            <a:ext cx="2592806" cy="48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1"/>
              </a:lnSpc>
            </a:pPr>
            <a:r>
              <a:rPr lang="en-US" sz="3505" spc="189">
                <a:solidFill>
                  <a:srgbClr val="000000"/>
                </a:solidFill>
                <a:latin typeface="Quicksand"/>
              </a:rPr>
              <a:t>7 galones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80840" y="8528752"/>
            <a:ext cx="2592806" cy="48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1"/>
              </a:lnSpc>
            </a:pPr>
            <a:r>
              <a:rPr lang="en-US" sz="3505" spc="189">
                <a:solidFill>
                  <a:srgbClr val="000000"/>
                </a:solidFill>
                <a:latin typeface="Quicksand"/>
              </a:rPr>
              <a:t>8 galones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47324" y="8528752"/>
            <a:ext cx="2592806" cy="48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1"/>
              </a:lnSpc>
            </a:pPr>
            <a:r>
              <a:rPr lang="en-US" sz="3505" spc="189">
                <a:solidFill>
                  <a:srgbClr val="000000"/>
                </a:solidFill>
                <a:latin typeface="Quicksand"/>
              </a:rPr>
              <a:t>9 galones</a:t>
            </a:r>
          </a:p>
        </p:txBody>
      </p:sp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7AC0A701-03A1-46AA-8A0F-355F68091584}"/>
              </a:ext>
            </a:extLst>
          </p:cNvPr>
          <p:cNvSpPr/>
          <p:nvPr/>
        </p:nvSpPr>
        <p:spPr>
          <a:xfrm>
            <a:off x="9258499" y="6443496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4956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70">
            <a:extLst>
              <a:ext uri="{FF2B5EF4-FFF2-40B4-BE49-F238E27FC236}">
                <a16:creationId xmlns:a16="http://schemas.microsoft.com/office/drawing/2014/main" id="{938EF505-5051-47BB-9773-8403ADC91D18}"/>
              </a:ext>
            </a:extLst>
          </p:cNvPr>
          <p:cNvSpPr txBox="1"/>
          <p:nvPr/>
        </p:nvSpPr>
        <p:spPr>
          <a:xfrm>
            <a:off x="190500" y="0"/>
            <a:ext cx="17907000" cy="24745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4809"/>
              </a:lnSpc>
            </a:pP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Juan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pinta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su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casa y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compra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determinado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número de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de pintura.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las 2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alcobas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gasta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cuarta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de la pintura;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estudio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1/6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del resto.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sala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y la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cocina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2/5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partes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de lo que le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quedaba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y 1/3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del resto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exteriores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y el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jardín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. Si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finalmente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le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sobraron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2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; el total de pintura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comprada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Juan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2" dirty="0" err="1">
                <a:solidFill>
                  <a:srgbClr val="000000"/>
                </a:solidFill>
                <a:latin typeface="Quicksand"/>
              </a:rPr>
              <a:t>fue</a:t>
            </a:r>
            <a:r>
              <a:rPr lang="en-US" sz="2400" spc="242" dirty="0">
                <a:solidFill>
                  <a:srgbClr val="000000"/>
                </a:solidFill>
                <a:latin typeface="Quicksand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57281B5C-ECFA-41CB-A17B-F730F824B3CC}"/>
                  </a:ext>
                </a:extLst>
              </p:cNvPr>
              <p:cNvSpPr txBox="1"/>
              <p:nvPr/>
            </p:nvSpPr>
            <p:spPr>
              <a:xfrm>
                <a:off x="5181600" y="9408211"/>
                <a:ext cx="723978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:r>
                  <a:rPr lang="es-ES" sz="4000" b="0" dirty="0"/>
                  <a:t>R</a:t>
                </a:r>
                <a14:m>
                  <m:oMath xmlns:m="http://schemas.openxmlformats.org/officeDocument/2006/math"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𝑒𝑐𝑢𝑟𝑟𝑖𝑒𝑛𝑑𝑜</m:t>
                    </m:r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𝑙𝑎</m:t>
                    </m:r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𝑝𝑎𝑟𝑡𝑒</m:t>
                    </m:r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𝑔𝑟</m:t>
                    </m:r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á</m:t>
                    </m:r>
                    <m:r>
                      <a:rPr lang="es-ES" sz="4000" b="0" i="1" smtClean="0">
                        <a:latin typeface="Cambria Math" panose="02040503050406030204" pitchFamily="18" charset="0"/>
                      </a:rPr>
                      <m:t>𝑓𝑖𝑐𝑎</m:t>
                    </m:r>
                  </m:oMath>
                </a14:m>
                <a:endParaRPr lang="es-CO" sz="4000" dirty="0"/>
              </a:p>
            </p:txBody>
          </p:sp>
        </mc:Choice>
        <mc:Fallback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57281B5C-ECFA-41CB-A17B-F730F824B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9408211"/>
                <a:ext cx="7239780" cy="615553"/>
              </a:xfrm>
              <a:prstGeom prst="rect">
                <a:avLst/>
              </a:prstGeom>
              <a:blipFill>
                <a:blip r:embed="rId2"/>
                <a:stretch>
                  <a:fillRect l="-4209" t="-25743" b="-4851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n 14">
            <a:extLst>
              <a:ext uri="{FF2B5EF4-FFF2-40B4-BE49-F238E27FC236}">
                <a16:creationId xmlns:a16="http://schemas.microsoft.com/office/drawing/2014/main" id="{7195F5DA-4555-4007-B023-0B2CD01020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67" t="26290" r="64334" b="53661"/>
          <a:stretch/>
        </p:blipFill>
        <p:spPr>
          <a:xfrm>
            <a:off x="110460" y="2528122"/>
            <a:ext cx="17907000" cy="7394864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6CC48B5F-52E4-4F09-A23F-254CA4EFA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60" y="2532510"/>
            <a:ext cx="17847619" cy="7390476"/>
          </a:xfrm>
          <a:prstGeom prst="rect">
            <a:avLst/>
          </a:prstGeom>
        </p:spPr>
      </p:pic>
      <p:pic>
        <p:nvPicPr>
          <p:cNvPr id="52" name="Imagen 51">
            <a:extLst>
              <a:ext uri="{FF2B5EF4-FFF2-40B4-BE49-F238E27FC236}">
                <a16:creationId xmlns:a16="http://schemas.microsoft.com/office/drawing/2014/main" id="{F9F600E8-5B03-49C1-8AD7-50B17907C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60" y="2528122"/>
            <a:ext cx="17828571" cy="7390476"/>
          </a:xfrm>
          <a:prstGeom prst="rect">
            <a:avLst/>
          </a:prstGeom>
        </p:spPr>
      </p:pic>
      <p:pic>
        <p:nvPicPr>
          <p:cNvPr id="74" name="Imagen 73">
            <a:extLst>
              <a:ext uri="{FF2B5EF4-FFF2-40B4-BE49-F238E27FC236}">
                <a16:creationId xmlns:a16="http://schemas.microsoft.com/office/drawing/2014/main" id="{B237BC08-CAB2-4011-AC25-67B391EE5C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3" y="2478037"/>
            <a:ext cx="17771428" cy="7390476"/>
          </a:xfrm>
          <a:prstGeom prst="rect">
            <a:avLst/>
          </a:prstGeom>
        </p:spPr>
      </p:pic>
      <p:pic>
        <p:nvPicPr>
          <p:cNvPr id="76" name="Imagen 75">
            <a:extLst>
              <a:ext uri="{FF2B5EF4-FFF2-40B4-BE49-F238E27FC236}">
                <a16:creationId xmlns:a16="http://schemas.microsoft.com/office/drawing/2014/main" id="{FFEBD59B-EB59-4DAA-A458-33846E9BF1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55" y="2470979"/>
            <a:ext cx="17809524" cy="7447619"/>
          </a:xfrm>
          <a:prstGeom prst="rect">
            <a:avLst/>
          </a:prstGeom>
        </p:spPr>
      </p:pic>
      <p:pic>
        <p:nvPicPr>
          <p:cNvPr id="78" name="Imagen 77">
            <a:extLst>
              <a:ext uri="{FF2B5EF4-FFF2-40B4-BE49-F238E27FC236}">
                <a16:creationId xmlns:a16="http://schemas.microsoft.com/office/drawing/2014/main" id="{F4F9C37B-7809-4BAD-8B95-E9D6458A76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59" y="2532510"/>
            <a:ext cx="17828571" cy="7390476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6AC0DEB2-2553-4460-ACDA-D7717A9BB6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85" y="2504007"/>
            <a:ext cx="17809524" cy="7390476"/>
          </a:xfrm>
          <a:prstGeom prst="rect">
            <a:avLst/>
          </a:prstGeom>
        </p:spPr>
      </p:pic>
      <p:pic>
        <p:nvPicPr>
          <p:cNvPr id="82" name="Imagen 81">
            <a:extLst>
              <a:ext uri="{FF2B5EF4-FFF2-40B4-BE49-F238E27FC236}">
                <a16:creationId xmlns:a16="http://schemas.microsoft.com/office/drawing/2014/main" id="{445BFA36-291E-45A9-8028-F19BA335B4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37" y="2552237"/>
            <a:ext cx="17847619" cy="7390476"/>
          </a:xfrm>
          <a:prstGeom prst="rect">
            <a:avLst/>
          </a:prstGeom>
        </p:spPr>
      </p:pic>
      <p:pic>
        <p:nvPicPr>
          <p:cNvPr id="84" name="Imagen 83">
            <a:extLst>
              <a:ext uri="{FF2B5EF4-FFF2-40B4-BE49-F238E27FC236}">
                <a16:creationId xmlns:a16="http://schemas.microsoft.com/office/drawing/2014/main" id="{63E1DAE4-2080-4E5D-A1C5-FA070316C7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8889" y="2595193"/>
            <a:ext cx="17828571" cy="7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62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19354" y="1793342"/>
            <a:ext cx="17636008" cy="4867962"/>
            <a:chOff x="0" y="0"/>
            <a:chExt cx="5965761" cy="164669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965761" cy="1646693"/>
            </a:xfrm>
            <a:custGeom>
              <a:avLst/>
              <a:gdLst/>
              <a:ahLst/>
              <a:cxnLst/>
              <a:rect l="l" t="t" r="r" b="b"/>
              <a:pathLst>
                <a:path w="5965761" h="1646693">
                  <a:moveTo>
                    <a:pt x="0" y="0"/>
                  </a:moveTo>
                  <a:lnTo>
                    <a:pt x="5965761" y="0"/>
                  </a:lnTo>
                  <a:lnTo>
                    <a:pt x="5965761" y="1646693"/>
                  </a:lnTo>
                  <a:lnTo>
                    <a:pt x="0" y="1646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503194" y="2007928"/>
            <a:ext cx="17281612" cy="4293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9"/>
              </a:lnSpc>
            </a:pP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Juan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pinta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su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casa y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compra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determinado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número de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de pintura.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las 2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alcobas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gasta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cuarta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de la pintura;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estudio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1/6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del resto.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sala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y la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cocina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2/5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partes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de lo que le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quedaba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y 1/3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del resto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exteriores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y el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jardín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. Si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finalmente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le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sobraron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2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; el total de pintura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comprada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Juan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495" spc="242" dirty="0" err="1">
                <a:solidFill>
                  <a:srgbClr val="000000"/>
                </a:solidFill>
                <a:latin typeface="Quicksand"/>
              </a:rPr>
              <a:t>fue</a:t>
            </a:r>
            <a:r>
              <a:rPr lang="en-US" sz="4495" spc="242" dirty="0">
                <a:solidFill>
                  <a:srgbClr val="000000"/>
                </a:solidFill>
                <a:latin typeface="Quicksand"/>
              </a:rPr>
              <a:t>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528752"/>
            <a:ext cx="2592806" cy="48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1"/>
              </a:lnSpc>
            </a:pPr>
            <a:r>
              <a:rPr lang="en-US" sz="3505" spc="189">
                <a:solidFill>
                  <a:srgbClr val="000000"/>
                </a:solidFill>
                <a:latin typeface="Quicksand"/>
              </a:rPr>
              <a:t>6 galones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6314355" y="8528752"/>
            <a:ext cx="2592806" cy="48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1"/>
              </a:lnSpc>
            </a:pPr>
            <a:r>
              <a:rPr lang="en-US" sz="3505" spc="189">
                <a:solidFill>
                  <a:srgbClr val="000000"/>
                </a:solidFill>
                <a:latin typeface="Quicksand"/>
              </a:rPr>
              <a:t>7 galones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80840" y="8528752"/>
            <a:ext cx="2592806" cy="48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1"/>
              </a:lnSpc>
            </a:pPr>
            <a:r>
              <a:rPr lang="en-US" sz="3505" spc="189">
                <a:solidFill>
                  <a:srgbClr val="000000"/>
                </a:solidFill>
                <a:latin typeface="Quicksand"/>
              </a:rPr>
              <a:t>8 galones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47324" y="8528752"/>
            <a:ext cx="2592806" cy="48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1"/>
              </a:lnSpc>
            </a:pPr>
            <a:r>
              <a:rPr lang="en-US" sz="3505" spc="189">
                <a:solidFill>
                  <a:srgbClr val="000000"/>
                </a:solidFill>
                <a:latin typeface="Quicksand"/>
              </a:rPr>
              <a:t>9 galones</a:t>
            </a:r>
          </a:p>
        </p:txBody>
      </p:sp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7AC0A701-03A1-46AA-8A0F-355F68091584}"/>
              </a:ext>
            </a:extLst>
          </p:cNvPr>
          <p:cNvSpPr/>
          <p:nvPr/>
        </p:nvSpPr>
        <p:spPr>
          <a:xfrm>
            <a:off x="9258499" y="6443496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302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856892" y="2499753"/>
            <a:ext cx="16004572" cy="3826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8"/>
              </a:lnSpc>
            </a:pP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Con el dinero que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Elena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puede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comprar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10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naranjas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y le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sobran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$700;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pero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le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faltan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$ 320 para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poder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comprar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16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naranjas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. La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cantidad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de dinero que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Elena es de: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65123" y="854128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$1.700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66373" y="8537260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$1.800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531760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$2.100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64578" y="8537260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$2.400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70">
            <a:extLst>
              <a:ext uri="{FF2B5EF4-FFF2-40B4-BE49-F238E27FC236}">
                <a16:creationId xmlns:a16="http://schemas.microsoft.com/office/drawing/2014/main" id="{48FF10FF-8E77-40EA-A7BC-174D1136039B}"/>
              </a:ext>
            </a:extLst>
          </p:cNvPr>
          <p:cNvSpPr txBox="1"/>
          <p:nvPr/>
        </p:nvSpPr>
        <p:spPr>
          <a:xfrm>
            <a:off x="190500" y="266700"/>
            <a:ext cx="17907000" cy="15127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6008"/>
              </a:lnSpc>
            </a:pP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Con el dinero que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Elena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puede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comprar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10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naranjas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y le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sobran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$700;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pero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le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faltan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$ 320 para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poder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comprar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16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naranjas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. La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cantidad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de dinero que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Elena es de: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7469EE97-416F-4093-A192-C8DAFD98EB4F}"/>
                  </a:ext>
                </a:extLst>
              </p:cNvPr>
              <p:cNvSpPr txBox="1"/>
              <p:nvPr/>
            </p:nvSpPr>
            <p:spPr>
              <a:xfrm>
                <a:off x="225136" y="2019300"/>
                <a:ext cx="7468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𝑐𝑎𝑛𝑡𝑖𝑑𝑎𝑑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𝑑𝑖𝑛𝑒𝑟𝑜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𝐸𝑙𝑒𝑛𝑎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7469EE97-416F-4093-A192-C8DAFD98E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36" y="2019300"/>
                <a:ext cx="7468379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2513A9F4-E5B7-4A66-8031-89C2B4720164}"/>
                  </a:ext>
                </a:extLst>
              </p:cNvPr>
              <p:cNvSpPr txBox="1"/>
              <p:nvPr/>
            </p:nvSpPr>
            <p:spPr>
              <a:xfrm>
                <a:off x="8991600" y="2019299"/>
                <a:ext cx="7468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𝑝𝑟𝑒𝑐𝑖𝑜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𝑐𝑎𝑑𝑎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𝑛𝑎𝑟𝑎𝑛𝑗𝑎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2513A9F4-E5B7-4A66-8031-89C2B4720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600" y="2019299"/>
                <a:ext cx="7468379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74C56382-0058-4BF8-8EA0-517E0524C5FB}"/>
                  </a:ext>
                </a:extLst>
              </p:cNvPr>
              <p:cNvSpPr txBox="1"/>
              <p:nvPr/>
            </p:nvSpPr>
            <p:spPr>
              <a:xfrm>
                <a:off x="225136" y="2797383"/>
                <a:ext cx="419446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𝑝𝑟𝑖𝑚𝑒𝑟𝑎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𝑒𝑐𝑢𝑎𝑐𝑖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74C56382-0058-4BF8-8EA0-517E0524C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36" y="2797383"/>
                <a:ext cx="4194464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CuadroTexto 75">
                <a:extLst>
                  <a:ext uri="{FF2B5EF4-FFF2-40B4-BE49-F238E27FC236}">
                    <a16:creationId xmlns:a16="http://schemas.microsoft.com/office/drawing/2014/main" id="{5BF0923C-9CF2-4387-A2AC-D689379FD117}"/>
                  </a:ext>
                </a:extLst>
              </p:cNvPr>
              <p:cNvSpPr txBox="1"/>
              <p:nvPr/>
            </p:nvSpPr>
            <p:spPr>
              <a:xfrm>
                <a:off x="265920" y="3575466"/>
                <a:ext cx="377268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−$700=10.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6" name="CuadroTexto 75">
                <a:extLst>
                  <a:ext uri="{FF2B5EF4-FFF2-40B4-BE49-F238E27FC236}">
                    <a16:creationId xmlns:a16="http://schemas.microsoft.com/office/drawing/2014/main" id="{5BF0923C-9CF2-4387-A2AC-D689379FD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20" y="3575466"/>
                <a:ext cx="3772680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360984E1-7613-49BF-ADFC-768B403F7F50}"/>
                  </a:ext>
                </a:extLst>
              </p:cNvPr>
              <p:cNvSpPr txBox="1"/>
              <p:nvPr/>
            </p:nvSpPr>
            <p:spPr>
              <a:xfrm>
                <a:off x="5181600" y="2817101"/>
                <a:ext cx="419446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𝑠𝑒𝑔𝑢𝑛𝑑𝑎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𝑒𝑐𝑢𝑎𝑐𝑖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360984E1-7613-49BF-ADFC-768B403F7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2817101"/>
                <a:ext cx="4194464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1F49CE6B-8397-4EC2-BA1A-24A98C9F5979}"/>
                  </a:ext>
                </a:extLst>
              </p:cNvPr>
              <p:cNvSpPr txBox="1"/>
              <p:nvPr/>
            </p:nvSpPr>
            <p:spPr>
              <a:xfrm>
                <a:off x="5371320" y="3544051"/>
                <a:ext cx="377268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+$320=16.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1F49CE6B-8397-4EC2-BA1A-24A98C9F5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320" y="3544051"/>
                <a:ext cx="3772680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7245B1B9-8C0C-4D93-A3A4-980A4AF8C567}"/>
                  </a:ext>
                </a:extLst>
              </p:cNvPr>
              <p:cNvSpPr txBox="1"/>
              <p:nvPr/>
            </p:nvSpPr>
            <p:spPr>
              <a:xfrm>
                <a:off x="225136" y="4525796"/>
                <a:ext cx="3772680" cy="12055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−$700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7245B1B9-8C0C-4D93-A3A4-980A4AF8C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36" y="4525796"/>
                <a:ext cx="3772680" cy="12055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45519000-571D-4BD8-BC96-269D31DF9750}"/>
                  </a:ext>
                </a:extLst>
              </p:cNvPr>
              <p:cNvSpPr txBox="1"/>
              <p:nvPr/>
            </p:nvSpPr>
            <p:spPr>
              <a:xfrm>
                <a:off x="4953000" y="4537850"/>
                <a:ext cx="3772680" cy="11935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+$320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45519000-571D-4BD8-BC96-269D31DF9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4537850"/>
                <a:ext cx="3772680" cy="11935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71DD8F86-BBEB-447F-9461-5BBB7CDEA8D4}"/>
                  </a:ext>
                </a:extLst>
              </p:cNvPr>
              <p:cNvSpPr txBox="1"/>
              <p:nvPr/>
            </p:nvSpPr>
            <p:spPr>
              <a:xfrm>
                <a:off x="11161567" y="3003947"/>
                <a:ext cx="419446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𝑃𝑜𝑟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𝑖𝑔𝑢𝑎𝑙𝑎𝑐𝑖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71DD8F86-BBEB-447F-9461-5BBB7CDEA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1567" y="3003947"/>
                <a:ext cx="4194464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FE1AFB25-23E7-4FBC-A664-A8DDF0FDC92A}"/>
                  </a:ext>
                </a:extLst>
              </p:cNvPr>
              <p:cNvSpPr txBox="1"/>
              <p:nvPr/>
            </p:nvSpPr>
            <p:spPr>
              <a:xfrm>
                <a:off x="265920" y="5931168"/>
                <a:ext cx="5105400" cy="11935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−$700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+$320</m:t>
                          </m:r>
                        </m:num>
                        <m:den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FE1AFB25-23E7-4FBC-A664-A8DDF0FDC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20" y="5931168"/>
                <a:ext cx="5105400" cy="11935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8EF78BA9-900B-4ACC-A8C5-E1CD96885BC6}"/>
                  </a:ext>
                </a:extLst>
              </p:cNvPr>
              <p:cNvSpPr txBox="1"/>
              <p:nvPr/>
            </p:nvSpPr>
            <p:spPr>
              <a:xfrm>
                <a:off x="270336" y="7397699"/>
                <a:ext cx="7008496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>
                          <a:latin typeface="Cambria Math" panose="02040503050406030204" pitchFamily="18" charset="0"/>
                        </a:rPr>
                        <m:t>16(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−$700)=10(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+$320)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8EF78BA9-900B-4ACC-A8C5-E1CD96885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36" y="7397699"/>
                <a:ext cx="7008496" cy="6155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440C96E3-6142-43B3-BDDF-17ADC5E8F5F6}"/>
                  </a:ext>
                </a:extLst>
              </p:cNvPr>
              <p:cNvSpPr txBox="1"/>
              <p:nvPr/>
            </p:nvSpPr>
            <p:spPr>
              <a:xfrm>
                <a:off x="270335" y="8412144"/>
                <a:ext cx="700849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−$11.2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+$3200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440C96E3-6142-43B3-BDDF-17ADC5E8F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35" y="8412144"/>
                <a:ext cx="7008497" cy="61555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2D2B55A8-9EB1-4F5D-A040-ACF14BE0CE46}"/>
                  </a:ext>
                </a:extLst>
              </p:cNvPr>
              <p:cNvSpPr txBox="1"/>
              <p:nvPr/>
            </p:nvSpPr>
            <p:spPr>
              <a:xfrm>
                <a:off x="9687791" y="4157705"/>
                <a:ext cx="800005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=$3200+$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11.200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2D2B55A8-9EB1-4F5D-A040-ACF14BE0C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7791" y="4157705"/>
                <a:ext cx="8000050" cy="61555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712CEC2C-FF4E-4C0E-A62E-9573C488EE13}"/>
                  </a:ext>
                </a:extLst>
              </p:cNvPr>
              <p:cNvSpPr txBox="1"/>
              <p:nvPr/>
            </p:nvSpPr>
            <p:spPr>
              <a:xfrm>
                <a:off x="9757453" y="5081589"/>
                <a:ext cx="502534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=$14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712CEC2C-FF4E-4C0E-A62E-9573C488E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453" y="5081589"/>
                <a:ext cx="5025347" cy="61555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6C7696AE-136A-41F9-B0A3-A38A2475AE78}"/>
                  </a:ext>
                </a:extLst>
              </p:cNvPr>
              <p:cNvSpPr txBox="1"/>
              <p:nvPr/>
            </p:nvSpPr>
            <p:spPr>
              <a:xfrm>
                <a:off x="9757452" y="6058786"/>
                <a:ext cx="5025347" cy="12055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s-ES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$14</m:t>
                          </m:r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00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6C7696AE-136A-41F9-B0A3-A38A2475A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452" y="6058786"/>
                <a:ext cx="5025347" cy="120558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8A060E5A-4B55-4599-BEF8-695576150F62}"/>
                  </a:ext>
                </a:extLst>
              </p:cNvPr>
              <p:cNvSpPr txBox="1"/>
              <p:nvPr/>
            </p:nvSpPr>
            <p:spPr>
              <a:xfrm>
                <a:off x="9687791" y="7514334"/>
                <a:ext cx="502534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=$2.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8A060E5A-4B55-4599-BEF8-695576150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7791" y="7514334"/>
                <a:ext cx="5025347" cy="61555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06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856892" y="2499753"/>
            <a:ext cx="16004572" cy="3826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8"/>
              </a:lnSpc>
            </a:pP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Con el dinero que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Elena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puede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comprar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10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naranjas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y le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sobran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$700;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pero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le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faltan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$ 320 para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poder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comprar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16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naranjas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. La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cantidad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de dinero que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Elena es de: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65123" y="854128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$1.700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66373" y="8537260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$1.800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531760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$2.100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64578" y="8537260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$2.400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F956AB35-BB39-4A16-A7C7-7F2442C228E2}"/>
              </a:ext>
            </a:extLst>
          </p:cNvPr>
          <p:cNvSpPr/>
          <p:nvPr/>
        </p:nvSpPr>
        <p:spPr>
          <a:xfrm>
            <a:off x="12207963" y="6319143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606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70">
            <a:extLst>
              <a:ext uri="{FF2B5EF4-FFF2-40B4-BE49-F238E27FC236}">
                <a16:creationId xmlns:a16="http://schemas.microsoft.com/office/drawing/2014/main" id="{48FF10FF-8E77-40EA-A7BC-174D1136039B}"/>
              </a:ext>
            </a:extLst>
          </p:cNvPr>
          <p:cNvSpPr txBox="1"/>
          <p:nvPr/>
        </p:nvSpPr>
        <p:spPr>
          <a:xfrm>
            <a:off x="190500" y="266700"/>
            <a:ext cx="17907000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Con el dinero que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Elena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puede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comprar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10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naranjas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y le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sobran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$700;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pero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le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faltan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$ 320 para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poder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comprar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16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naranjas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. La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cantidad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de dinero que </a:t>
            </a:r>
            <a:r>
              <a:rPr lang="en-US" sz="2400" spc="303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2400" spc="303" dirty="0">
                <a:solidFill>
                  <a:srgbClr val="000000"/>
                </a:solidFill>
                <a:latin typeface="Quicksand"/>
              </a:rPr>
              <a:t> Elena es de: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𝐶𝑂𝑀𝑃𝑅𝑂𝐵𝐴𝑁𝐷𝑂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𝐿𝐴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𝑅𝐸𝑆𝑃𝑈𝐸𝑆𝑇𝐴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>
            <a:extLst>
              <a:ext uri="{FF2B5EF4-FFF2-40B4-BE49-F238E27FC236}">
                <a16:creationId xmlns:a16="http://schemas.microsoft.com/office/drawing/2014/main" id="{11734FC2-868D-4DEB-9128-DA19D879D2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530" t="64583" r="21889" b="19792"/>
          <a:stretch/>
        </p:blipFill>
        <p:spPr>
          <a:xfrm>
            <a:off x="190500" y="1779422"/>
            <a:ext cx="7160219" cy="1512722"/>
          </a:xfrm>
          <a:prstGeom prst="rect">
            <a:avLst/>
          </a:prstGeom>
        </p:spPr>
      </p:pic>
      <p:sp>
        <p:nvSpPr>
          <p:cNvPr id="4" name="Círculo: vacío 3">
            <a:extLst>
              <a:ext uri="{FF2B5EF4-FFF2-40B4-BE49-F238E27FC236}">
                <a16:creationId xmlns:a16="http://schemas.microsoft.com/office/drawing/2014/main" id="{775ACD03-2A05-4A20-A25A-FB0E0E80639E}"/>
              </a:ext>
            </a:extLst>
          </p:cNvPr>
          <p:cNvSpPr/>
          <p:nvPr/>
        </p:nvSpPr>
        <p:spPr>
          <a:xfrm>
            <a:off x="190500" y="2324100"/>
            <a:ext cx="1638300" cy="11430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0ED6D78A-2D2D-46F6-9C1C-AE5EA74835A1}"/>
                  </a:ext>
                </a:extLst>
              </p:cNvPr>
              <p:cNvSpPr txBox="1"/>
              <p:nvPr/>
            </p:nvSpPr>
            <p:spPr>
              <a:xfrm>
                <a:off x="-115080" y="3575466"/>
                <a:ext cx="560148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$1700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−$700=10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0ED6D78A-2D2D-46F6-9C1C-AE5EA7483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5080" y="3575466"/>
                <a:ext cx="5601480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BBB8D166-9ECC-403D-9D15-22CB9557099D}"/>
                  </a:ext>
                </a:extLst>
              </p:cNvPr>
              <p:cNvSpPr txBox="1"/>
              <p:nvPr/>
            </p:nvSpPr>
            <p:spPr>
              <a:xfrm>
                <a:off x="-49271" y="4472635"/>
                <a:ext cx="3325871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$1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000=10.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BBB8D166-9ECC-403D-9D15-22CB95570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271" y="4472635"/>
                <a:ext cx="3325871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0F4D7CE6-28A9-46FD-A3EF-233539A83584}"/>
                  </a:ext>
                </a:extLst>
              </p:cNvPr>
              <p:cNvSpPr txBox="1"/>
              <p:nvPr/>
            </p:nvSpPr>
            <p:spPr>
              <a:xfrm>
                <a:off x="190501" y="5373216"/>
                <a:ext cx="2552700" cy="12055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>
                              <a:latin typeface="Cambria Math" panose="02040503050406030204" pitchFamily="18" charset="0"/>
                            </a:rPr>
                            <m:t>$1</m:t>
                          </m:r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000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0F4D7CE6-28A9-46FD-A3EF-233539A83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1" y="5373216"/>
                <a:ext cx="2552700" cy="12055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5FC65ECB-3131-49FC-9D60-D7DC12432253}"/>
                  </a:ext>
                </a:extLst>
              </p:cNvPr>
              <p:cNvSpPr txBox="1"/>
              <p:nvPr/>
            </p:nvSpPr>
            <p:spPr>
              <a:xfrm>
                <a:off x="190500" y="6757314"/>
                <a:ext cx="22479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>
                          <a:latin typeface="Cambria Math" panose="02040503050406030204" pitchFamily="18" charset="0"/>
                        </a:rPr>
                        <m:t>$1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5FC65ECB-3131-49FC-9D60-D7DC12432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6757314"/>
                <a:ext cx="2247900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64AF99D8-2D1C-47FC-9EB2-8A20C4C59EAB}"/>
                  </a:ext>
                </a:extLst>
              </p:cNvPr>
              <p:cNvSpPr txBox="1"/>
              <p:nvPr/>
            </p:nvSpPr>
            <p:spPr>
              <a:xfrm>
                <a:off x="5676120" y="3617049"/>
                <a:ext cx="560148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$1700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+$320=16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64AF99D8-2D1C-47FC-9EB2-8A20C4C59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120" y="3617049"/>
                <a:ext cx="5601480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961F8D96-2F0A-4405-8936-9EDD75B2969F}"/>
                  </a:ext>
                </a:extLst>
              </p:cNvPr>
              <p:cNvSpPr txBox="1"/>
              <p:nvPr/>
            </p:nvSpPr>
            <p:spPr>
              <a:xfrm>
                <a:off x="5676120" y="4472634"/>
                <a:ext cx="392508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2020=16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961F8D96-2F0A-4405-8936-9EDD75B29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120" y="4472634"/>
                <a:ext cx="3925080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E312ED0C-2CDF-48FB-9307-23511BBC444D}"/>
                  </a:ext>
                </a:extLst>
              </p:cNvPr>
              <p:cNvSpPr txBox="1"/>
              <p:nvPr/>
            </p:nvSpPr>
            <p:spPr>
              <a:xfrm>
                <a:off x="5773491" y="5447150"/>
                <a:ext cx="2552700" cy="12055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>
                              <a:latin typeface="Cambria Math" panose="02040503050406030204" pitchFamily="18" charset="0"/>
                            </a:rPr>
                            <m:t>$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2020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E312ED0C-2CDF-48FB-9307-23511BBC4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491" y="5447150"/>
                <a:ext cx="2552700" cy="12055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3532B542-4024-4700-AE90-1027B1209AEC}"/>
                  </a:ext>
                </a:extLst>
              </p:cNvPr>
              <p:cNvSpPr txBox="1"/>
              <p:nvPr/>
            </p:nvSpPr>
            <p:spPr>
              <a:xfrm>
                <a:off x="5696902" y="6933889"/>
                <a:ext cx="22479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smtClean="0">
                          <a:latin typeface="Cambria Math" panose="02040503050406030204" pitchFamily="18" charset="0"/>
                        </a:rPr>
                        <m:t>$1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26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3532B542-4024-4700-AE90-1027B1209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902" y="6933889"/>
                <a:ext cx="2247900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írculo: vacío 30">
            <a:extLst>
              <a:ext uri="{FF2B5EF4-FFF2-40B4-BE49-F238E27FC236}">
                <a16:creationId xmlns:a16="http://schemas.microsoft.com/office/drawing/2014/main" id="{5B7C23E7-B66B-4541-825D-1C0C37824B31}"/>
              </a:ext>
            </a:extLst>
          </p:cNvPr>
          <p:cNvSpPr/>
          <p:nvPr/>
        </p:nvSpPr>
        <p:spPr>
          <a:xfrm>
            <a:off x="1942320" y="2311597"/>
            <a:ext cx="1638300" cy="11430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A3CFEA3D-4AD3-4BB9-877F-3674885F737E}"/>
                  </a:ext>
                </a:extLst>
              </p:cNvPr>
              <p:cNvSpPr txBox="1"/>
              <p:nvPr/>
            </p:nvSpPr>
            <p:spPr>
              <a:xfrm>
                <a:off x="12596465" y="1912517"/>
                <a:ext cx="560148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$1800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−$700=10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A3CFEA3D-4AD3-4BB9-877F-3674885F7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465" y="1912517"/>
                <a:ext cx="5601480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BC977598-8AE0-4B69-8267-F5DD1695D744}"/>
                  </a:ext>
                </a:extLst>
              </p:cNvPr>
              <p:cNvSpPr txBox="1"/>
              <p:nvPr/>
            </p:nvSpPr>
            <p:spPr>
              <a:xfrm>
                <a:off x="12725400" y="2546747"/>
                <a:ext cx="3325871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$1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100=10.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BC977598-8AE0-4B69-8267-F5DD1695D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5400" y="2546747"/>
                <a:ext cx="3325871" cy="6155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480FFBC6-FFF4-4004-835C-B0DA3E47B4D6}"/>
                  </a:ext>
                </a:extLst>
              </p:cNvPr>
              <p:cNvSpPr txBox="1"/>
              <p:nvPr/>
            </p:nvSpPr>
            <p:spPr>
              <a:xfrm>
                <a:off x="12725400" y="3202128"/>
                <a:ext cx="4572000" cy="11935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>
                              <a:latin typeface="Cambria Math" panose="02040503050406030204" pitchFamily="18" charset="0"/>
                            </a:rPr>
                            <m:t>$1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00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=$110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480FFBC6-FFF4-4004-835C-B0DA3E47B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5400" y="3202128"/>
                <a:ext cx="4572000" cy="11935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15F9A88F-0DFC-480C-A1FC-F26448753A27}"/>
                  </a:ext>
                </a:extLst>
              </p:cNvPr>
              <p:cNvSpPr txBox="1"/>
              <p:nvPr/>
            </p:nvSpPr>
            <p:spPr>
              <a:xfrm>
                <a:off x="12633224" y="4538643"/>
                <a:ext cx="560148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$1800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+$320=16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15F9A88F-0DFC-480C-A1FC-F26448753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3224" y="4538643"/>
                <a:ext cx="5601480" cy="61555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06829DEF-5BCC-41FC-9A56-76659B0A8272}"/>
                  </a:ext>
                </a:extLst>
              </p:cNvPr>
              <p:cNvSpPr txBox="1"/>
              <p:nvPr/>
            </p:nvSpPr>
            <p:spPr>
              <a:xfrm>
                <a:off x="12633224" y="5360456"/>
                <a:ext cx="392508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2120=16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06829DEF-5BCC-41FC-9A56-76659B0A8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3224" y="5360456"/>
                <a:ext cx="3925080" cy="61555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88048793-8F45-421F-AE80-FA1FFF7D5689}"/>
                  </a:ext>
                </a:extLst>
              </p:cNvPr>
              <p:cNvSpPr txBox="1"/>
              <p:nvPr/>
            </p:nvSpPr>
            <p:spPr>
              <a:xfrm>
                <a:off x="12725400" y="6200566"/>
                <a:ext cx="5105400" cy="11935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>
                              <a:latin typeface="Cambria Math" panose="02040503050406030204" pitchFamily="18" charset="0"/>
                            </a:rPr>
                            <m:t>$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2120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=$132,5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88048793-8F45-421F-AE80-FA1FFF7D5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5400" y="6200566"/>
                <a:ext cx="5105400" cy="11935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Círculo: vacío 37">
            <a:extLst>
              <a:ext uri="{FF2B5EF4-FFF2-40B4-BE49-F238E27FC236}">
                <a16:creationId xmlns:a16="http://schemas.microsoft.com/office/drawing/2014/main" id="{164327C2-9693-4893-9E27-9CEEE241CB84}"/>
              </a:ext>
            </a:extLst>
          </p:cNvPr>
          <p:cNvSpPr/>
          <p:nvPr/>
        </p:nvSpPr>
        <p:spPr>
          <a:xfrm>
            <a:off x="3924301" y="2337174"/>
            <a:ext cx="1638300" cy="11430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ECEC73-DF85-4E80-B55F-D3235053BEF8}"/>
              </a:ext>
            </a:extLst>
          </p:cNvPr>
          <p:cNvSpPr/>
          <p:nvPr/>
        </p:nvSpPr>
        <p:spPr>
          <a:xfrm>
            <a:off x="0" y="3575466"/>
            <a:ext cx="11430000" cy="507239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B863CBE5-AF4B-4BFA-BA80-6146522369F8}"/>
                  </a:ext>
                </a:extLst>
              </p:cNvPr>
              <p:cNvSpPr txBox="1"/>
              <p:nvPr/>
            </p:nvSpPr>
            <p:spPr>
              <a:xfrm>
                <a:off x="-115080" y="3623112"/>
                <a:ext cx="560148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$2100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−$700=10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B863CBE5-AF4B-4BFA-BA80-614652236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5080" y="3623112"/>
                <a:ext cx="5601480" cy="61555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5EBFA46F-FA85-4112-B45E-63A0426930D8}"/>
                  </a:ext>
                </a:extLst>
              </p:cNvPr>
              <p:cNvSpPr txBox="1"/>
              <p:nvPr/>
            </p:nvSpPr>
            <p:spPr>
              <a:xfrm>
                <a:off x="53296" y="4260609"/>
                <a:ext cx="3325871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$1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400=10.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5EBFA46F-FA85-4112-B45E-63A042693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6" y="4260609"/>
                <a:ext cx="3325871" cy="61555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8AD2034D-C28E-402D-BB19-07AEFCC20B48}"/>
                  </a:ext>
                </a:extLst>
              </p:cNvPr>
              <p:cNvSpPr txBox="1"/>
              <p:nvPr/>
            </p:nvSpPr>
            <p:spPr>
              <a:xfrm>
                <a:off x="-115080" y="5119251"/>
                <a:ext cx="4572000" cy="11935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>
                              <a:latin typeface="Cambria Math" panose="02040503050406030204" pitchFamily="18" charset="0"/>
                            </a:rPr>
                            <m:t>$1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00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=$140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8AD2034D-C28E-402D-BB19-07AEFCC20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5080" y="5119251"/>
                <a:ext cx="4572000" cy="11935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D732A2C1-CA89-4A1D-B16B-A6923B2D0BE5}"/>
                  </a:ext>
                </a:extLst>
              </p:cNvPr>
              <p:cNvSpPr txBox="1"/>
              <p:nvPr/>
            </p:nvSpPr>
            <p:spPr>
              <a:xfrm>
                <a:off x="5741368" y="3695212"/>
                <a:ext cx="560148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$2100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+$320=16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D732A2C1-CA89-4A1D-B16B-A6923B2D0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368" y="3695212"/>
                <a:ext cx="5601480" cy="61555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51121958-C1C8-4C71-9005-A2B446701780}"/>
                  </a:ext>
                </a:extLst>
              </p:cNvPr>
              <p:cNvSpPr txBox="1"/>
              <p:nvPr/>
            </p:nvSpPr>
            <p:spPr>
              <a:xfrm>
                <a:off x="5741368" y="4556637"/>
                <a:ext cx="392508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2420=16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51121958-C1C8-4C71-9005-A2B446701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368" y="4556637"/>
                <a:ext cx="3925080" cy="61555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76F88BBA-FB74-47D0-A753-0255706FC61A}"/>
                  </a:ext>
                </a:extLst>
              </p:cNvPr>
              <p:cNvSpPr txBox="1"/>
              <p:nvPr/>
            </p:nvSpPr>
            <p:spPr>
              <a:xfrm>
                <a:off x="5618018" y="5523499"/>
                <a:ext cx="5105400" cy="11935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>
                              <a:latin typeface="Cambria Math" panose="02040503050406030204" pitchFamily="18" charset="0"/>
                            </a:rPr>
                            <m:t>$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2420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=$151,25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76F88BBA-FB74-47D0-A753-0255706FC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018" y="5523499"/>
                <a:ext cx="5105400" cy="11935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ángulo 45">
            <a:extLst>
              <a:ext uri="{FF2B5EF4-FFF2-40B4-BE49-F238E27FC236}">
                <a16:creationId xmlns:a16="http://schemas.microsoft.com/office/drawing/2014/main" id="{B2A9A70B-7570-4363-8FB3-2DFDC611C9F3}"/>
              </a:ext>
            </a:extLst>
          </p:cNvPr>
          <p:cNvSpPr/>
          <p:nvPr/>
        </p:nvSpPr>
        <p:spPr>
          <a:xfrm>
            <a:off x="11597815" y="1900291"/>
            <a:ext cx="6635155" cy="74584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Círculo: vacío 46">
            <a:extLst>
              <a:ext uri="{FF2B5EF4-FFF2-40B4-BE49-F238E27FC236}">
                <a16:creationId xmlns:a16="http://schemas.microsoft.com/office/drawing/2014/main" id="{B8366F65-4FD1-40BF-B360-C1E85E752F56}"/>
              </a:ext>
            </a:extLst>
          </p:cNvPr>
          <p:cNvSpPr/>
          <p:nvPr/>
        </p:nvSpPr>
        <p:spPr>
          <a:xfrm>
            <a:off x="5787328" y="2365620"/>
            <a:ext cx="1638300" cy="11430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AF46FD23-9C1E-48D3-B973-5A31C43E401F}"/>
                  </a:ext>
                </a:extLst>
              </p:cNvPr>
              <p:cNvSpPr txBox="1"/>
              <p:nvPr/>
            </p:nvSpPr>
            <p:spPr>
              <a:xfrm>
                <a:off x="11695920" y="1969484"/>
                <a:ext cx="560148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$2400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−$700=10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AF46FD23-9C1E-48D3-B973-5A31C43E4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5920" y="1969484"/>
                <a:ext cx="5601480" cy="61555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E27C1421-7CA1-4401-8CD7-BFD292E406E5}"/>
                  </a:ext>
                </a:extLst>
              </p:cNvPr>
              <p:cNvSpPr txBox="1"/>
              <p:nvPr/>
            </p:nvSpPr>
            <p:spPr>
              <a:xfrm>
                <a:off x="11799198" y="2771304"/>
                <a:ext cx="3325871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$1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700=10.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E27C1421-7CA1-4401-8CD7-BFD292E40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9198" y="2771304"/>
                <a:ext cx="3325871" cy="61555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A675E303-F39A-4868-AA3A-339B013AE5F5}"/>
                  </a:ext>
                </a:extLst>
              </p:cNvPr>
              <p:cNvSpPr txBox="1"/>
              <p:nvPr/>
            </p:nvSpPr>
            <p:spPr>
              <a:xfrm>
                <a:off x="11730946" y="3670881"/>
                <a:ext cx="4572000" cy="11935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>
                              <a:latin typeface="Cambria Math" panose="02040503050406030204" pitchFamily="18" charset="0"/>
                            </a:rPr>
                            <m:t>$1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00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=$170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A675E303-F39A-4868-AA3A-339B013AE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0946" y="3670881"/>
                <a:ext cx="4572000" cy="11935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53EFCBDA-0C04-470B-8139-73D2D529F261}"/>
                  </a:ext>
                </a:extLst>
              </p:cNvPr>
              <p:cNvSpPr txBox="1"/>
              <p:nvPr/>
            </p:nvSpPr>
            <p:spPr>
              <a:xfrm>
                <a:off x="11788097" y="5074731"/>
                <a:ext cx="560148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$2400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+$320=16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53EFCBDA-0C04-470B-8139-73D2D529F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8097" y="5074731"/>
                <a:ext cx="5601480" cy="61555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46D20B0C-095B-430B-8376-4C38BEAB7905}"/>
                  </a:ext>
                </a:extLst>
              </p:cNvPr>
              <p:cNvSpPr txBox="1"/>
              <p:nvPr/>
            </p:nvSpPr>
            <p:spPr>
              <a:xfrm>
                <a:off x="11944047" y="5940209"/>
                <a:ext cx="392508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2720=16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46D20B0C-095B-430B-8376-4C38BEAB7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4047" y="5940209"/>
                <a:ext cx="3925080" cy="61555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B54305E1-A391-411A-8C07-7F39D8A9549E}"/>
                  </a:ext>
                </a:extLst>
              </p:cNvPr>
              <p:cNvSpPr txBox="1"/>
              <p:nvPr/>
            </p:nvSpPr>
            <p:spPr>
              <a:xfrm>
                <a:off x="12043064" y="6923005"/>
                <a:ext cx="4259882" cy="11935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>
                              <a:latin typeface="Cambria Math" panose="02040503050406030204" pitchFamily="18" charset="0"/>
                            </a:rPr>
                            <m:t>$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2720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=$170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B54305E1-A391-411A-8C07-7F39D8A95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3064" y="6923005"/>
                <a:ext cx="4259882" cy="11935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36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4" grpId="0" animBg="1"/>
      <p:bldP spid="31" grpId="0" animBg="1"/>
      <p:bldP spid="38" grpId="0" animBg="1"/>
      <p:bldP spid="5" grpId="0" animBg="1"/>
      <p:bldP spid="46" grpId="0" animBg="1"/>
      <p:bldP spid="4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856892" y="2499753"/>
            <a:ext cx="16004572" cy="3826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8"/>
              </a:lnSpc>
            </a:pP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Con el dinero que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Elena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puede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comprar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10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naranjas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y le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sobran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$700;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pero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le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faltan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$ 320 para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poder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comprar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16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naranjas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. La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cantidad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de dinero que </a:t>
            </a:r>
            <a:r>
              <a:rPr lang="en-US" sz="5615" spc="303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5615" spc="303" dirty="0">
                <a:solidFill>
                  <a:srgbClr val="000000"/>
                </a:solidFill>
                <a:latin typeface="Quicksand"/>
              </a:rPr>
              <a:t> Elena es de: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65123" y="854128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$1.700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66373" y="8537260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$1.800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531760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$2.100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64578" y="8537260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$2.400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F956AB35-BB39-4A16-A7C7-7F2442C228E2}"/>
              </a:ext>
            </a:extLst>
          </p:cNvPr>
          <p:cNvSpPr/>
          <p:nvPr/>
        </p:nvSpPr>
        <p:spPr>
          <a:xfrm>
            <a:off x="12207963" y="6319143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602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028700" y="2477596"/>
            <a:ext cx="16004572" cy="371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92"/>
              </a:lnSpc>
            </a:pP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Un padre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ahora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cuádruple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de la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edad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su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hijo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pero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dentro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de 18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años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solo lo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dobla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. La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edad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del padre es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actualmente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de: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65123" y="8845767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33 años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66373" y="884174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40 años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841307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36 años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841307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56 años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70">
            <a:extLst>
              <a:ext uri="{FF2B5EF4-FFF2-40B4-BE49-F238E27FC236}">
                <a16:creationId xmlns:a16="http://schemas.microsoft.com/office/drawing/2014/main" id="{48FF10FF-8E77-40EA-A7BC-174D1136039B}"/>
              </a:ext>
            </a:extLst>
          </p:cNvPr>
          <p:cNvSpPr txBox="1"/>
          <p:nvPr/>
        </p:nvSpPr>
        <p:spPr>
          <a:xfrm>
            <a:off x="190500" y="266700"/>
            <a:ext cx="17907000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spc="368" dirty="0">
                <a:solidFill>
                  <a:srgbClr val="000000"/>
                </a:solidFill>
                <a:latin typeface="Quicksand"/>
              </a:rPr>
              <a:t>Un padre </a:t>
            </a:r>
            <a:r>
              <a:rPr lang="en-US" sz="2400" spc="368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2400" spc="36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68" dirty="0" err="1">
                <a:solidFill>
                  <a:srgbClr val="000000"/>
                </a:solidFill>
                <a:latin typeface="Quicksand"/>
              </a:rPr>
              <a:t>ahora</a:t>
            </a:r>
            <a:r>
              <a:rPr lang="en-US" sz="2400" spc="368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2400" spc="368" dirty="0" err="1">
                <a:solidFill>
                  <a:srgbClr val="000000"/>
                </a:solidFill>
                <a:latin typeface="Quicksand"/>
              </a:rPr>
              <a:t>cuádruple</a:t>
            </a:r>
            <a:r>
              <a:rPr lang="en-US" sz="2400" spc="368" dirty="0">
                <a:solidFill>
                  <a:srgbClr val="000000"/>
                </a:solidFill>
                <a:latin typeface="Quicksand"/>
              </a:rPr>
              <a:t> de la </a:t>
            </a:r>
            <a:r>
              <a:rPr lang="en-US" sz="2400" spc="368" dirty="0" err="1">
                <a:solidFill>
                  <a:srgbClr val="000000"/>
                </a:solidFill>
                <a:latin typeface="Quicksand"/>
              </a:rPr>
              <a:t>edad</a:t>
            </a:r>
            <a:r>
              <a:rPr lang="en-US" sz="2400" spc="368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368" dirty="0" err="1">
                <a:solidFill>
                  <a:srgbClr val="000000"/>
                </a:solidFill>
                <a:latin typeface="Quicksand"/>
              </a:rPr>
              <a:t>su</a:t>
            </a:r>
            <a:r>
              <a:rPr lang="en-US" sz="2400" spc="36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68" dirty="0" err="1">
                <a:solidFill>
                  <a:srgbClr val="000000"/>
                </a:solidFill>
                <a:latin typeface="Quicksand"/>
              </a:rPr>
              <a:t>hijo</a:t>
            </a:r>
            <a:r>
              <a:rPr lang="en-US" sz="2400" spc="368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2400" spc="368" dirty="0" err="1">
                <a:solidFill>
                  <a:srgbClr val="000000"/>
                </a:solidFill>
                <a:latin typeface="Quicksand"/>
              </a:rPr>
              <a:t>pero</a:t>
            </a:r>
            <a:r>
              <a:rPr lang="en-US" sz="2400" spc="36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68" dirty="0" err="1">
                <a:solidFill>
                  <a:srgbClr val="000000"/>
                </a:solidFill>
                <a:latin typeface="Quicksand"/>
              </a:rPr>
              <a:t>dentro</a:t>
            </a:r>
            <a:r>
              <a:rPr lang="en-US" sz="2400" spc="368" dirty="0">
                <a:solidFill>
                  <a:srgbClr val="000000"/>
                </a:solidFill>
                <a:latin typeface="Quicksand"/>
              </a:rPr>
              <a:t> de 18 </a:t>
            </a:r>
            <a:r>
              <a:rPr lang="en-US" sz="2400" spc="368" dirty="0" err="1">
                <a:solidFill>
                  <a:srgbClr val="000000"/>
                </a:solidFill>
                <a:latin typeface="Quicksand"/>
              </a:rPr>
              <a:t>años</a:t>
            </a:r>
            <a:r>
              <a:rPr lang="en-US" sz="2400" spc="368" dirty="0">
                <a:solidFill>
                  <a:srgbClr val="000000"/>
                </a:solidFill>
                <a:latin typeface="Quicksand"/>
              </a:rPr>
              <a:t> solo lo </a:t>
            </a:r>
            <a:r>
              <a:rPr lang="en-US" sz="2400" spc="368" dirty="0" err="1">
                <a:solidFill>
                  <a:srgbClr val="000000"/>
                </a:solidFill>
                <a:latin typeface="Quicksand"/>
              </a:rPr>
              <a:t>dobla</a:t>
            </a:r>
            <a:r>
              <a:rPr lang="en-US" sz="2400" spc="368" dirty="0">
                <a:solidFill>
                  <a:srgbClr val="000000"/>
                </a:solidFill>
                <a:latin typeface="Quicksand"/>
              </a:rPr>
              <a:t>. La </a:t>
            </a:r>
            <a:r>
              <a:rPr lang="en-US" sz="2400" spc="368" dirty="0" err="1">
                <a:solidFill>
                  <a:srgbClr val="000000"/>
                </a:solidFill>
                <a:latin typeface="Quicksand"/>
              </a:rPr>
              <a:t>edad</a:t>
            </a:r>
            <a:r>
              <a:rPr lang="en-US" sz="2400" spc="368" dirty="0">
                <a:solidFill>
                  <a:srgbClr val="000000"/>
                </a:solidFill>
                <a:latin typeface="Quicksand"/>
              </a:rPr>
              <a:t> del padre es </a:t>
            </a:r>
            <a:r>
              <a:rPr lang="en-US" sz="2400" spc="368" dirty="0" err="1">
                <a:solidFill>
                  <a:srgbClr val="000000"/>
                </a:solidFill>
                <a:latin typeface="Quicksand"/>
              </a:rPr>
              <a:t>actualmente</a:t>
            </a:r>
            <a:r>
              <a:rPr lang="en-US" sz="2400" spc="368" dirty="0">
                <a:solidFill>
                  <a:srgbClr val="000000"/>
                </a:solidFill>
                <a:latin typeface="Quicksand"/>
              </a:rPr>
              <a:t> de: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81CBC5B-81D2-4962-962E-39A6F9FE0048}"/>
                  </a:ext>
                </a:extLst>
              </p:cNvPr>
              <p:cNvSpPr txBox="1"/>
              <p:nvPr/>
            </p:nvSpPr>
            <p:spPr>
              <a:xfrm>
                <a:off x="190500" y="1866900"/>
                <a:ext cx="38481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𝑃𝑎𝑑𝑟𝑒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=4×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h𝑖𝑗𝑜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81CBC5B-81D2-4962-962E-39A6F9FE0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1866900"/>
                <a:ext cx="3848100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9A2BCF53-8ACF-4431-84FD-4643F2F2EA5A}"/>
                  </a:ext>
                </a:extLst>
              </p:cNvPr>
              <p:cNvSpPr txBox="1"/>
              <p:nvPr/>
            </p:nvSpPr>
            <p:spPr>
              <a:xfrm>
                <a:off x="4953000" y="1866900"/>
                <a:ext cx="72390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𝑃𝑎𝑑𝑟𝑒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+18=2×(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h𝑖𝑗𝑜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+18)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9A2BCF53-8ACF-4431-84FD-4643F2F2E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1866900"/>
                <a:ext cx="7239000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73FB024F-0BCB-4CEC-AB27-00A2C87E9397}"/>
                  </a:ext>
                </a:extLst>
              </p:cNvPr>
              <p:cNvSpPr txBox="1"/>
              <p:nvPr/>
            </p:nvSpPr>
            <p:spPr>
              <a:xfrm>
                <a:off x="5181600" y="2636103"/>
                <a:ext cx="60198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4.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h𝑖𝑗𝑜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+18=2.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h𝑖𝑗𝑜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+36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73FB024F-0BCB-4CEC-AB27-00A2C87E9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2636103"/>
                <a:ext cx="6019800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928E3770-F8B8-46EB-BEA0-4E2172DE254F}"/>
                  </a:ext>
                </a:extLst>
              </p:cNvPr>
              <p:cNvSpPr txBox="1"/>
              <p:nvPr/>
            </p:nvSpPr>
            <p:spPr>
              <a:xfrm>
                <a:off x="5181600" y="3568019"/>
                <a:ext cx="60198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4.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h𝑖𝑗𝑜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−2.</m:t>
                      </m:r>
                      <m:r>
                        <a:rPr lang="es-E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h𝑖𝑗𝑜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36−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928E3770-F8B8-46EB-BEA0-4E2172DE2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3568019"/>
                <a:ext cx="6019800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C603352B-0B4D-4794-B48C-5D7AF7ECBC05}"/>
                  </a:ext>
                </a:extLst>
              </p:cNvPr>
              <p:cNvSpPr txBox="1"/>
              <p:nvPr/>
            </p:nvSpPr>
            <p:spPr>
              <a:xfrm>
                <a:off x="5181600" y="4343019"/>
                <a:ext cx="31242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>
                          <a:latin typeface="Cambria Math" panose="02040503050406030204" pitchFamily="18" charset="0"/>
                        </a:rPr>
                        <m:t>2.</m:t>
                      </m:r>
                      <m:r>
                        <a:rPr lang="es-ES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h𝑖𝑗𝑜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C603352B-0B4D-4794-B48C-5D7AF7ECB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4343019"/>
                <a:ext cx="3124200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EAD27045-046F-4A3C-AF80-99C346269360}"/>
                  </a:ext>
                </a:extLst>
              </p:cNvPr>
              <p:cNvSpPr txBox="1"/>
              <p:nvPr/>
            </p:nvSpPr>
            <p:spPr>
              <a:xfrm>
                <a:off x="5413664" y="5176573"/>
                <a:ext cx="3124200" cy="11524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h𝑖𝑗𝑜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EAD27045-046F-4A3C-AF80-99C346269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664" y="5176573"/>
                <a:ext cx="3124200" cy="11524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ED7FE212-DC5E-4770-AB69-77E2A40E95C0}"/>
                  </a:ext>
                </a:extLst>
              </p:cNvPr>
              <p:cNvSpPr txBox="1"/>
              <p:nvPr/>
            </p:nvSpPr>
            <p:spPr>
              <a:xfrm>
                <a:off x="190500" y="2940691"/>
                <a:ext cx="38481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𝑃𝑎𝑑𝑟𝑒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=4×9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ED7FE212-DC5E-4770-AB69-77E2A40E9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2940691"/>
                <a:ext cx="3848100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5667A11F-D733-49C4-B81C-383FD6E539CA}"/>
                  </a:ext>
                </a:extLst>
              </p:cNvPr>
              <p:cNvSpPr txBox="1"/>
              <p:nvPr/>
            </p:nvSpPr>
            <p:spPr>
              <a:xfrm>
                <a:off x="183573" y="3875795"/>
                <a:ext cx="38481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𝑃𝑎𝑑𝑟𝑒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=36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ñ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𝑜𝑠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5667A11F-D733-49C4-B81C-383FD6E53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73" y="3875795"/>
                <a:ext cx="3848100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92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028700" y="2477596"/>
            <a:ext cx="16004572" cy="371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92"/>
              </a:lnSpc>
            </a:pP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Un padre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ahora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cuádruple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de la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edad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su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hijo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pero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dentro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de 18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años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solo lo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dobla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. La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edad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del padre es </a:t>
            </a:r>
            <a:r>
              <a:rPr lang="en-US" sz="6815" spc="368" dirty="0" err="1">
                <a:solidFill>
                  <a:srgbClr val="000000"/>
                </a:solidFill>
                <a:latin typeface="Quicksand"/>
              </a:rPr>
              <a:t>actualmente</a:t>
            </a:r>
            <a:r>
              <a:rPr lang="en-US" sz="6815" spc="368" dirty="0">
                <a:solidFill>
                  <a:srgbClr val="000000"/>
                </a:solidFill>
                <a:latin typeface="Quicksand"/>
              </a:rPr>
              <a:t> de: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65123" y="8845767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33 años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66373" y="884174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40 años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841307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36 años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841307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56 años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01B670E6-0672-482E-9A02-CF1101E7F906}"/>
              </a:ext>
            </a:extLst>
          </p:cNvPr>
          <p:cNvSpPr/>
          <p:nvPr/>
        </p:nvSpPr>
        <p:spPr>
          <a:xfrm>
            <a:off x="9275893" y="6461645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411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856892" y="2073591"/>
            <a:ext cx="16076463" cy="443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88"/>
              </a:lnSpc>
            </a:pP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apartamento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tanque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agua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totalmente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lleno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.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un día se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consumió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medio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tanque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agua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; al día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siguiente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, la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cuarta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de lo que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quedaba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; el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tercer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día se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consumieron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15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litros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agua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, es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decir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, la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tercera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de lo que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quedaba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. ¿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Cuál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es la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capacidad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tanque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agua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65123" y="8845767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15 litros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66373" y="884174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30 litros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841307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60 litros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841307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120 litros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70">
            <a:extLst>
              <a:ext uri="{FF2B5EF4-FFF2-40B4-BE49-F238E27FC236}">
                <a16:creationId xmlns:a16="http://schemas.microsoft.com/office/drawing/2014/main" id="{48FF10FF-8E77-40EA-A7BC-174D1136039B}"/>
              </a:ext>
            </a:extLst>
          </p:cNvPr>
          <p:cNvSpPr txBox="1"/>
          <p:nvPr/>
        </p:nvSpPr>
        <p:spPr>
          <a:xfrm>
            <a:off x="190500" y="266700"/>
            <a:ext cx="17907000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apartamento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tanque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agua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totalmente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lleno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.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un día se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consumió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medio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tanque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agua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; al día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siguiente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, la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cuarta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de lo que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quedaba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; el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tercer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día se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consumieron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15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litros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agua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, es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decir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, la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tercera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de lo que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quedaba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. ¿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Cuál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es la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capacidad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tanque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51" dirty="0" err="1">
                <a:solidFill>
                  <a:srgbClr val="000000"/>
                </a:solidFill>
                <a:latin typeface="Quicksand"/>
              </a:rPr>
              <a:t>agua</a:t>
            </a:r>
            <a:r>
              <a:rPr lang="en-US" sz="2400" spc="251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81CBC5B-81D2-4962-962E-39A6F9FE0048}"/>
                  </a:ext>
                </a:extLst>
              </p:cNvPr>
              <p:cNvSpPr txBox="1"/>
              <p:nvPr/>
            </p:nvSpPr>
            <p:spPr>
              <a:xfrm>
                <a:off x="190500" y="2324100"/>
                <a:ext cx="3848100" cy="11524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𝑃𝑟𝑖𝑚𝑒𝑟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𝑐𝑜𝑛𝑠𝑢𝑚𝑖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ó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𝑞𝑢𝑒𝑑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ó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81CBC5B-81D2-4962-962E-39A6F9FE0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2324100"/>
                <a:ext cx="3848100" cy="1152495"/>
              </a:xfrm>
              <a:prstGeom prst="rect">
                <a:avLst/>
              </a:prstGeom>
              <a:blipFill>
                <a:blip r:embed="rId3"/>
                <a:stretch>
                  <a:fillRect r="-9841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6514E4B-EDCD-4E2C-A269-2ADA49983B18}"/>
                  </a:ext>
                </a:extLst>
              </p:cNvPr>
              <p:cNvSpPr txBox="1"/>
              <p:nvPr/>
            </p:nvSpPr>
            <p:spPr>
              <a:xfrm>
                <a:off x="-152400" y="3682230"/>
                <a:ext cx="9754378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𝑆𝑒𝑔𝑢𝑛𝑑𝑜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𝑐𝑜𝑛𝑠𝑢𝑚𝑖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ó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𝑙𝑜𝑠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6514E4B-EDCD-4E2C-A269-2ADA49983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2400" y="3682230"/>
                <a:ext cx="9754378" cy="11564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F8A47A6-AF69-4448-A17B-4A413303F82F}"/>
                  </a:ext>
                </a:extLst>
              </p:cNvPr>
              <p:cNvSpPr txBox="1"/>
              <p:nvPr/>
            </p:nvSpPr>
            <p:spPr>
              <a:xfrm>
                <a:off x="-56198" y="4838700"/>
                <a:ext cx="3560618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𝑄𝑢𝑒𝑑𝑎𝑛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F8A47A6-AF69-4448-A17B-4A413303F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198" y="4838700"/>
                <a:ext cx="3560618" cy="11564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E597CFC-48F4-450A-A60C-677795AAF1B1}"/>
                  </a:ext>
                </a:extLst>
              </p:cNvPr>
              <p:cNvSpPr txBox="1"/>
              <p:nvPr/>
            </p:nvSpPr>
            <p:spPr>
              <a:xfrm>
                <a:off x="2944480" y="4870066"/>
                <a:ext cx="3560618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E597CFC-48F4-450A-A60C-677795AAF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4480" y="4870066"/>
                <a:ext cx="3560618" cy="11564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F25C0AA-F179-498B-8C2E-49864928ACA9}"/>
                  </a:ext>
                </a:extLst>
              </p:cNvPr>
              <p:cNvSpPr txBox="1"/>
              <p:nvPr/>
            </p:nvSpPr>
            <p:spPr>
              <a:xfrm>
                <a:off x="5181600" y="4870066"/>
                <a:ext cx="3560618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4−1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F25C0AA-F179-498B-8C2E-49864928A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4870066"/>
                <a:ext cx="3560618" cy="11564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021965D2-1712-4276-869B-BAF2DD915ADC}"/>
                  </a:ext>
                </a:extLst>
              </p:cNvPr>
              <p:cNvSpPr txBox="1"/>
              <p:nvPr/>
            </p:nvSpPr>
            <p:spPr>
              <a:xfrm>
                <a:off x="7363691" y="4870066"/>
                <a:ext cx="3560618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021965D2-1712-4276-869B-BAF2DD915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3691" y="4870066"/>
                <a:ext cx="3560618" cy="11564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342909F-A98D-4C1D-82F8-AA2819374EA6}"/>
                  </a:ext>
                </a:extLst>
              </p:cNvPr>
              <p:cNvSpPr txBox="1"/>
              <p:nvPr/>
            </p:nvSpPr>
            <p:spPr>
              <a:xfrm>
                <a:off x="138544" y="6504786"/>
                <a:ext cx="4204856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𝑇𝑒𝑟𝑐𝑒𝑟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342909F-A98D-4C1D-82F8-AA2819374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44" y="6504786"/>
                <a:ext cx="4204856" cy="115647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5D43206-AB07-43C2-8C3B-E97F2D1A7FF0}"/>
                  </a:ext>
                </a:extLst>
              </p:cNvPr>
              <p:cNvSpPr txBox="1"/>
              <p:nvPr/>
            </p:nvSpPr>
            <p:spPr>
              <a:xfrm>
                <a:off x="2882133" y="6536152"/>
                <a:ext cx="4204856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5D43206-AB07-43C2-8C3B-E97F2D1A7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133" y="6536152"/>
                <a:ext cx="4204856" cy="11564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CD2B7BE-06A7-4D3B-B568-04EB71E8339C}"/>
                  </a:ext>
                </a:extLst>
              </p:cNvPr>
              <p:cNvSpPr txBox="1"/>
              <p:nvPr/>
            </p:nvSpPr>
            <p:spPr>
              <a:xfrm>
                <a:off x="4939144" y="6806610"/>
                <a:ext cx="4204856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=15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𝑙𝑖𝑡𝑟𝑜𝑠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CD2B7BE-06A7-4D3B-B568-04EB71E83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144" y="6806610"/>
                <a:ext cx="420485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277B7622-94AE-4555-9E9B-CA24201F921E}"/>
                  </a:ext>
                </a:extLst>
              </p:cNvPr>
              <p:cNvSpPr txBox="1"/>
              <p:nvPr/>
            </p:nvSpPr>
            <p:spPr>
              <a:xfrm>
                <a:off x="9947564" y="2196743"/>
                <a:ext cx="8115300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𝑡𝑎𝑛𝑞𝑢𝑒</m:t>
                      </m:r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−−−−−−−−−15 </m:t>
                      </m:r>
                      <m:r>
                        <m:rPr>
                          <m:sty m:val="p"/>
                        </m:rPr>
                        <a:rPr lang="es-ES" sz="4000" b="0" i="0" smtClean="0">
                          <a:latin typeface="Cambria Math" panose="02040503050406030204" pitchFamily="18" charset="0"/>
                        </a:rPr>
                        <m:t>litros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277B7622-94AE-4555-9E9B-CA24201F9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64" y="2196743"/>
                <a:ext cx="8115300" cy="11564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2C532862-C61A-4CDC-94E3-6EE0EFE00C8F}"/>
                  </a:ext>
                </a:extLst>
              </p:cNvPr>
              <p:cNvSpPr txBox="1"/>
              <p:nvPr/>
            </p:nvSpPr>
            <p:spPr>
              <a:xfrm>
                <a:off x="9947564" y="3469889"/>
                <a:ext cx="81153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𝑡𝑎𝑛𝑞𝑢𝑒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−−−−−−−−−−          </m:t>
                      </m:r>
                      <m:r>
                        <m:rPr>
                          <m:sty m:val="p"/>
                        </m:rPr>
                        <a:rPr lang="es-ES" sz="40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2C532862-C61A-4CDC-94E3-6EE0EFE00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64" y="3469889"/>
                <a:ext cx="8115300" cy="6155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7F7ED7F3-3699-46A6-A75B-D6142FDC3658}"/>
                  </a:ext>
                </a:extLst>
              </p:cNvPr>
              <p:cNvSpPr txBox="1"/>
              <p:nvPr/>
            </p:nvSpPr>
            <p:spPr>
              <a:xfrm>
                <a:off x="9698180" y="4801382"/>
                <a:ext cx="8115300" cy="16655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40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15 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𝑙𝑖𝑡𝑟𝑜𝑠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 ×1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𝑡𝑎𝑛𝑞𝑢𝑒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f>
                            <m:fPr>
                              <m:ctrlP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𝑡𝑎𝑛𝑞𝑢𝑒</m:t>
                          </m:r>
                        </m:den>
                      </m:f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7F7ED7F3-3699-46A6-A75B-D6142FDC3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180" y="4801382"/>
                <a:ext cx="8115300" cy="166558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28CE519C-4B13-460D-A2AC-2236366786AA}"/>
                  </a:ext>
                </a:extLst>
              </p:cNvPr>
              <p:cNvSpPr txBox="1"/>
              <p:nvPr/>
            </p:nvSpPr>
            <p:spPr>
              <a:xfrm>
                <a:off x="10286612" y="6642937"/>
                <a:ext cx="5105400" cy="1164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40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15 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𝑙𝑖𝑡𝑟𝑜𝑠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 ×8  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28CE519C-4B13-460D-A2AC-223636678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6612" y="6642937"/>
                <a:ext cx="5105400" cy="1164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B239C82D-4BD0-4E80-B149-D8BDC6F3F6C2}"/>
                  </a:ext>
                </a:extLst>
              </p:cNvPr>
              <p:cNvSpPr txBox="1"/>
              <p:nvPr/>
            </p:nvSpPr>
            <p:spPr>
              <a:xfrm>
                <a:off x="14020800" y="6917659"/>
                <a:ext cx="51054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=120 </m:t>
                      </m:r>
                      <m:r>
                        <m:rPr>
                          <m:sty m:val="p"/>
                        </m:rPr>
                        <a:rPr lang="es-ES" sz="4000" b="0" i="0" smtClean="0">
                          <a:latin typeface="Cambria Math" panose="02040503050406030204" pitchFamily="18" charset="0"/>
                        </a:rPr>
                        <m:t>litros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B239C82D-4BD0-4E80-B149-D8BDC6F3F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800" y="6917659"/>
                <a:ext cx="5105400" cy="61555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3EE1DE9F-2E11-4A8A-B0BD-9753C62650C8}"/>
              </a:ext>
            </a:extLst>
          </p:cNvPr>
          <p:cNvCxnSpPr/>
          <p:nvPr/>
        </p:nvCxnSpPr>
        <p:spPr>
          <a:xfrm flipV="1">
            <a:off x="14478000" y="4870066"/>
            <a:ext cx="2095500" cy="578235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9EE9E70A-97DE-4CD8-9534-16822EDBFA11}"/>
              </a:ext>
            </a:extLst>
          </p:cNvPr>
          <p:cNvCxnSpPr/>
          <p:nvPr/>
        </p:nvCxnSpPr>
        <p:spPr>
          <a:xfrm flipV="1">
            <a:off x="13348853" y="5789978"/>
            <a:ext cx="2095500" cy="578235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29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856892" y="2073591"/>
            <a:ext cx="16076463" cy="443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88"/>
              </a:lnSpc>
            </a:pP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apartamento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tanque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agua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totalmente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lleno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.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un día se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consumió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medio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tanque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agua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; al día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siguiente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, la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cuarta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de lo que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quedaba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; el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tercer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día se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consumieron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15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litros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agua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, es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decir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, la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tercera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parte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de lo que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quedaba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. ¿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Cuál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es la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capacidad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tanque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662" spc="251" dirty="0" err="1">
                <a:solidFill>
                  <a:srgbClr val="000000"/>
                </a:solidFill>
                <a:latin typeface="Quicksand"/>
              </a:rPr>
              <a:t>agua</a:t>
            </a:r>
            <a:r>
              <a:rPr lang="en-US" sz="4662" spc="251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65123" y="8845767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15 litros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66373" y="884174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30 litros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841307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60 litros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841307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120 litros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53DB17EF-1E58-4DD5-A26E-DDDA73859286}"/>
              </a:ext>
            </a:extLst>
          </p:cNvPr>
          <p:cNvSpPr/>
          <p:nvPr/>
        </p:nvSpPr>
        <p:spPr>
          <a:xfrm>
            <a:off x="12367359" y="6259754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812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868929" y="2264710"/>
            <a:ext cx="16076463" cy="409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38"/>
              </a:lnSpc>
            </a:pP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Al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comprar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Zayda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blusa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deberían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haberle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hecho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descuento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del 20%,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mientras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que, a Margarita, al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comprar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pantalón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deberían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haberle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hecho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descuento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del 10%. El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vendedor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equivoca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y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hace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descuento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al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revés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lo que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Zayda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paga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$2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más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y Margarita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paga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$ 5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menos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. ¿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Cuál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es la suma de dinero que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pagaron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Zayda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y Margarita?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544253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$70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66373" y="8534728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$58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53979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$72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64578" y="853979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$60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70">
            <a:extLst>
              <a:ext uri="{FF2B5EF4-FFF2-40B4-BE49-F238E27FC236}">
                <a16:creationId xmlns:a16="http://schemas.microsoft.com/office/drawing/2014/main" id="{48FF10FF-8E77-40EA-A7BC-174D1136039B}"/>
              </a:ext>
            </a:extLst>
          </p:cNvPr>
          <p:cNvSpPr txBox="1"/>
          <p:nvPr/>
        </p:nvSpPr>
        <p:spPr>
          <a:xfrm>
            <a:off x="190500" y="266700"/>
            <a:ext cx="17907000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Al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comprar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Zayda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blusa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deberían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haberle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hecho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descuento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del 20%,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mientras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que, a Margarita, al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comprar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pantalón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deberían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haberle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hecho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descuento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del 10%. El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vendedor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equivoca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y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hace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descuento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al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revés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lo que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Zayda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paga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$2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más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y Margarita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paga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$ 5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menos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. ¿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Cuál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es la suma de dinero que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pagaron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34" dirty="0" err="1">
                <a:solidFill>
                  <a:srgbClr val="000000"/>
                </a:solidFill>
                <a:latin typeface="Quicksand"/>
              </a:rPr>
              <a:t>Zayda</a:t>
            </a:r>
            <a:r>
              <a:rPr lang="en-US" sz="2400" spc="234" dirty="0">
                <a:solidFill>
                  <a:srgbClr val="000000"/>
                </a:solidFill>
                <a:latin typeface="Quicksand"/>
              </a:rPr>
              <a:t> y Margarita?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81CBC5B-81D2-4962-962E-39A6F9FE0048}"/>
                  </a:ext>
                </a:extLst>
              </p:cNvPr>
              <p:cNvSpPr txBox="1"/>
              <p:nvPr/>
            </p:nvSpPr>
            <p:spPr>
              <a:xfrm>
                <a:off x="381001" y="2324100"/>
                <a:ext cx="47244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𝑍𝑎𝑖𝑑𝑎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=$2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81CBC5B-81D2-4962-962E-39A6F9FE0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1" y="2324100"/>
                <a:ext cx="4724400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7024A622-9EBD-4F41-8B58-FACD60ECD29D}"/>
                  </a:ext>
                </a:extLst>
              </p:cNvPr>
              <p:cNvSpPr txBox="1"/>
              <p:nvPr/>
            </p:nvSpPr>
            <p:spPr>
              <a:xfrm>
                <a:off x="5562600" y="2324100"/>
                <a:ext cx="47244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𝑀𝑎𝑟𝑔𝑎𝑟𝑖𝑡𝑎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=$5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7024A622-9EBD-4F41-8B58-FACD60ECD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2324100"/>
                <a:ext cx="4724400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F40A98C6-5C3F-4B5E-8679-151A7B16A502}"/>
                  </a:ext>
                </a:extLst>
              </p:cNvPr>
              <p:cNvSpPr txBox="1"/>
              <p:nvPr/>
            </p:nvSpPr>
            <p:spPr>
              <a:xfrm>
                <a:off x="367146" y="3238500"/>
                <a:ext cx="47244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𝑍𝑎𝑖𝑑𝑎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=$20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F40A98C6-5C3F-4B5E-8679-151A7B16A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46" y="3238500"/>
                <a:ext cx="4724400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F70E1956-2499-4856-AE04-644F9D1F6D17}"/>
                  </a:ext>
                </a:extLst>
              </p:cNvPr>
              <p:cNvSpPr txBox="1"/>
              <p:nvPr/>
            </p:nvSpPr>
            <p:spPr>
              <a:xfrm>
                <a:off x="5527573" y="3238499"/>
                <a:ext cx="47244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𝑀𝑎𝑟𝑔𝑎𝑟𝑖𝑡𝑎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=$50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F70E1956-2499-4856-AE04-644F9D1F6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573" y="3238499"/>
                <a:ext cx="4724400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89E94AD7-FA10-4932-9F9A-C3F96604C8EA}"/>
                  </a:ext>
                </a:extLst>
              </p:cNvPr>
              <p:cNvSpPr txBox="1"/>
              <p:nvPr/>
            </p:nvSpPr>
            <p:spPr>
              <a:xfrm>
                <a:off x="381000" y="4280911"/>
                <a:ext cx="6019799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90%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𝑍𝑎𝑖𝑑𝑎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=$20×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89E94AD7-FA10-4932-9F9A-C3F96604C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280911"/>
                <a:ext cx="6019799" cy="11564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8E2F7267-5F93-4E72-8A39-28082A18BFB2}"/>
                  </a:ext>
                </a:extLst>
              </p:cNvPr>
              <p:cNvSpPr txBox="1"/>
              <p:nvPr/>
            </p:nvSpPr>
            <p:spPr>
              <a:xfrm>
                <a:off x="8458200" y="4291830"/>
                <a:ext cx="7391400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80%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𝑀𝑎𝑟𝑔𝑎𝑟𝑖𝑡𝑎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=$50×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8E2F7267-5F93-4E72-8A39-28082A18B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0" y="4291830"/>
                <a:ext cx="7391400" cy="11564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CD904C1F-DED1-40FE-9790-4EF5086A9008}"/>
                  </a:ext>
                </a:extLst>
              </p:cNvPr>
              <p:cNvSpPr txBox="1"/>
              <p:nvPr/>
            </p:nvSpPr>
            <p:spPr>
              <a:xfrm>
                <a:off x="3810000" y="4592540"/>
                <a:ext cx="601979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=$18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CD904C1F-DED1-40FE-9790-4EF5086A9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4592540"/>
                <a:ext cx="6019799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F8E50556-009E-4723-BD7E-2F868C665A17}"/>
                  </a:ext>
                </a:extLst>
              </p:cNvPr>
              <p:cNvSpPr txBox="1"/>
              <p:nvPr/>
            </p:nvSpPr>
            <p:spPr>
              <a:xfrm>
                <a:off x="13258799" y="4562288"/>
                <a:ext cx="601979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=$40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F8E50556-009E-4723-BD7E-2F868C665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8799" y="4562288"/>
                <a:ext cx="6019799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2D9C7E77-D229-4079-BE23-EE22C2F558A1}"/>
                  </a:ext>
                </a:extLst>
              </p:cNvPr>
              <p:cNvSpPr txBox="1"/>
              <p:nvPr/>
            </p:nvSpPr>
            <p:spPr>
              <a:xfrm>
                <a:off x="1371600" y="5986975"/>
                <a:ext cx="601979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𝑝𝑎𝑔𝑎𝑑𝑜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=$18+$40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2D9C7E77-D229-4079-BE23-EE22C2F55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986975"/>
                <a:ext cx="6019799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6AF9C6E7-F714-483B-91C8-7275C00BFA49}"/>
                  </a:ext>
                </a:extLst>
              </p:cNvPr>
              <p:cNvSpPr txBox="1"/>
              <p:nvPr/>
            </p:nvSpPr>
            <p:spPr>
              <a:xfrm>
                <a:off x="5371709" y="6001745"/>
                <a:ext cx="601979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=$58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6AF9C6E7-F714-483B-91C8-7275C00BF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709" y="6001745"/>
                <a:ext cx="6019799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82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868929" y="2264710"/>
            <a:ext cx="16076463" cy="409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38"/>
              </a:lnSpc>
            </a:pP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Al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comprar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Zayda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blusa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deberían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haberle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hecho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descuento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del 20%,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mientras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que, a Margarita, al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comprar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pantalón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deberían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haberle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hecho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descuento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del 10%. El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vendedor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equivoca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y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hace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descuento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al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revés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lo que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Zayda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paga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$2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más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y Margarita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paga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$ 5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menos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. ¿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Cuál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es la suma de dinero que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pagaron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335" spc="234" dirty="0" err="1">
                <a:solidFill>
                  <a:srgbClr val="000000"/>
                </a:solidFill>
                <a:latin typeface="Quicksand"/>
              </a:rPr>
              <a:t>Zayda</a:t>
            </a:r>
            <a:r>
              <a:rPr lang="en-US" sz="4335" spc="234" dirty="0">
                <a:solidFill>
                  <a:srgbClr val="000000"/>
                </a:solidFill>
                <a:latin typeface="Quicksand"/>
              </a:rPr>
              <a:t> y Margarita?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544253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$70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66373" y="8534728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$58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53979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$72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64578" y="853979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$60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D0FB0435-213D-4922-ADF3-61C068CA3063}"/>
              </a:ext>
            </a:extLst>
          </p:cNvPr>
          <p:cNvSpPr/>
          <p:nvPr/>
        </p:nvSpPr>
        <p:spPr>
          <a:xfrm>
            <a:off x="6176974" y="6280079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3208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856892" y="2474705"/>
            <a:ext cx="16076463" cy="369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5"/>
              </a:lnSpc>
            </a:pP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La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relación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entre las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edades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de dos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hermanas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es,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actualmente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, 3/2. Se sabe que,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dentro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de 8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años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dicha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relación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será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5/4. ¿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Cuál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es la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edad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actual de la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hermana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menor?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731498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4 años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66373" y="8696960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6 años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695562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8 años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696960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10 años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70">
            <a:extLst>
              <a:ext uri="{FF2B5EF4-FFF2-40B4-BE49-F238E27FC236}">
                <a16:creationId xmlns:a16="http://schemas.microsoft.com/office/drawing/2014/main" id="{48FF10FF-8E77-40EA-A7BC-174D1136039B}"/>
              </a:ext>
            </a:extLst>
          </p:cNvPr>
          <p:cNvSpPr txBox="1"/>
          <p:nvPr/>
        </p:nvSpPr>
        <p:spPr>
          <a:xfrm>
            <a:off x="190500" y="266700"/>
            <a:ext cx="17907000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spc="293" dirty="0">
                <a:solidFill>
                  <a:srgbClr val="000000"/>
                </a:solidFill>
                <a:latin typeface="Quicksand"/>
              </a:rPr>
              <a:t>La </a:t>
            </a:r>
            <a:r>
              <a:rPr lang="en-US" sz="2400" spc="293" dirty="0" err="1">
                <a:solidFill>
                  <a:srgbClr val="000000"/>
                </a:solidFill>
                <a:latin typeface="Quicksand"/>
              </a:rPr>
              <a:t>relación</a:t>
            </a:r>
            <a:r>
              <a:rPr lang="en-US" sz="2400" spc="293" dirty="0">
                <a:solidFill>
                  <a:srgbClr val="000000"/>
                </a:solidFill>
                <a:latin typeface="Quicksand"/>
              </a:rPr>
              <a:t> entre las </a:t>
            </a:r>
            <a:r>
              <a:rPr lang="en-US" sz="2400" spc="293" dirty="0" err="1">
                <a:solidFill>
                  <a:srgbClr val="000000"/>
                </a:solidFill>
                <a:latin typeface="Quicksand"/>
              </a:rPr>
              <a:t>edades</a:t>
            </a:r>
            <a:r>
              <a:rPr lang="en-US" sz="2400" spc="293" dirty="0">
                <a:solidFill>
                  <a:srgbClr val="000000"/>
                </a:solidFill>
                <a:latin typeface="Quicksand"/>
              </a:rPr>
              <a:t> de dos </a:t>
            </a:r>
            <a:r>
              <a:rPr lang="en-US" sz="2400" spc="293" dirty="0" err="1">
                <a:solidFill>
                  <a:srgbClr val="000000"/>
                </a:solidFill>
                <a:latin typeface="Quicksand"/>
              </a:rPr>
              <a:t>hermanas</a:t>
            </a:r>
            <a:r>
              <a:rPr lang="en-US" sz="2400" spc="293" dirty="0">
                <a:solidFill>
                  <a:srgbClr val="000000"/>
                </a:solidFill>
                <a:latin typeface="Quicksand"/>
              </a:rPr>
              <a:t> es, </a:t>
            </a:r>
            <a:r>
              <a:rPr lang="en-US" sz="2400" spc="293" dirty="0" err="1">
                <a:solidFill>
                  <a:srgbClr val="000000"/>
                </a:solidFill>
                <a:latin typeface="Quicksand"/>
              </a:rPr>
              <a:t>actualmente</a:t>
            </a:r>
            <a:r>
              <a:rPr lang="en-US" sz="2400" spc="293" dirty="0">
                <a:solidFill>
                  <a:srgbClr val="000000"/>
                </a:solidFill>
                <a:latin typeface="Quicksand"/>
              </a:rPr>
              <a:t>, 3/2. Se sabe que, </a:t>
            </a:r>
            <a:r>
              <a:rPr lang="en-US" sz="2400" spc="293" dirty="0" err="1">
                <a:solidFill>
                  <a:srgbClr val="000000"/>
                </a:solidFill>
                <a:latin typeface="Quicksand"/>
              </a:rPr>
              <a:t>dentro</a:t>
            </a:r>
            <a:r>
              <a:rPr lang="en-US" sz="2400" spc="293" dirty="0">
                <a:solidFill>
                  <a:srgbClr val="000000"/>
                </a:solidFill>
                <a:latin typeface="Quicksand"/>
              </a:rPr>
              <a:t> de 8 </a:t>
            </a:r>
            <a:r>
              <a:rPr lang="en-US" sz="2400" spc="293" dirty="0" err="1">
                <a:solidFill>
                  <a:srgbClr val="000000"/>
                </a:solidFill>
                <a:latin typeface="Quicksand"/>
              </a:rPr>
              <a:t>años</a:t>
            </a:r>
            <a:r>
              <a:rPr lang="en-US" sz="2400" spc="293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2400" spc="293" dirty="0" err="1">
                <a:solidFill>
                  <a:srgbClr val="000000"/>
                </a:solidFill>
                <a:latin typeface="Quicksand"/>
              </a:rPr>
              <a:t>dicha</a:t>
            </a:r>
            <a:r>
              <a:rPr lang="en-US" sz="2400" spc="29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93" dirty="0" err="1">
                <a:solidFill>
                  <a:srgbClr val="000000"/>
                </a:solidFill>
                <a:latin typeface="Quicksand"/>
              </a:rPr>
              <a:t>relación</a:t>
            </a:r>
            <a:r>
              <a:rPr lang="en-US" sz="2400" spc="29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93" dirty="0" err="1">
                <a:solidFill>
                  <a:srgbClr val="000000"/>
                </a:solidFill>
                <a:latin typeface="Quicksand"/>
              </a:rPr>
              <a:t>será</a:t>
            </a:r>
            <a:r>
              <a:rPr lang="en-US" sz="2400" spc="293" dirty="0">
                <a:solidFill>
                  <a:srgbClr val="000000"/>
                </a:solidFill>
                <a:latin typeface="Quicksand"/>
              </a:rPr>
              <a:t> 5/4. ¿</a:t>
            </a:r>
            <a:r>
              <a:rPr lang="en-US" sz="2400" spc="293" dirty="0" err="1">
                <a:solidFill>
                  <a:srgbClr val="000000"/>
                </a:solidFill>
                <a:latin typeface="Quicksand"/>
              </a:rPr>
              <a:t>Cuál</a:t>
            </a:r>
            <a:r>
              <a:rPr lang="en-US" sz="2400" spc="293" dirty="0">
                <a:solidFill>
                  <a:srgbClr val="000000"/>
                </a:solidFill>
                <a:latin typeface="Quicksand"/>
              </a:rPr>
              <a:t> es la </a:t>
            </a:r>
            <a:r>
              <a:rPr lang="en-US" sz="2400" spc="293" dirty="0" err="1">
                <a:solidFill>
                  <a:srgbClr val="000000"/>
                </a:solidFill>
                <a:latin typeface="Quicksand"/>
              </a:rPr>
              <a:t>edad</a:t>
            </a:r>
            <a:r>
              <a:rPr lang="en-US" sz="2400" spc="293" dirty="0">
                <a:solidFill>
                  <a:srgbClr val="000000"/>
                </a:solidFill>
                <a:latin typeface="Quicksand"/>
              </a:rPr>
              <a:t> actual de la </a:t>
            </a:r>
            <a:r>
              <a:rPr lang="en-US" sz="2400" spc="293" dirty="0" err="1">
                <a:solidFill>
                  <a:srgbClr val="000000"/>
                </a:solidFill>
                <a:latin typeface="Quicksand"/>
              </a:rPr>
              <a:t>hermana</a:t>
            </a:r>
            <a:r>
              <a:rPr lang="en-US" sz="2400" spc="293" dirty="0">
                <a:solidFill>
                  <a:srgbClr val="000000"/>
                </a:solidFill>
                <a:latin typeface="Quicksand"/>
              </a:rPr>
              <a:t> menor?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81CBC5B-81D2-4962-962E-39A6F9FE0048}"/>
                  </a:ext>
                </a:extLst>
              </p:cNvPr>
              <p:cNvSpPr txBox="1"/>
              <p:nvPr/>
            </p:nvSpPr>
            <p:spPr>
              <a:xfrm>
                <a:off x="-159327" y="1285190"/>
                <a:ext cx="5448300" cy="11689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h𝑒𝑟𝑚𝑎𝑛𝑎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𝑚𝑎𝑦𝑜𝑟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h𝑒𝑟𝑚𝑎𝑛𝑎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𝑚𝑒𝑛𝑜𝑟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81CBC5B-81D2-4962-962E-39A6F9FE0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9327" y="1285190"/>
                <a:ext cx="5448300" cy="1168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F4286C55-02F6-4910-9D55-C39BE85935D0}"/>
                  </a:ext>
                </a:extLst>
              </p:cNvPr>
              <p:cNvSpPr txBox="1"/>
              <p:nvPr/>
            </p:nvSpPr>
            <p:spPr>
              <a:xfrm>
                <a:off x="-685800" y="2701825"/>
                <a:ext cx="7372350" cy="12198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h𝑒𝑟𝑚𝑎𝑛𝑎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𝑚𝑎𝑦𝑜𝑟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+8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h𝑒𝑟𝑚𝑎𝑛𝑎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𝑚𝑒𝑛𝑜𝑟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+8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F4286C55-02F6-4910-9D55-C39BE8593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5800" y="2701825"/>
                <a:ext cx="7372350" cy="1219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40EA86D-CBFA-47B3-98DB-02EAB264EBFE}"/>
                  </a:ext>
                </a:extLst>
              </p:cNvPr>
              <p:cNvSpPr txBox="1"/>
              <p:nvPr/>
            </p:nvSpPr>
            <p:spPr>
              <a:xfrm>
                <a:off x="5791200" y="1114842"/>
                <a:ext cx="8534400" cy="11524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h𝑒𝑟𝑚𝑎𝑛𝑎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𝑚𝑎𝑦𝑜𝑟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h𝑒𝑟𝑚𝑎𝑛𝑎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𝑚𝑒𝑛𝑜𝑟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40EA86D-CBFA-47B3-98DB-02EAB264E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1114842"/>
                <a:ext cx="8534400" cy="11524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C7E1C64-1971-4347-BEF9-E1F55CFDAD10}"/>
                  </a:ext>
                </a:extLst>
              </p:cNvPr>
              <p:cNvSpPr txBox="1"/>
              <p:nvPr/>
            </p:nvSpPr>
            <p:spPr>
              <a:xfrm>
                <a:off x="6248400" y="2043957"/>
                <a:ext cx="11320896" cy="1164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h𝑒𝑟𝑚𝑎𝑛𝑎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𝑚𝑎𝑦𝑜𝑟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+8 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h𝑒𝑟𝑚𝑎𝑛𝑎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𝑚𝑒𝑛𝑜𝑟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+8)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C7E1C64-1971-4347-BEF9-E1F55CFDA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2043957"/>
                <a:ext cx="11320896" cy="1164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E1B39AB-49DB-4C3C-8A08-DD979047EF34}"/>
                  </a:ext>
                </a:extLst>
              </p:cNvPr>
              <p:cNvSpPr txBox="1"/>
              <p:nvPr/>
            </p:nvSpPr>
            <p:spPr>
              <a:xfrm>
                <a:off x="6467475" y="3047865"/>
                <a:ext cx="11320896" cy="1164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h𝑒𝑟𝑚𝑎𝑛𝑎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𝑚𝑎𝑦𝑜𝑟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h𝑒𝑟𝑚𝑎𝑛𝑎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𝑚𝑒𝑛𝑜𝑟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+8</m:t>
                          </m:r>
                        </m:e>
                      </m:d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E1B39AB-49DB-4C3C-8A08-DD979047E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7475" y="3047865"/>
                <a:ext cx="11320896" cy="1164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653C3D4E-A247-4744-81C6-DFBCD3A1E528}"/>
                  </a:ext>
                </a:extLst>
              </p:cNvPr>
              <p:cNvSpPr txBox="1"/>
              <p:nvPr/>
            </p:nvSpPr>
            <p:spPr>
              <a:xfrm>
                <a:off x="-27709" y="4138071"/>
                <a:ext cx="11320896" cy="1164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s-E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h𝑒𝑟𝑚𝑎𝑛𝑎</m:t>
                          </m:r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𝑚𝑒𝑛𝑜𝑟</m:t>
                          </m:r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+8</m:t>
                          </m:r>
                        </m:e>
                      </m:d>
                      <m:r>
                        <a:rPr lang="es-ES" sz="4000" i="1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h𝑒𝑟𝑚𝑎𝑛𝑎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𝑚𝑒𝑛𝑜𝑟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653C3D4E-A247-4744-81C6-DFBCD3A1E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709" y="4138071"/>
                <a:ext cx="11320896" cy="1164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3BF490C-342F-4B5E-A626-AE5D572F0DE7}"/>
                  </a:ext>
                </a:extLst>
              </p:cNvPr>
              <p:cNvSpPr txBox="1"/>
              <p:nvPr/>
            </p:nvSpPr>
            <p:spPr>
              <a:xfrm>
                <a:off x="-138545" y="5462168"/>
                <a:ext cx="11320896" cy="1164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h𝑒𝑟𝑚𝑎𝑛𝑎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𝑚𝑒𝑛𝑜𝑟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+10−8=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h𝑒𝑟𝑚𝑎𝑛𝑎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𝑚𝑒𝑛𝑜𝑟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3BF490C-342F-4B5E-A626-AE5D572F0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8545" y="5462168"/>
                <a:ext cx="11320896" cy="1164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0A5C000F-E317-4754-B888-D1F6414DBB14}"/>
                  </a:ext>
                </a:extLst>
              </p:cNvPr>
              <p:cNvSpPr txBox="1"/>
              <p:nvPr/>
            </p:nvSpPr>
            <p:spPr>
              <a:xfrm>
                <a:off x="-671945" y="6819900"/>
                <a:ext cx="11320896" cy="1164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h𝑒𝑟𝑚𝑎𝑛𝑎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𝑚𝑒𝑛𝑜𝑟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+2=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h𝑒𝑟𝑚𝑎𝑛𝑎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𝑚𝑒𝑛𝑜𝑟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0A5C000F-E317-4754-B888-D1F6414DB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1945" y="6819900"/>
                <a:ext cx="11320896" cy="1164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4C018F80-2137-4136-8822-A4A7007BB3F0}"/>
                  </a:ext>
                </a:extLst>
              </p:cNvPr>
              <p:cNvSpPr txBox="1"/>
              <p:nvPr/>
            </p:nvSpPr>
            <p:spPr>
              <a:xfrm>
                <a:off x="-671945" y="8034611"/>
                <a:ext cx="11320896" cy="1164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h𝑒𝑟𝑚𝑎𝑛𝑎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𝑚𝑒𝑛𝑜𝑟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4000" i="1">
                          <a:latin typeface="Cambria Math" panose="02040503050406030204" pitchFamily="18" charset="0"/>
                        </a:rPr>
                        <m:t>h𝑒𝑟𝑚𝑎𝑛𝑎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𝑚𝑒𝑛𝑜𝑟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4C018F80-2137-4136-8822-A4A7007BB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1945" y="8034611"/>
                <a:ext cx="11320896" cy="1164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036E3EEC-1D8F-4253-80B6-6C0903CCE592}"/>
                  </a:ext>
                </a:extLst>
              </p:cNvPr>
              <p:cNvSpPr txBox="1"/>
              <p:nvPr/>
            </p:nvSpPr>
            <p:spPr>
              <a:xfrm>
                <a:off x="12186806" y="4434178"/>
                <a:ext cx="5410199" cy="11524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h𝑒𝑟𝑚𝑎𝑛𝑎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𝑚𝑒𝑛𝑜𝑟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036E3EEC-1D8F-4253-80B6-6C0903CCE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6806" y="4434178"/>
                <a:ext cx="5410199" cy="115249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6DBFABB3-F499-49DC-B19F-B64C1BC36355}"/>
                  </a:ext>
                </a:extLst>
              </p:cNvPr>
              <p:cNvSpPr txBox="1"/>
              <p:nvPr/>
            </p:nvSpPr>
            <p:spPr>
              <a:xfrm>
                <a:off x="12186806" y="6573421"/>
                <a:ext cx="541019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h𝑒𝑟𝑚𝑎𝑛𝑎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𝑚𝑒𝑛𝑜𝑟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6DBFABB3-F499-49DC-B19F-B64C1BC36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6806" y="6573421"/>
                <a:ext cx="5410199" cy="6155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2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856892" y="2474705"/>
            <a:ext cx="16076463" cy="369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15"/>
              </a:lnSpc>
            </a:pP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La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relación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entre las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edades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de dos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hermanas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es,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actualmente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, 3/2. Se sabe que,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dentro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de 8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años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dicha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relación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será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5/4. ¿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Cuál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es la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edad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actual de la </a:t>
            </a:r>
            <a:r>
              <a:rPr lang="en-US" sz="5435" spc="293" dirty="0" err="1">
                <a:solidFill>
                  <a:srgbClr val="000000"/>
                </a:solidFill>
                <a:latin typeface="Quicksand"/>
              </a:rPr>
              <a:t>hermana</a:t>
            </a:r>
            <a:r>
              <a:rPr lang="en-US" sz="5435" spc="293" dirty="0">
                <a:solidFill>
                  <a:srgbClr val="000000"/>
                </a:solidFill>
                <a:latin typeface="Quicksand"/>
              </a:rPr>
              <a:t> menor?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731498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4 años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66373" y="8696960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6 años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695562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8 años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696960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10 años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DDD6AFF2-A0EF-4FCD-AC16-19B90033813E}"/>
              </a:ext>
            </a:extLst>
          </p:cNvPr>
          <p:cNvSpPr/>
          <p:nvPr/>
        </p:nvSpPr>
        <p:spPr>
          <a:xfrm>
            <a:off x="9234073" y="6280079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724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028700" y="150137"/>
            <a:ext cx="16389810" cy="3095833"/>
            <a:chOff x="0" y="0"/>
            <a:chExt cx="5544207" cy="10472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44207" cy="1047232"/>
            </a:xfrm>
            <a:custGeom>
              <a:avLst/>
              <a:gdLst/>
              <a:ahLst/>
              <a:cxnLst/>
              <a:rect l="l" t="t" r="r" b="b"/>
              <a:pathLst>
                <a:path w="5544207" h="1047232">
                  <a:moveTo>
                    <a:pt x="0" y="0"/>
                  </a:moveTo>
                  <a:lnTo>
                    <a:pt x="5544207" y="0"/>
                  </a:lnTo>
                  <a:lnTo>
                    <a:pt x="5544207" y="1047232"/>
                  </a:lnTo>
                  <a:lnTo>
                    <a:pt x="0" y="104723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52089" y="3501459"/>
            <a:ext cx="17588375" cy="6476155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33253" y="261100"/>
            <a:ext cx="16026047" cy="298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3"/>
              </a:lnSpc>
            </a:pPr>
            <a:r>
              <a:rPr lang="en-US" sz="3676" spc="198">
                <a:solidFill>
                  <a:srgbClr val="000000"/>
                </a:solidFill>
                <a:latin typeface="Quicksand"/>
              </a:rPr>
              <a:t>Responda las preguntas 12 a la 16 de acuerdo con la siguiente información</a:t>
            </a:r>
          </a:p>
          <a:p>
            <a:pPr>
              <a:lnSpc>
                <a:spcPts val="3933"/>
              </a:lnSpc>
            </a:pPr>
            <a:r>
              <a:rPr lang="en-US" sz="3676" spc="64">
                <a:solidFill>
                  <a:srgbClr val="000000"/>
                </a:solidFill>
                <a:latin typeface="Arimo"/>
              </a:rPr>
              <a:t>La gráfica de la izquierda muestra el número de habitantes de un país en 4 años diferentes y las gráficas de la derecha muestran la población de 4 regiones que hacen parte del país en los mismos años.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19354" y="2129420"/>
            <a:ext cx="7458194" cy="5924957"/>
            <a:chOff x="0" y="0"/>
            <a:chExt cx="2522895" cy="20042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22895" cy="2004245"/>
            </a:xfrm>
            <a:custGeom>
              <a:avLst/>
              <a:gdLst/>
              <a:ahLst/>
              <a:cxnLst/>
              <a:rect l="l" t="t" r="r" b="b"/>
              <a:pathLst>
                <a:path w="2522895" h="2004245">
                  <a:moveTo>
                    <a:pt x="0" y="0"/>
                  </a:moveTo>
                  <a:lnTo>
                    <a:pt x="2522895" y="0"/>
                  </a:lnTo>
                  <a:lnTo>
                    <a:pt x="2522895" y="2004245"/>
                  </a:lnTo>
                  <a:lnTo>
                    <a:pt x="0" y="200424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7292347" y="3560709"/>
            <a:ext cx="10800617" cy="6537215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6887" y="2289773"/>
            <a:ext cx="7432748" cy="5764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66"/>
              </a:lnSpc>
            </a:pPr>
            <a:r>
              <a:rPr lang="en-US" sz="4735" spc="255">
                <a:solidFill>
                  <a:srgbClr val="000000"/>
                </a:solidFill>
                <a:latin typeface="Quicksand"/>
              </a:rPr>
              <a:t>El presupuesto del país se repartió en 2008 de acuerdo con la cantidad de habitantes de cada región.</a:t>
            </a:r>
          </a:p>
          <a:p>
            <a:pPr>
              <a:lnSpc>
                <a:spcPts val="5066"/>
              </a:lnSpc>
            </a:pPr>
            <a:r>
              <a:rPr lang="en-US" sz="4735" spc="91">
                <a:solidFill>
                  <a:srgbClr val="000000"/>
                </a:solidFill>
                <a:latin typeface="Arimo"/>
              </a:rPr>
              <a:t>La gráfica que representa la distribución del presupuesto es:</a:t>
            </a:r>
          </a:p>
        </p:txBody>
      </p:sp>
      <p:sp>
        <p:nvSpPr>
          <p:cNvPr id="18" name="Estrella: 5 puntas 17">
            <a:extLst>
              <a:ext uri="{FF2B5EF4-FFF2-40B4-BE49-F238E27FC236}">
                <a16:creationId xmlns:a16="http://schemas.microsoft.com/office/drawing/2014/main" id="{DE1055D8-6657-41A8-95E5-980F7A5DF9C3}"/>
              </a:ext>
            </a:extLst>
          </p:cNvPr>
          <p:cNvSpPr/>
          <p:nvPr/>
        </p:nvSpPr>
        <p:spPr>
          <a:xfrm>
            <a:off x="7172337" y="6993681"/>
            <a:ext cx="766649" cy="63630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028700" y="150137"/>
            <a:ext cx="16389810" cy="3095833"/>
            <a:chOff x="0" y="0"/>
            <a:chExt cx="5544207" cy="10472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44207" cy="1047232"/>
            </a:xfrm>
            <a:custGeom>
              <a:avLst/>
              <a:gdLst/>
              <a:ahLst/>
              <a:cxnLst/>
              <a:rect l="l" t="t" r="r" b="b"/>
              <a:pathLst>
                <a:path w="5544207" h="1047232">
                  <a:moveTo>
                    <a:pt x="0" y="0"/>
                  </a:moveTo>
                  <a:lnTo>
                    <a:pt x="5544207" y="0"/>
                  </a:lnTo>
                  <a:lnTo>
                    <a:pt x="5544207" y="1047232"/>
                  </a:lnTo>
                  <a:lnTo>
                    <a:pt x="0" y="104723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349812" y="3549745"/>
            <a:ext cx="17588375" cy="6476155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33253" y="261100"/>
            <a:ext cx="16026047" cy="298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3"/>
              </a:lnSpc>
            </a:pPr>
            <a:r>
              <a:rPr lang="en-US" sz="3676" spc="198">
                <a:solidFill>
                  <a:srgbClr val="000000"/>
                </a:solidFill>
                <a:latin typeface="Quicksand"/>
              </a:rPr>
              <a:t>Responda las preguntas 12 a la 16 de acuerdo con la siguiente información</a:t>
            </a:r>
          </a:p>
          <a:p>
            <a:pPr>
              <a:lnSpc>
                <a:spcPts val="3933"/>
              </a:lnSpc>
            </a:pPr>
            <a:r>
              <a:rPr lang="en-US" sz="3676" spc="64">
                <a:solidFill>
                  <a:srgbClr val="000000"/>
                </a:solidFill>
                <a:latin typeface="Arimo"/>
              </a:rPr>
              <a:t>La gráfica de la izquierda muestra el número de habitantes de un país en 4 años diferentes y las gráficas de la derecha muestran la población de 4 regiones que hacen parte del país en los mismos años.</a:t>
            </a:r>
          </a:p>
        </p:txBody>
      </p:sp>
    </p:spTree>
    <p:extLst>
      <p:ext uri="{BB962C8B-B14F-4D97-AF65-F5344CB8AC3E}">
        <p14:creationId xmlns:p14="http://schemas.microsoft.com/office/powerpoint/2010/main" val="32511806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709038" y="6807377"/>
            <a:ext cx="16123269" cy="3297532"/>
            <a:chOff x="0" y="0"/>
            <a:chExt cx="3041440" cy="6220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41440" cy="622036"/>
            </a:xfrm>
            <a:custGeom>
              <a:avLst/>
              <a:gdLst/>
              <a:ahLst/>
              <a:cxnLst/>
              <a:rect l="l" t="t" r="r" b="b"/>
              <a:pathLst>
                <a:path w="3041440" h="622036">
                  <a:moveTo>
                    <a:pt x="0" y="0"/>
                  </a:moveTo>
                  <a:lnTo>
                    <a:pt x="3041440" y="0"/>
                  </a:lnTo>
                  <a:lnTo>
                    <a:pt x="3041440" y="622036"/>
                  </a:lnTo>
                  <a:lnTo>
                    <a:pt x="0" y="6220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928206" y="2099331"/>
            <a:ext cx="16005149" cy="442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88"/>
              </a:lnSpc>
            </a:pPr>
            <a:r>
              <a:rPr lang="en-US" sz="4661" spc="25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661" spc="251" dirty="0">
                <a:solidFill>
                  <a:srgbClr val="000000"/>
                </a:solidFill>
                <a:latin typeface="Quicksand"/>
              </a:rPr>
              <a:t> 2005, la </a:t>
            </a:r>
            <a:r>
              <a:rPr lang="en-US" sz="4661" spc="251" dirty="0" err="1">
                <a:solidFill>
                  <a:srgbClr val="000000"/>
                </a:solidFill>
                <a:latin typeface="Quicksand"/>
              </a:rPr>
              <a:t>amenaza</a:t>
            </a:r>
            <a:r>
              <a:rPr lang="en-US" sz="4661" spc="251" dirty="0">
                <a:solidFill>
                  <a:srgbClr val="000000"/>
                </a:solidFill>
                <a:latin typeface="Quicksand"/>
              </a:rPr>
              <a:t> de que un </a:t>
            </a:r>
            <a:r>
              <a:rPr lang="en-US" sz="4661" spc="251" dirty="0" err="1">
                <a:solidFill>
                  <a:srgbClr val="000000"/>
                </a:solidFill>
                <a:latin typeface="Quicksand"/>
              </a:rPr>
              <a:t>fenómeno</a:t>
            </a:r>
            <a:r>
              <a:rPr lang="en-US" sz="4661" spc="251" dirty="0">
                <a:solidFill>
                  <a:srgbClr val="000000"/>
                </a:solidFill>
                <a:latin typeface="Quicksand"/>
              </a:rPr>
              <a:t> natural se </a:t>
            </a:r>
            <a:r>
              <a:rPr lang="en-US" sz="4661" spc="251" dirty="0" err="1">
                <a:solidFill>
                  <a:srgbClr val="000000"/>
                </a:solidFill>
                <a:latin typeface="Quicksand"/>
              </a:rPr>
              <a:t>presentara</a:t>
            </a:r>
            <a:r>
              <a:rPr lang="en-US" sz="4661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61" spc="25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661" spc="251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4661" spc="251" dirty="0" err="1">
                <a:solidFill>
                  <a:srgbClr val="000000"/>
                </a:solidFill>
                <a:latin typeface="Quicksand"/>
              </a:rPr>
              <a:t>región</a:t>
            </a:r>
            <a:r>
              <a:rPr lang="en-US" sz="4661" spc="251" dirty="0">
                <a:solidFill>
                  <a:srgbClr val="000000"/>
                </a:solidFill>
                <a:latin typeface="Quicksand"/>
              </a:rPr>
              <a:t> O, </a:t>
            </a:r>
            <a:r>
              <a:rPr lang="en-US" sz="4661" spc="251" dirty="0" err="1">
                <a:solidFill>
                  <a:srgbClr val="000000"/>
                </a:solidFill>
                <a:latin typeface="Quicksand"/>
              </a:rPr>
              <a:t>obligó</a:t>
            </a:r>
            <a:r>
              <a:rPr lang="en-US" sz="4661" spc="251" dirty="0">
                <a:solidFill>
                  <a:srgbClr val="000000"/>
                </a:solidFill>
                <a:latin typeface="Quicksand"/>
              </a:rPr>
              <a:t> al </a:t>
            </a:r>
            <a:r>
              <a:rPr lang="en-US" sz="4661" spc="251" dirty="0" err="1">
                <a:solidFill>
                  <a:srgbClr val="000000"/>
                </a:solidFill>
                <a:latin typeface="Quicksand"/>
              </a:rPr>
              <a:t>gobierno</a:t>
            </a:r>
            <a:r>
              <a:rPr lang="en-US" sz="4661" spc="251" dirty="0">
                <a:solidFill>
                  <a:srgbClr val="000000"/>
                </a:solidFill>
                <a:latin typeface="Quicksand"/>
              </a:rPr>
              <a:t> a</a:t>
            </a:r>
          </a:p>
          <a:p>
            <a:pPr>
              <a:lnSpc>
                <a:spcPts val="4988"/>
              </a:lnSpc>
            </a:pPr>
            <a:r>
              <a:rPr lang="en-US" sz="4661" spc="124" dirty="0" err="1">
                <a:solidFill>
                  <a:srgbClr val="000000"/>
                </a:solidFill>
                <a:latin typeface="Arimo"/>
              </a:rPr>
              <a:t>evacuar</a:t>
            </a:r>
            <a:r>
              <a:rPr lang="en-US" sz="4661" spc="124" dirty="0">
                <a:solidFill>
                  <a:srgbClr val="000000"/>
                </a:solidFill>
                <a:latin typeface="Arimo"/>
              </a:rPr>
              <a:t> </a:t>
            </a:r>
            <a:r>
              <a:rPr lang="en-US" sz="4661" spc="124" dirty="0" err="1">
                <a:solidFill>
                  <a:srgbClr val="000000"/>
                </a:solidFill>
                <a:latin typeface="Arimo"/>
              </a:rPr>
              <a:t>temporalmente</a:t>
            </a:r>
            <a:r>
              <a:rPr lang="en-US" sz="4661" spc="124" dirty="0">
                <a:solidFill>
                  <a:srgbClr val="000000"/>
                </a:solidFill>
                <a:latin typeface="Arimo"/>
              </a:rPr>
              <a:t> al 10% de </a:t>
            </a:r>
            <a:r>
              <a:rPr lang="en-US" sz="4661" spc="124" dirty="0" err="1">
                <a:solidFill>
                  <a:srgbClr val="000000"/>
                </a:solidFill>
                <a:latin typeface="Arimo"/>
              </a:rPr>
              <a:t>esa</a:t>
            </a:r>
            <a:r>
              <a:rPr lang="en-US" sz="4661" spc="124" dirty="0">
                <a:solidFill>
                  <a:srgbClr val="000000"/>
                </a:solidFill>
                <a:latin typeface="Arimo"/>
              </a:rPr>
              <a:t> población a las </a:t>
            </a:r>
            <a:r>
              <a:rPr lang="en-US" sz="4661" spc="124" dirty="0" err="1">
                <a:solidFill>
                  <a:srgbClr val="000000"/>
                </a:solidFill>
                <a:latin typeface="Arimo"/>
              </a:rPr>
              <a:t>regiones</a:t>
            </a:r>
            <a:r>
              <a:rPr lang="en-US" sz="4661" spc="124" dirty="0">
                <a:solidFill>
                  <a:srgbClr val="000000"/>
                </a:solidFill>
                <a:latin typeface="Arimo"/>
              </a:rPr>
              <a:t> M y P. Las </a:t>
            </a:r>
            <a:r>
              <a:rPr lang="en-US" sz="4661" spc="124" dirty="0" err="1">
                <a:solidFill>
                  <a:srgbClr val="000000"/>
                </a:solidFill>
                <a:latin typeface="Arimo"/>
              </a:rPr>
              <a:t>condiciones</a:t>
            </a:r>
            <a:r>
              <a:rPr lang="en-US" sz="4661" spc="124" dirty="0">
                <a:solidFill>
                  <a:srgbClr val="000000"/>
                </a:solidFill>
                <a:latin typeface="Arimo"/>
              </a:rPr>
              <a:t> </a:t>
            </a:r>
            <a:r>
              <a:rPr lang="en-US" sz="4661" spc="124" dirty="0" err="1">
                <a:solidFill>
                  <a:srgbClr val="000000"/>
                </a:solidFill>
                <a:latin typeface="Arimo"/>
              </a:rPr>
              <a:t>económicas</a:t>
            </a:r>
            <a:r>
              <a:rPr lang="en-US" sz="4661" spc="124" dirty="0">
                <a:solidFill>
                  <a:srgbClr val="000000"/>
                </a:solidFill>
                <a:latin typeface="Arimo"/>
              </a:rPr>
              <a:t> de</a:t>
            </a:r>
          </a:p>
          <a:p>
            <a:pPr>
              <a:lnSpc>
                <a:spcPts val="4988"/>
              </a:lnSpc>
            </a:pPr>
            <a:r>
              <a:rPr lang="en-US" sz="4661" spc="124" dirty="0">
                <a:solidFill>
                  <a:srgbClr val="000000"/>
                </a:solidFill>
                <a:latin typeface="Arimo"/>
              </a:rPr>
              <a:t>M y P les </a:t>
            </a:r>
            <a:r>
              <a:rPr lang="en-US" sz="4661" spc="124" dirty="0" err="1">
                <a:solidFill>
                  <a:srgbClr val="000000"/>
                </a:solidFill>
                <a:latin typeface="Arimo"/>
              </a:rPr>
              <a:t>permiten</a:t>
            </a:r>
            <a:r>
              <a:rPr lang="en-US" sz="4661" spc="124" dirty="0">
                <a:solidFill>
                  <a:srgbClr val="000000"/>
                </a:solidFill>
                <a:latin typeface="Arimo"/>
              </a:rPr>
              <a:t> </a:t>
            </a:r>
            <a:r>
              <a:rPr lang="en-US" sz="4661" spc="124" dirty="0" err="1">
                <a:solidFill>
                  <a:srgbClr val="000000"/>
                </a:solidFill>
                <a:latin typeface="Arimo"/>
              </a:rPr>
              <a:t>albergar</a:t>
            </a:r>
            <a:r>
              <a:rPr lang="en-US" sz="4661" spc="124" dirty="0">
                <a:solidFill>
                  <a:srgbClr val="000000"/>
                </a:solidFill>
                <a:latin typeface="Arimo"/>
              </a:rPr>
              <a:t> un </a:t>
            </a:r>
            <a:r>
              <a:rPr lang="en-US" sz="4661" spc="124" dirty="0" err="1">
                <a:solidFill>
                  <a:srgbClr val="000000"/>
                </a:solidFill>
                <a:latin typeface="Arimo"/>
              </a:rPr>
              <a:t>máximo</a:t>
            </a:r>
            <a:r>
              <a:rPr lang="en-US" sz="4661" spc="124" dirty="0">
                <a:solidFill>
                  <a:srgbClr val="000000"/>
                </a:solidFill>
                <a:latin typeface="Arimo"/>
              </a:rPr>
              <a:t> del 10% </a:t>
            </a:r>
            <a:r>
              <a:rPr lang="en-US" sz="4661" spc="124" dirty="0" err="1">
                <a:solidFill>
                  <a:srgbClr val="000000"/>
                </a:solidFill>
                <a:latin typeface="Arimo"/>
              </a:rPr>
              <a:t>adicional</a:t>
            </a:r>
            <a:r>
              <a:rPr lang="en-US" sz="4661" spc="124" dirty="0">
                <a:solidFill>
                  <a:srgbClr val="000000"/>
                </a:solidFill>
                <a:latin typeface="Arimo"/>
              </a:rPr>
              <a:t> de la población de </a:t>
            </a:r>
            <a:r>
              <a:rPr lang="en-US" sz="4661" spc="124" dirty="0" err="1">
                <a:solidFill>
                  <a:srgbClr val="000000"/>
                </a:solidFill>
                <a:latin typeface="Arimo"/>
              </a:rPr>
              <a:t>su</a:t>
            </a:r>
            <a:r>
              <a:rPr lang="en-US" sz="4661" spc="124" dirty="0">
                <a:solidFill>
                  <a:srgbClr val="000000"/>
                </a:solidFill>
                <a:latin typeface="Arimo"/>
              </a:rPr>
              <a:t> </a:t>
            </a:r>
            <a:r>
              <a:rPr lang="en-US" sz="4661" spc="124" dirty="0" err="1">
                <a:solidFill>
                  <a:srgbClr val="000000"/>
                </a:solidFill>
                <a:latin typeface="Arimo"/>
              </a:rPr>
              <a:t>propia</a:t>
            </a:r>
            <a:r>
              <a:rPr lang="en-US" sz="4661" spc="124" dirty="0">
                <a:solidFill>
                  <a:srgbClr val="000000"/>
                </a:solidFill>
                <a:latin typeface="Arimo"/>
              </a:rPr>
              <a:t> </a:t>
            </a:r>
            <a:r>
              <a:rPr lang="en-US" sz="4661" spc="124" dirty="0" err="1">
                <a:solidFill>
                  <a:srgbClr val="000000"/>
                </a:solidFill>
                <a:latin typeface="Arimo"/>
              </a:rPr>
              <a:t>región</a:t>
            </a:r>
            <a:r>
              <a:rPr lang="en-US" sz="4661" spc="124" dirty="0">
                <a:solidFill>
                  <a:srgbClr val="000000"/>
                </a:solidFill>
                <a:latin typeface="Arimo"/>
              </a:rPr>
              <a:t>. Por</a:t>
            </a:r>
          </a:p>
          <a:p>
            <a:pPr>
              <a:lnSpc>
                <a:spcPts val="4988"/>
              </a:lnSpc>
            </a:pPr>
            <a:r>
              <a:rPr lang="en-US" sz="4661" spc="124" dirty="0">
                <a:solidFill>
                  <a:srgbClr val="000000"/>
                </a:solidFill>
                <a:latin typeface="Arimo"/>
              </a:rPr>
              <a:t>tanto, NO se </a:t>
            </a:r>
            <a:r>
              <a:rPr lang="en-US" sz="4661" spc="124" dirty="0" err="1">
                <a:solidFill>
                  <a:srgbClr val="000000"/>
                </a:solidFill>
                <a:latin typeface="Arimo"/>
              </a:rPr>
              <a:t>podría</a:t>
            </a:r>
            <a:r>
              <a:rPr lang="en-US" sz="4661" spc="124" dirty="0">
                <a:solidFill>
                  <a:srgbClr val="000000"/>
                </a:solidFill>
                <a:latin typeface="Arimo"/>
              </a:rPr>
              <a:t>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06336" y="6919684"/>
            <a:ext cx="16073597" cy="309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84"/>
              </a:lnSpc>
            </a:pPr>
            <a:r>
              <a:rPr lang="en-US" sz="3816" spc="206">
                <a:solidFill>
                  <a:srgbClr val="000000"/>
                </a:solidFill>
                <a:latin typeface="Quicksand"/>
              </a:rPr>
              <a:t>A. trasladar a la región M el 82% de las personas que deben evacuar la región O.</a:t>
            </a:r>
          </a:p>
          <a:p>
            <a:pPr>
              <a:lnSpc>
                <a:spcPts val="4084"/>
              </a:lnSpc>
            </a:pPr>
            <a:r>
              <a:rPr lang="en-US" sz="3816" spc="105">
                <a:solidFill>
                  <a:srgbClr val="000000"/>
                </a:solidFill>
                <a:latin typeface="Arimo"/>
              </a:rPr>
              <a:t>B. trasladar a la región P el 12% de las personas que deben evacuar la región O.</a:t>
            </a:r>
          </a:p>
          <a:p>
            <a:pPr>
              <a:lnSpc>
                <a:spcPts val="4084"/>
              </a:lnSpc>
            </a:pPr>
            <a:r>
              <a:rPr lang="en-US" sz="3816" spc="105">
                <a:solidFill>
                  <a:srgbClr val="000000"/>
                </a:solidFill>
                <a:latin typeface="Arimo"/>
              </a:rPr>
              <a:t>C. trasladar a la región M el 9% de la población de la región O.</a:t>
            </a:r>
          </a:p>
          <a:p>
            <a:pPr>
              <a:lnSpc>
                <a:spcPts val="4084"/>
              </a:lnSpc>
            </a:pPr>
            <a:r>
              <a:rPr lang="en-US" sz="3816" spc="206">
                <a:solidFill>
                  <a:srgbClr val="000000"/>
                </a:solidFill>
                <a:latin typeface="Quicksand"/>
              </a:rPr>
              <a:t>D. trasladar a la región P el 2% de la población de la región O.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20" name="Estrella: 5 puntas 19">
            <a:extLst>
              <a:ext uri="{FF2B5EF4-FFF2-40B4-BE49-F238E27FC236}">
                <a16:creationId xmlns:a16="http://schemas.microsoft.com/office/drawing/2014/main" id="{C66DBA63-E740-48B1-A33A-FF4D8F5E4FB7}"/>
              </a:ext>
            </a:extLst>
          </p:cNvPr>
          <p:cNvSpPr/>
          <p:nvPr/>
        </p:nvSpPr>
        <p:spPr>
          <a:xfrm>
            <a:off x="1568246" y="9421979"/>
            <a:ext cx="766649" cy="63630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028700" y="150137"/>
            <a:ext cx="16389810" cy="3095833"/>
            <a:chOff x="0" y="0"/>
            <a:chExt cx="5544207" cy="10472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44207" cy="1047232"/>
            </a:xfrm>
            <a:custGeom>
              <a:avLst/>
              <a:gdLst/>
              <a:ahLst/>
              <a:cxnLst/>
              <a:rect l="l" t="t" r="r" b="b"/>
              <a:pathLst>
                <a:path w="5544207" h="1047232">
                  <a:moveTo>
                    <a:pt x="0" y="0"/>
                  </a:moveTo>
                  <a:lnTo>
                    <a:pt x="5544207" y="0"/>
                  </a:lnTo>
                  <a:lnTo>
                    <a:pt x="5544207" y="1047232"/>
                  </a:lnTo>
                  <a:lnTo>
                    <a:pt x="0" y="104723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52089" y="3501459"/>
            <a:ext cx="17588375" cy="6476155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33253" y="261100"/>
            <a:ext cx="16026047" cy="298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3"/>
              </a:lnSpc>
            </a:pPr>
            <a:r>
              <a:rPr lang="en-US" sz="3676" spc="198">
                <a:solidFill>
                  <a:srgbClr val="000000"/>
                </a:solidFill>
                <a:latin typeface="Quicksand"/>
              </a:rPr>
              <a:t>Responda las preguntas 12 a la 16 de acuerdo con la siguiente información</a:t>
            </a:r>
          </a:p>
          <a:p>
            <a:pPr>
              <a:lnSpc>
                <a:spcPts val="3933"/>
              </a:lnSpc>
            </a:pPr>
            <a:r>
              <a:rPr lang="en-US" sz="3676" spc="64">
                <a:solidFill>
                  <a:srgbClr val="000000"/>
                </a:solidFill>
                <a:latin typeface="Arimo"/>
              </a:rPr>
              <a:t>La gráfica de la izquierda muestra el número de habitantes de un país en 4 años diferentes y las gráficas de la derecha muestran la población de 4 regiones que hacen parte del país en los mismos años.</a:t>
            </a:r>
          </a:p>
        </p:txBody>
      </p:sp>
    </p:spTree>
    <p:extLst>
      <p:ext uri="{BB962C8B-B14F-4D97-AF65-F5344CB8AC3E}">
        <p14:creationId xmlns:p14="http://schemas.microsoft.com/office/powerpoint/2010/main" val="12825945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28206" y="6000952"/>
            <a:ext cx="16331094" cy="2595270"/>
            <a:chOff x="0" y="0"/>
            <a:chExt cx="3080644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80644" cy="489563"/>
            </a:xfrm>
            <a:custGeom>
              <a:avLst/>
              <a:gdLst/>
              <a:ahLst/>
              <a:cxnLst/>
              <a:rect l="l" t="t" r="r" b="b"/>
              <a:pathLst>
                <a:path w="3080644" h="489563">
                  <a:moveTo>
                    <a:pt x="0" y="0"/>
                  </a:moveTo>
                  <a:lnTo>
                    <a:pt x="3080644" y="0"/>
                  </a:lnTo>
                  <a:lnTo>
                    <a:pt x="3080644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14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85002" y="2129420"/>
            <a:ext cx="16148353" cy="3436087"/>
            <a:chOff x="0" y="0"/>
            <a:chExt cx="5462529" cy="116233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62529" cy="1162331"/>
            </a:xfrm>
            <a:custGeom>
              <a:avLst/>
              <a:gdLst/>
              <a:ahLst/>
              <a:cxnLst/>
              <a:rect l="l" t="t" r="r" b="b"/>
              <a:pathLst>
                <a:path w="5462529" h="1162331">
                  <a:moveTo>
                    <a:pt x="0" y="0"/>
                  </a:moveTo>
                  <a:lnTo>
                    <a:pt x="5462529" y="0"/>
                  </a:lnTo>
                  <a:lnTo>
                    <a:pt x="5462529" y="1162331"/>
                  </a:lnTo>
                  <a:lnTo>
                    <a:pt x="0" y="11623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928206" y="2205620"/>
            <a:ext cx="15861946" cy="3182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260"/>
              </a:lnSpc>
            </a:pPr>
            <a:r>
              <a:rPr lang="en-US" sz="5851" spc="315">
                <a:solidFill>
                  <a:srgbClr val="000000"/>
                </a:solidFill>
                <a:latin typeface="Quicksand"/>
              </a:rPr>
              <a:t>Se pretende graficar el crecimiento de la población que habita la región P cada año de la primera década del siglo XXI; pero no se puede pues se desconoce: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1091" y="6067717"/>
            <a:ext cx="15905819" cy="252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87"/>
              </a:lnSpc>
            </a:pPr>
            <a:r>
              <a:rPr lang="en-US" sz="3726" spc="201">
                <a:solidFill>
                  <a:srgbClr val="000000"/>
                </a:solidFill>
                <a:latin typeface="Quicksand"/>
              </a:rPr>
              <a:t>A. el número de habitantes de la región P cada año.</a:t>
            </a:r>
          </a:p>
          <a:p>
            <a:pPr>
              <a:lnSpc>
                <a:spcPts val="3987"/>
              </a:lnSpc>
            </a:pPr>
            <a:r>
              <a:rPr lang="en-US" sz="3726" spc="75">
                <a:solidFill>
                  <a:srgbClr val="000000"/>
                </a:solidFill>
                <a:latin typeface="Arimo"/>
              </a:rPr>
              <a:t>B. el número de nacimientos en la región P cada año.</a:t>
            </a:r>
          </a:p>
          <a:p>
            <a:pPr>
              <a:lnSpc>
                <a:spcPts val="3987"/>
              </a:lnSpc>
            </a:pPr>
            <a:r>
              <a:rPr lang="en-US" sz="3726" spc="75">
                <a:solidFill>
                  <a:srgbClr val="000000"/>
                </a:solidFill>
                <a:latin typeface="Arimo"/>
              </a:rPr>
              <a:t>C. el número de personas que ingresó a la región P cada año.</a:t>
            </a:r>
          </a:p>
          <a:p>
            <a:pPr>
              <a:lnSpc>
                <a:spcPts val="3987"/>
              </a:lnSpc>
            </a:pPr>
            <a:r>
              <a:rPr lang="en-US" sz="3726" spc="75">
                <a:solidFill>
                  <a:srgbClr val="000000"/>
                </a:solidFill>
                <a:latin typeface="Arimo"/>
              </a:rPr>
              <a:t>D. el número de fallecimientos de los habitantes de la región P cada año.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20" name="Estrella: 5 puntas 19">
            <a:extLst>
              <a:ext uri="{FF2B5EF4-FFF2-40B4-BE49-F238E27FC236}">
                <a16:creationId xmlns:a16="http://schemas.microsoft.com/office/drawing/2014/main" id="{CEED8B76-15A5-4C46-AED4-93D666119CE2}"/>
              </a:ext>
            </a:extLst>
          </p:cNvPr>
          <p:cNvSpPr/>
          <p:nvPr/>
        </p:nvSpPr>
        <p:spPr>
          <a:xfrm>
            <a:off x="942390" y="5951920"/>
            <a:ext cx="766649" cy="63630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028700" y="150137"/>
            <a:ext cx="16389810" cy="3095833"/>
            <a:chOff x="0" y="0"/>
            <a:chExt cx="5544207" cy="10472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44207" cy="1047232"/>
            </a:xfrm>
            <a:custGeom>
              <a:avLst/>
              <a:gdLst/>
              <a:ahLst/>
              <a:cxnLst/>
              <a:rect l="l" t="t" r="r" b="b"/>
              <a:pathLst>
                <a:path w="5544207" h="1047232">
                  <a:moveTo>
                    <a:pt x="0" y="0"/>
                  </a:moveTo>
                  <a:lnTo>
                    <a:pt x="5544207" y="0"/>
                  </a:lnTo>
                  <a:lnTo>
                    <a:pt x="5544207" y="1047232"/>
                  </a:lnTo>
                  <a:lnTo>
                    <a:pt x="0" y="104723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52089" y="3501459"/>
            <a:ext cx="17588375" cy="6476155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33253" y="261100"/>
            <a:ext cx="16026047" cy="298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3"/>
              </a:lnSpc>
            </a:pPr>
            <a:r>
              <a:rPr lang="en-US" sz="3676" spc="198">
                <a:solidFill>
                  <a:srgbClr val="000000"/>
                </a:solidFill>
                <a:latin typeface="Quicksand"/>
              </a:rPr>
              <a:t>Responda las preguntas 12 a la 16 de acuerdo con la siguiente información</a:t>
            </a:r>
          </a:p>
          <a:p>
            <a:pPr>
              <a:lnSpc>
                <a:spcPts val="3933"/>
              </a:lnSpc>
            </a:pPr>
            <a:r>
              <a:rPr lang="en-US" sz="3676" spc="64">
                <a:solidFill>
                  <a:srgbClr val="000000"/>
                </a:solidFill>
                <a:latin typeface="Arimo"/>
              </a:rPr>
              <a:t>La gráfica de la izquierda muestra el número de habitantes de un país en 4 años diferentes y las gráficas de la derecha muestran la población de 4 regiones que hacen parte del país en los mismos años.</a:t>
            </a:r>
          </a:p>
        </p:txBody>
      </p:sp>
    </p:spTree>
    <p:extLst>
      <p:ext uri="{BB962C8B-B14F-4D97-AF65-F5344CB8AC3E}">
        <p14:creationId xmlns:p14="http://schemas.microsoft.com/office/powerpoint/2010/main" val="40411215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85002" y="5565507"/>
            <a:ext cx="16633508" cy="3142733"/>
            <a:chOff x="0" y="0"/>
            <a:chExt cx="3137690" cy="5928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37690" cy="592835"/>
            </a:xfrm>
            <a:custGeom>
              <a:avLst/>
              <a:gdLst/>
              <a:ahLst/>
              <a:cxnLst/>
              <a:rect l="l" t="t" r="r" b="b"/>
              <a:pathLst>
                <a:path w="3137690" h="592835">
                  <a:moveTo>
                    <a:pt x="0" y="0"/>
                  </a:moveTo>
                  <a:lnTo>
                    <a:pt x="3137690" y="0"/>
                  </a:lnTo>
                  <a:lnTo>
                    <a:pt x="3137690" y="592835"/>
                  </a:lnTo>
                  <a:lnTo>
                    <a:pt x="0" y="5928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15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85002" y="2129420"/>
            <a:ext cx="16148353" cy="2608884"/>
            <a:chOff x="0" y="0"/>
            <a:chExt cx="5462529" cy="88251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62529" cy="882511"/>
            </a:xfrm>
            <a:custGeom>
              <a:avLst/>
              <a:gdLst/>
              <a:ahLst/>
              <a:cxnLst/>
              <a:rect l="l" t="t" r="r" b="b"/>
              <a:pathLst>
                <a:path w="5462529" h="882511">
                  <a:moveTo>
                    <a:pt x="0" y="0"/>
                  </a:moveTo>
                  <a:lnTo>
                    <a:pt x="5462529" y="0"/>
                  </a:lnTo>
                  <a:lnTo>
                    <a:pt x="5462529" y="882511"/>
                  </a:lnTo>
                  <a:lnTo>
                    <a:pt x="0" y="88251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976188" y="2079092"/>
            <a:ext cx="15861946" cy="2659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02"/>
              </a:lnSpc>
            </a:pPr>
            <a:r>
              <a:rPr lang="en-US" sz="6451" spc="348">
                <a:solidFill>
                  <a:srgbClr val="000000"/>
                </a:solidFill>
                <a:latin typeface="Quicksand"/>
              </a:rPr>
              <a:t>A partir de los datos de la población del país y de cada región en el 2008, es incorrecto afirmar que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6188" y="5706908"/>
            <a:ext cx="16053131" cy="291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61"/>
              </a:lnSpc>
            </a:pPr>
            <a:r>
              <a:rPr lang="en-US" sz="3608" spc="194">
                <a:solidFill>
                  <a:srgbClr val="000000"/>
                </a:solidFill>
                <a:latin typeface="Quicksand"/>
              </a:rPr>
              <a:t>A. la población de la región O es mayor a seis veces la población de la región P</a:t>
            </a:r>
          </a:p>
          <a:p>
            <a:pPr>
              <a:lnSpc>
                <a:spcPts val="3861"/>
              </a:lnSpc>
            </a:pPr>
            <a:r>
              <a:rPr lang="en-US" sz="3608" spc="87">
                <a:solidFill>
                  <a:srgbClr val="000000"/>
                </a:solidFill>
                <a:latin typeface="Arimo"/>
              </a:rPr>
              <a:t>B. la población del país es mayor a cuatro veces la de la región M.</a:t>
            </a:r>
          </a:p>
          <a:p>
            <a:pPr>
              <a:lnSpc>
                <a:spcPts val="3861"/>
              </a:lnSpc>
            </a:pPr>
            <a:r>
              <a:rPr lang="en-US" sz="3608" spc="87">
                <a:solidFill>
                  <a:srgbClr val="000000"/>
                </a:solidFill>
                <a:latin typeface="Arimo"/>
              </a:rPr>
              <a:t>C. la población del país es mayor a quince veces la de la región N.</a:t>
            </a:r>
          </a:p>
          <a:p>
            <a:pPr>
              <a:lnSpc>
                <a:spcPts val="3861"/>
              </a:lnSpc>
            </a:pPr>
            <a:r>
              <a:rPr lang="en-US" sz="3608" spc="87">
                <a:solidFill>
                  <a:srgbClr val="000000"/>
                </a:solidFill>
                <a:latin typeface="Arimo"/>
              </a:rPr>
              <a:t>D. la cuarta parte de la población de M es mayor que la población de la región N.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20" name="Estrella: 5 puntas 19">
            <a:extLst>
              <a:ext uri="{FF2B5EF4-FFF2-40B4-BE49-F238E27FC236}">
                <a16:creationId xmlns:a16="http://schemas.microsoft.com/office/drawing/2014/main" id="{A5677356-ECD5-4420-BC7E-844725BA70B0}"/>
              </a:ext>
            </a:extLst>
          </p:cNvPr>
          <p:cNvSpPr/>
          <p:nvPr/>
        </p:nvSpPr>
        <p:spPr>
          <a:xfrm>
            <a:off x="765719" y="6557049"/>
            <a:ext cx="766649" cy="63630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014196" y="2302451"/>
            <a:ext cx="15861946" cy="414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04"/>
              </a:lnSpc>
            </a:pP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El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precio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 de un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libro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 L se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vende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 con un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descuento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 D que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corresponde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 al 18% del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precio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compra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. Si la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ganancia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determinada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comerciante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fue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 de 30%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sobre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precio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compra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, ¿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Cuál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 es el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porcentaje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 real de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ganancias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5051" spc="272" dirty="0" err="1">
                <a:solidFill>
                  <a:srgbClr val="000000"/>
                </a:solidFill>
                <a:latin typeface="Quicksand"/>
              </a:rPr>
              <a:t>comerciante</a:t>
            </a:r>
            <a:r>
              <a:rPr lang="en-US" sz="5051" spc="272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308343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16%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4355" y="830388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18%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30388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15%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64578" y="830388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12%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54975BFD-FB86-473E-9605-4F6BD6F9B5AC}"/>
              </a:ext>
            </a:extLst>
          </p:cNvPr>
          <p:cNvSpPr/>
          <p:nvPr/>
        </p:nvSpPr>
        <p:spPr>
          <a:xfrm>
            <a:off x="12285682" y="6616527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76188" y="2137778"/>
            <a:ext cx="15861946" cy="4285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69"/>
              </a:lnSpc>
            </a:pP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fábrica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botones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empaca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la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siguiente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forma: 4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botones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empacan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bolsa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tela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. 6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bolsas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tela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llenas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empacan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bolsa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plástica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. 5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bolsas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plásticas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llenas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empacan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caja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cartón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. 3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cajas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cartón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empacan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caja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madera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. La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cantidad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cajas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cartón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que se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llenan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con 4.320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botones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es: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308343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12 cajas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4355" y="830388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24 cajas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30388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6 cajas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64578" y="830388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11 cajas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70">
            <a:extLst>
              <a:ext uri="{FF2B5EF4-FFF2-40B4-BE49-F238E27FC236}">
                <a16:creationId xmlns:a16="http://schemas.microsoft.com/office/drawing/2014/main" id="{48FF10FF-8E77-40EA-A7BC-174D1136039B}"/>
              </a:ext>
            </a:extLst>
          </p:cNvPr>
          <p:cNvSpPr txBox="1"/>
          <p:nvPr/>
        </p:nvSpPr>
        <p:spPr>
          <a:xfrm>
            <a:off x="190500" y="266700"/>
            <a:ext cx="17907000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fábrica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botones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empaca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de la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siguiente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forma: 4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botones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empacan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bolsa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tela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. 6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bolsas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tela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llenas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empacan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bolsa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plástica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. 5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bolsas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plásticas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llenas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empacan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caja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cartón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. 3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cajas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cartón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empacan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caja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madera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. La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cantidad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cajas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cartón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que se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llenan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con 4.320 </a:t>
            </a:r>
            <a:r>
              <a:rPr lang="en-US" sz="2400" spc="245" dirty="0" err="1">
                <a:solidFill>
                  <a:srgbClr val="000000"/>
                </a:solidFill>
                <a:latin typeface="Quicksand"/>
              </a:rPr>
              <a:t>botones</a:t>
            </a:r>
            <a:r>
              <a:rPr lang="en-US" sz="2400" spc="245" dirty="0">
                <a:solidFill>
                  <a:srgbClr val="000000"/>
                </a:solidFill>
                <a:latin typeface="Quicksand"/>
              </a:rPr>
              <a:t> es: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9A2BCF53-8ACF-4431-84FD-4643F2F2EA5A}"/>
                  </a:ext>
                </a:extLst>
              </p:cNvPr>
              <p:cNvSpPr txBox="1"/>
              <p:nvPr/>
            </p:nvSpPr>
            <p:spPr>
              <a:xfrm>
                <a:off x="-1600200" y="2171700"/>
                <a:ext cx="72390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𝐵𝑜𝑡𝑜𝑛𝑒𝑠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−−4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9A2BCF53-8ACF-4431-84FD-4643F2F2E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0200" y="2171700"/>
                <a:ext cx="7239000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E299029F-99D1-4870-AE1E-6D5A12377309}"/>
                  </a:ext>
                </a:extLst>
              </p:cNvPr>
              <p:cNvSpPr txBox="1"/>
              <p:nvPr/>
            </p:nvSpPr>
            <p:spPr>
              <a:xfrm>
                <a:off x="2438400" y="2171700"/>
                <a:ext cx="72390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𝐵𝑜𝑙𝑠𝑎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𝑡𝑒𝑙𝑎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−−6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E299029F-99D1-4870-AE1E-6D5A12377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2171700"/>
                <a:ext cx="7239000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48738B5-F6A0-4A11-A370-4C0718A027E5}"/>
                  </a:ext>
                </a:extLst>
              </p:cNvPr>
              <p:cNvSpPr txBox="1"/>
              <p:nvPr/>
            </p:nvSpPr>
            <p:spPr>
              <a:xfrm>
                <a:off x="6781800" y="2171700"/>
                <a:ext cx="72390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𝐵𝑜𝑙𝑠𝑎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𝑝𝑙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𝑠𝑡𝑖𝑐𝑎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−−5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48738B5-F6A0-4A11-A370-4C0718A02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2171700"/>
                <a:ext cx="7239000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EA3F0947-2570-4291-8941-1A8D8DA1F2BE}"/>
                  </a:ext>
                </a:extLst>
              </p:cNvPr>
              <p:cNvSpPr txBox="1"/>
              <p:nvPr/>
            </p:nvSpPr>
            <p:spPr>
              <a:xfrm>
                <a:off x="11811000" y="2171699"/>
                <a:ext cx="72390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𝑐𝑎𝑗𝑎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𝑐𝑎𝑟𝑡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EA3F0947-2570-4291-8941-1A8D8DA1F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0" y="2171699"/>
                <a:ext cx="7239000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1C42251-2D1C-44C0-B1B8-CA43D6658A3E}"/>
                  </a:ext>
                </a:extLst>
              </p:cNvPr>
              <p:cNvSpPr txBox="1"/>
              <p:nvPr/>
            </p:nvSpPr>
            <p:spPr>
              <a:xfrm>
                <a:off x="190500" y="3771900"/>
                <a:ext cx="72390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×6×5×3=360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1C42251-2D1C-44C0-B1B8-CA43D6658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3771900"/>
                <a:ext cx="7239000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C0164DA-E4E8-48A5-87F4-F158126F9AA8}"/>
                  </a:ext>
                </a:extLst>
              </p:cNvPr>
              <p:cNvSpPr txBox="1"/>
              <p:nvPr/>
            </p:nvSpPr>
            <p:spPr>
              <a:xfrm>
                <a:off x="457200" y="5457427"/>
                <a:ext cx="7239000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4320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C0164DA-E4E8-48A5-87F4-F158126F9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457427"/>
                <a:ext cx="7239000" cy="11564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318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76188" y="2137778"/>
            <a:ext cx="15861946" cy="4285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69"/>
              </a:lnSpc>
            </a:pP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fábrica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botones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empaca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la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siguiente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forma: 4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botones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empacan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bolsa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tela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. 6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bolsas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tela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llenas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empacan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bolsa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plástica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. 5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bolsas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plásticas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llenas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empacan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caja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cartón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. 3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cajas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cartón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se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empacan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caja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madera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. La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cantidad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cajas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cartón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que se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llenan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con 4.320 </a:t>
            </a:r>
            <a:r>
              <a:rPr lang="en-US" sz="4551" spc="245" dirty="0" err="1">
                <a:solidFill>
                  <a:srgbClr val="000000"/>
                </a:solidFill>
                <a:latin typeface="Quicksand"/>
              </a:rPr>
              <a:t>botones</a:t>
            </a:r>
            <a:r>
              <a:rPr lang="en-US" sz="4551" spc="245" dirty="0">
                <a:solidFill>
                  <a:srgbClr val="000000"/>
                </a:solidFill>
                <a:latin typeface="Quicksand"/>
              </a:rPr>
              <a:t> es: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308343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12 cajas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4355" y="830388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24 cajas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30388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6 cajas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64578" y="8303883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11 cajas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13A5CD9A-C769-4384-9C0F-90A607B3E421}"/>
              </a:ext>
            </a:extLst>
          </p:cNvPr>
          <p:cNvSpPr/>
          <p:nvPr/>
        </p:nvSpPr>
        <p:spPr>
          <a:xfrm>
            <a:off x="3027405" y="6491552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808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6956546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6956546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6956546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6956546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28206" y="2324042"/>
            <a:ext cx="15861946" cy="411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74"/>
              </a:lnSpc>
            </a:pP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Un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vehículo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consume 3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gasolina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100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kilómetros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, si el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galón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cuesta $4.000 y se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realiza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viaje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de 200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kilómetros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, el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costo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de la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gasolina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es de: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74332" y="8876151"/>
            <a:ext cx="2466344" cy="526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8"/>
              </a:lnSpc>
            </a:pPr>
            <a:r>
              <a:rPr lang="en-US" sz="3905" spc="210">
                <a:solidFill>
                  <a:srgbClr val="000000"/>
                </a:solidFill>
                <a:latin typeface="Quicksand"/>
              </a:rPr>
              <a:t>$28.000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6377586" y="8875716"/>
            <a:ext cx="2466344" cy="526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8"/>
              </a:lnSpc>
            </a:pPr>
            <a:r>
              <a:rPr lang="en-US" sz="3905" spc="210">
                <a:solidFill>
                  <a:srgbClr val="000000"/>
                </a:solidFill>
                <a:latin typeface="Quicksand"/>
              </a:rPr>
              <a:t>$22.000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44071" y="8875716"/>
            <a:ext cx="2466344" cy="526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8"/>
              </a:lnSpc>
            </a:pPr>
            <a:r>
              <a:rPr lang="en-US" sz="3905" spc="210">
                <a:solidFill>
                  <a:srgbClr val="000000"/>
                </a:solidFill>
                <a:latin typeface="Quicksand"/>
              </a:rPr>
              <a:t>24.000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91039" y="8876151"/>
            <a:ext cx="2466344" cy="526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8"/>
              </a:lnSpc>
            </a:pPr>
            <a:r>
              <a:rPr lang="en-US" sz="3905" spc="210">
                <a:solidFill>
                  <a:srgbClr val="000000"/>
                </a:solidFill>
                <a:latin typeface="Quicksand"/>
              </a:rPr>
              <a:t>$20.500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70">
            <a:extLst>
              <a:ext uri="{FF2B5EF4-FFF2-40B4-BE49-F238E27FC236}">
                <a16:creationId xmlns:a16="http://schemas.microsoft.com/office/drawing/2014/main" id="{48FF10FF-8E77-40EA-A7BC-174D1136039B}"/>
              </a:ext>
            </a:extLst>
          </p:cNvPr>
          <p:cNvSpPr txBox="1"/>
          <p:nvPr/>
        </p:nvSpPr>
        <p:spPr>
          <a:xfrm>
            <a:off x="190500" y="266700"/>
            <a:ext cx="17907000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Un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vehículo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consume 3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gasolina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100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kilómetros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, si el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galón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cuesta $4.000 y se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realiza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viaje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de 200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kilómetros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, el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costo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de la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gasolina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es de: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9A2BCF53-8ACF-4431-84FD-4643F2F2EA5A}"/>
                  </a:ext>
                </a:extLst>
              </p:cNvPr>
              <p:cNvSpPr txBox="1"/>
              <p:nvPr/>
            </p:nvSpPr>
            <p:spPr>
              <a:xfrm>
                <a:off x="838200" y="1562100"/>
                <a:ext cx="41148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3 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𝑔𝑎𝑙𝑜𝑛𝑒𝑠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𝑝𝑜𝑟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𝑐𝑎𝑑𝑎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100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𝐾𝑚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9A2BCF53-8ACF-4431-84FD-4643F2F2E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62100"/>
                <a:ext cx="4114800" cy="615553"/>
              </a:xfrm>
              <a:prstGeom prst="rect">
                <a:avLst/>
              </a:prstGeom>
              <a:blipFill>
                <a:blip r:embed="rId3"/>
                <a:stretch>
                  <a:fillRect r="-4740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5486048-1F3A-45F9-B782-4728D9F1004A}"/>
                  </a:ext>
                </a:extLst>
              </p:cNvPr>
              <p:cNvSpPr txBox="1"/>
              <p:nvPr/>
            </p:nvSpPr>
            <p:spPr>
              <a:xfrm>
                <a:off x="7848600" y="1562100"/>
                <a:ext cx="41148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$4000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𝑐𝑎𝑑𝑎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𝑔𝑎𝑙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5486048-1F3A-45F9-B782-4728D9F10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600" y="1562100"/>
                <a:ext cx="4114800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89674A5-DDA6-4B22-B3D2-E3272CBEC69F}"/>
                  </a:ext>
                </a:extLst>
              </p:cNvPr>
              <p:cNvSpPr txBox="1"/>
              <p:nvPr/>
            </p:nvSpPr>
            <p:spPr>
              <a:xfrm>
                <a:off x="831273" y="2857500"/>
                <a:ext cx="41148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$12000 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𝑝𝑜𝑟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𝑐𝑎𝑑𝑎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100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𝐾𝑚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89674A5-DDA6-4B22-B3D2-E3272CBEC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3" y="2857500"/>
                <a:ext cx="4114800" cy="615553"/>
              </a:xfrm>
              <a:prstGeom prst="rect">
                <a:avLst/>
              </a:prstGeom>
              <a:blipFill>
                <a:blip r:embed="rId5"/>
                <a:stretch>
                  <a:fillRect r="-3688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354C1E6-BA15-44FC-BB00-92DA7811B3E4}"/>
                  </a:ext>
                </a:extLst>
              </p:cNvPr>
              <p:cNvSpPr txBox="1"/>
              <p:nvPr/>
            </p:nvSpPr>
            <p:spPr>
              <a:xfrm>
                <a:off x="2923309" y="4249455"/>
                <a:ext cx="41148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𝑝𝑎𝑟𝑎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200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𝐾𝑚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𝑠𝑒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𝑟𝑒𝑞𝑢𝑖𝑒𝑟𝑒𝑛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$24000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354C1E6-BA15-44FC-BB00-92DA7811B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309" y="4249455"/>
                <a:ext cx="4114800" cy="615553"/>
              </a:xfrm>
              <a:prstGeom prst="rect">
                <a:avLst/>
              </a:prstGeom>
              <a:blipFill>
                <a:blip r:embed="rId6"/>
                <a:stretch>
                  <a:fillRect r="-8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031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6956546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6956546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6956546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6956546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28206" y="2324042"/>
            <a:ext cx="15861946" cy="411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74"/>
              </a:lnSpc>
            </a:pP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Un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vehículo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consume 3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galones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gasolina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100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kilómetros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, si el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galón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cuesta $4.000 y se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realiza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viaje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de 200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kilómetros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, el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costo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de la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gasolina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es de: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74332" y="8876151"/>
            <a:ext cx="2466344" cy="526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8"/>
              </a:lnSpc>
            </a:pPr>
            <a:r>
              <a:rPr lang="en-US" sz="3905" spc="210">
                <a:solidFill>
                  <a:srgbClr val="000000"/>
                </a:solidFill>
                <a:latin typeface="Quicksand"/>
              </a:rPr>
              <a:t>$28.000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6377586" y="8875716"/>
            <a:ext cx="2466344" cy="526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8"/>
              </a:lnSpc>
            </a:pPr>
            <a:r>
              <a:rPr lang="en-US" sz="3905" spc="210">
                <a:solidFill>
                  <a:srgbClr val="000000"/>
                </a:solidFill>
                <a:latin typeface="Quicksand"/>
              </a:rPr>
              <a:t>$22.000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44071" y="8875716"/>
            <a:ext cx="2466344" cy="526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8"/>
              </a:lnSpc>
            </a:pPr>
            <a:r>
              <a:rPr lang="en-US" sz="3905" spc="210">
                <a:solidFill>
                  <a:srgbClr val="000000"/>
                </a:solidFill>
                <a:latin typeface="Quicksand"/>
              </a:rPr>
              <a:t>24.000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91039" y="8876151"/>
            <a:ext cx="2466344" cy="526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8"/>
              </a:lnSpc>
            </a:pPr>
            <a:r>
              <a:rPr lang="en-US" sz="3905" spc="210">
                <a:solidFill>
                  <a:srgbClr val="000000"/>
                </a:solidFill>
                <a:latin typeface="Quicksand"/>
              </a:rPr>
              <a:t>$20.500</a:t>
            </a:r>
          </a:p>
        </p:txBody>
      </p:sp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652C9200-DF69-48EB-A5C2-A53E8B33035D}"/>
              </a:ext>
            </a:extLst>
          </p:cNvPr>
          <p:cNvSpPr/>
          <p:nvPr/>
        </p:nvSpPr>
        <p:spPr>
          <a:xfrm>
            <a:off x="9219333" y="6395110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390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19354" y="1793342"/>
            <a:ext cx="17552237" cy="4150657"/>
            <a:chOff x="0" y="0"/>
            <a:chExt cx="5937423" cy="14040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937423" cy="1404050"/>
            </a:xfrm>
            <a:custGeom>
              <a:avLst/>
              <a:gdLst/>
              <a:ahLst/>
              <a:cxnLst/>
              <a:rect l="l" t="t" r="r" b="b"/>
              <a:pathLst>
                <a:path w="5937423" h="1404050">
                  <a:moveTo>
                    <a:pt x="0" y="0"/>
                  </a:moveTo>
                  <a:lnTo>
                    <a:pt x="5937423" y="0"/>
                  </a:lnTo>
                  <a:lnTo>
                    <a:pt x="5937423" y="1404050"/>
                  </a:lnTo>
                  <a:lnTo>
                    <a:pt x="0" y="1404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715190" y="2217068"/>
            <a:ext cx="17156400" cy="334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73"/>
              </a:lnSpc>
            </a:pP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Una pastilla de 20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gramos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está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compuesta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vitamina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C, de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hidratos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carbono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, de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proteínas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y de sales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minerales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proporción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: 2, 3, 4, 1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respectivamente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¿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Qué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cantidad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contiene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proteínas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6 gramos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4355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7 gramos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9 gramos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8 gramos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70">
            <a:extLst>
              <a:ext uri="{FF2B5EF4-FFF2-40B4-BE49-F238E27FC236}">
                <a16:creationId xmlns:a16="http://schemas.microsoft.com/office/drawing/2014/main" id="{48FF10FF-8E77-40EA-A7BC-174D1136039B}"/>
              </a:ext>
            </a:extLst>
          </p:cNvPr>
          <p:cNvSpPr txBox="1"/>
          <p:nvPr/>
        </p:nvSpPr>
        <p:spPr>
          <a:xfrm>
            <a:off x="190500" y="266700"/>
            <a:ext cx="17907000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Una pastilla de 20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gramos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está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compuesta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vitamina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C, de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hidratos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carbono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, de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proteínas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y de sales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minerales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proporción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: 2, 3, 4, 1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respectivamente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¿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Qué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cantidad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contiene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proteínas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354C1E6-BA15-44FC-BB00-92DA7811B3E4}"/>
                  </a:ext>
                </a:extLst>
              </p:cNvPr>
              <p:cNvSpPr txBox="1"/>
              <p:nvPr/>
            </p:nvSpPr>
            <p:spPr>
              <a:xfrm>
                <a:off x="218209" y="1790700"/>
                <a:ext cx="4191000" cy="11524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𝑉𝑖𝑡𝑎𝑚𝑖𝑛𝑎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354C1E6-BA15-44FC-BB00-92DA7811B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09" y="1790700"/>
                <a:ext cx="4191000" cy="11524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B52B02D-4E72-46C8-9249-9DEA540520F2}"/>
                  </a:ext>
                </a:extLst>
              </p:cNvPr>
              <p:cNvSpPr txBox="1"/>
              <p:nvPr/>
            </p:nvSpPr>
            <p:spPr>
              <a:xfrm>
                <a:off x="190500" y="3522290"/>
                <a:ext cx="6515100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𝐻𝑖𝑑𝑟𝑎𝑡𝑜𝑠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𝑐𝑎𝑟𝑏𝑜𝑛𝑜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B52B02D-4E72-46C8-9249-9DEA54052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3522290"/>
                <a:ext cx="6515100" cy="11564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5E3C79E-5AB1-47E6-A20C-61193006EAA6}"/>
                  </a:ext>
                </a:extLst>
              </p:cNvPr>
              <p:cNvSpPr txBox="1"/>
              <p:nvPr/>
            </p:nvSpPr>
            <p:spPr>
              <a:xfrm>
                <a:off x="162791" y="5030006"/>
                <a:ext cx="4246418" cy="11541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𝑃𝑟𝑜𝑡𝑒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𝑛𝑎𝑠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5E3C79E-5AB1-47E6-A20C-61193006E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91" y="5030006"/>
                <a:ext cx="4246418" cy="11541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21C1948-9171-4CE0-ADB6-5A653A687601}"/>
                  </a:ext>
                </a:extLst>
              </p:cNvPr>
              <p:cNvSpPr txBox="1"/>
              <p:nvPr/>
            </p:nvSpPr>
            <p:spPr>
              <a:xfrm>
                <a:off x="232064" y="6617276"/>
                <a:ext cx="5406736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𝑆𝑎𝑙𝑒𝑠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𝑀𝑖𝑛𝑒𝑟𝑎𝑙𝑒𝑠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21C1948-9171-4CE0-ADB6-5A653A687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64" y="6617276"/>
                <a:ext cx="5406736" cy="11564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530B5AC-9B29-4A15-AF92-100201B43027}"/>
                  </a:ext>
                </a:extLst>
              </p:cNvPr>
              <p:cNvSpPr txBox="1"/>
              <p:nvPr/>
            </p:nvSpPr>
            <p:spPr>
              <a:xfrm>
                <a:off x="8153400" y="2474910"/>
                <a:ext cx="7620000" cy="11541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𝑃𝑟𝑜𝑡𝑒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𝑛𝑎𝑠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×20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𝑔𝑟𝑎𝑚𝑜𝑠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530B5AC-9B29-4A15-AF92-100201B43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2474910"/>
                <a:ext cx="7620000" cy="11541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CC107309-E1ED-458E-B635-90B0BFFC8E49}"/>
                  </a:ext>
                </a:extLst>
              </p:cNvPr>
              <p:cNvSpPr txBox="1"/>
              <p:nvPr/>
            </p:nvSpPr>
            <p:spPr>
              <a:xfrm>
                <a:off x="8153400" y="4258706"/>
                <a:ext cx="76200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𝑃𝑟𝑜𝑡𝑒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𝑛𝑎𝑠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=8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𝑔𝑟𝑎𝑚𝑜𝑠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CC107309-E1ED-458E-B635-90B0BFFC8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4258706"/>
                <a:ext cx="7620000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35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19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19354" y="1793342"/>
            <a:ext cx="17552237" cy="4150657"/>
            <a:chOff x="0" y="0"/>
            <a:chExt cx="5937423" cy="14040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937423" cy="1404050"/>
            </a:xfrm>
            <a:custGeom>
              <a:avLst/>
              <a:gdLst/>
              <a:ahLst/>
              <a:cxnLst/>
              <a:rect l="l" t="t" r="r" b="b"/>
              <a:pathLst>
                <a:path w="5937423" h="1404050">
                  <a:moveTo>
                    <a:pt x="0" y="0"/>
                  </a:moveTo>
                  <a:lnTo>
                    <a:pt x="5937423" y="0"/>
                  </a:lnTo>
                  <a:lnTo>
                    <a:pt x="5937423" y="1404050"/>
                  </a:lnTo>
                  <a:lnTo>
                    <a:pt x="0" y="1404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715190" y="2217068"/>
            <a:ext cx="17156400" cy="334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73"/>
              </a:lnSpc>
            </a:pP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Una pastilla de 20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gramos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está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compuesta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vitamina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C, de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hidratos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carbono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, de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proteínas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y de sales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minerales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proporción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: 2, 3, 4, 1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respectivamente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¿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Qué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cantidad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contiene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proteínas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47870" y="8458375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6 gramos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4355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7 gramos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9 gramos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453915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8 gramos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2A9380C3-81EB-46E2-9234-B2E0AD99ADF7}"/>
              </a:ext>
            </a:extLst>
          </p:cNvPr>
          <p:cNvSpPr/>
          <p:nvPr/>
        </p:nvSpPr>
        <p:spPr>
          <a:xfrm>
            <a:off x="12226569" y="6242684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533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319354" y="1793342"/>
            <a:ext cx="17770041" cy="3772165"/>
            <a:chOff x="0" y="0"/>
            <a:chExt cx="6011100" cy="12760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011101" cy="1276016"/>
            </a:xfrm>
            <a:custGeom>
              <a:avLst/>
              <a:gdLst/>
              <a:ahLst/>
              <a:cxnLst/>
              <a:rect l="l" t="t" r="r" b="b"/>
              <a:pathLst>
                <a:path w="6011101" h="1276016">
                  <a:moveTo>
                    <a:pt x="0" y="0"/>
                  </a:moveTo>
                  <a:lnTo>
                    <a:pt x="6011101" y="0"/>
                  </a:lnTo>
                  <a:lnTo>
                    <a:pt x="6011101" y="1276016"/>
                  </a:lnTo>
                  <a:lnTo>
                    <a:pt x="0" y="12760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65123" y="594904"/>
            <a:ext cx="1956275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00794" y="6958926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7278" y="6958926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33763" y="6956546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700248" y="6958926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19354" y="2077890"/>
            <a:ext cx="17770041" cy="306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45"/>
              </a:lnSpc>
            </a:pP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Dos tercios de la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facultad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institución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educativa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son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mujeres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.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Doce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hombres de la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facultad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son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solteros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mientras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3/5 de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profesores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hombres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están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casados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. El número total de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miembros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de la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facultad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esa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institución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es: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247870" y="8399302"/>
            <a:ext cx="2514883" cy="100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0"/>
              </a:lnSpc>
            </a:pPr>
            <a:r>
              <a:rPr lang="en-US" sz="3682" spc="198">
                <a:solidFill>
                  <a:srgbClr val="000000"/>
                </a:solidFill>
                <a:latin typeface="Quicksand"/>
              </a:rPr>
              <a:t>88 miembros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53316" y="8283759"/>
            <a:ext cx="2514883" cy="974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sz="3642" spc="196">
                <a:solidFill>
                  <a:srgbClr val="000000"/>
                </a:solidFill>
                <a:latin typeface="Quicksand"/>
              </a:rPr>
              <a:t>90 miembros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80840" y="8399433"/>
            <a:ext cx="2592806" cy="100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4"/>
              </a:lnSpc>
            </a:pPr>
            <a:r>
              <a:rPr lang="en-US" sz="3648" spc="197">
                <a:solidFill>
                  <a:srgbClr val="000000"/>
                </a:solidFill>
                <a:latin typeface="Quicksand"/>
              </a:rPr>
              <a:t>92 miembros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86285" y="8418292"/>
            <a:ext cx="2571098" cy="100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3"/>
              </a:lnSpc>
            </a:pPr>
            <a:r>
              <a:rPr lang="en-US" sz="3676" spc="198">
                <a:solidFill>
                  <a:srgbClr val="000000"/>
                </a:solidFill>
                <a:latin typeface="Quicksand"/>
              </a:rPr>
              <a:t>89 miembros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70">
            <a:extLst>
              <a:ext uri="{FF2B5EF4-FFF2-40B4-BE49-F238E27FC236}">
                <a16:creationId xmlns:a16="http://schemas.microsoft.com/office/drawing/2014/main" id="{48FF10FF-8E77-40EA-A7BC-174D1136039B}"/>
              </a:ext>
            </a:extLst>
          </p:cNvPr>
          <p:cNvSpPr txBox="1"/>
          <p:nvPr/>
        </p:nvSpPr>
        <p:spPr>
          <a:xfrm>
            <a:off x="190500" y="266700"/>
            <a:ext cx="17907000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Dos tercios de la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facultad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institución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educativa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 son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mujeres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.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Doce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 hombres de la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facultad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 son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solteros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mientras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 3/5 de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profesores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 hombres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están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casados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. El número total de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miembros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 de la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facultad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esa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44" dirty="0" err="1">
                <a:solidFill>
                  <a:srgbClr val="000000"/>
                </a:solidFill>
                <a:latin typeface="Quicksand"/>
              </a:rPr>
              <a:t>institución</a:t>
            </a:r>
            <a:r>
              <a:rPr lang="en-US" sz="2400" spc="244" dirty="0">
                <a:solidFill>
                  <a:srgbClr val="000000"/>
                </a:solidFill>
                <a:latin typeface="Quicksand"/>
              </a:rPr>
              <a:t> es: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354C1E6-BA15-44FC-BB00-92DA7811B3E4}"/>
                  </a:ext>
                </a:extLst>
              </p:cNvPr>
              <p:cNvSpPr txBox="1"/>
              <p:nvPr/>
            </p:nvSpPr>
            <p:spPr>
              <a:xfrm>
                <a:off x="190500" y="2019300"/>
                <a:ext cx="3515591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𝑀𝑢𝑗𝑒𝑟𝑒𝑠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354C1E6-BA15-44FC-BB00-92DA7811B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2019300"/>
                <a:ext cx="3515591" cy="11564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03986E7-3AB4-4D14-84A9-05590863BF6A}"/>
                  </a:ext>
                </a:extLst>
              </p:cNvPr>
              <p:cNvSpPr txBox="1"/>
              <p:nvPr/>
            </p:nvSpPr>
            <p:spPr>
              <a:xfrm>
                <a:off x="4419600" y="2043545"/>
                <a:ext cx="3515591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𝐻𝑜𝑚𝑏𝑟𝑒𝑠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03986E7-3AB4-4D14-84A9-05590863B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2043545"/>
                <a:ext cx="3515591" cy="11564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48A7467-1BB4-47BD-97F7-C3F28B9CC2F0}"/>
                  </a:ext>
                </a:extLst>
              </p:cNvPr>
              <p:cNvSpPr txBox="1"/>
              <p:nvPr/>
            </p:nvSpPr>
            <p:spPr>
              <a:xfrm>
                <a:off x="8305800" y="2043545"/>
                <a:ext cx="6103318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𝐻𝑜𝑚𝑏𝑟𝑒𝑠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𝑠𝑜𝑙𝑡𝑒𝑟𝑜𝑠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48A7467-1BB4-47BD-97F7-C3F28B9CC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800" y="2043545"/>
                <a:ext cx="6103318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7722444-358A-4514-8432-D3427EA1D846}"/>
                  </a:ext>
                </a:extLst>
              </p:cNvPr>
              <p:cNvSpPr txBox="1"/>
              <p:nvPr/>
            </p:nvSpPr>
            <p:spPr>
              <a:xfrm>
                <a:off x="8340436" y="2867993"/>
                <a:ext cx="6103318" cy="11524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>
                          <a:latin typeface="Cambria Math" panose="02040503050406030204" pitchFamily="18" charset="0"/>
                        </a:rPr>
                        <m:t>𝐻𝑜𝑚𝑏𝑟𝑒𝑠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𝑐𝑎𝑠𝑎𝑑𝑜𝑠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7722444-358A-4514-8432-D3427EA1D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0436" y="2867993"/>
                <a:ext cx="6103318" cy="11524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00524A83-6C74-4A6C-8CB9-63674E7846F4}"/>
                  </a:ext>
                </a:extLst>
              </p:cNvPr>
              <p:cNvSpPr txBox="1"/>
              <p:nvPr/>
            </p:nvSpPr>
            <p:spPr>
              <a:xfrm>
                <a:off x="13868400" y="1775073"/>
                <a:ext cx="1430481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00524A83-6C74-4A6C-8CB9-63674E784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8400" y="1775073"/>
                <a:ext cx="1430481" cy="11564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7B4B5A4-C26D-4A4D-AB53-F034C122C5D2}"/>
                  </a:ext>
                </a:extLst>
              </p:cNvPr>
              <p:cNvSpPr txBox="1"/>
              <p:nvPr/>
            </p:nvSpPr>
            <p:spPr>
              <a:xfrm>
                <a:off x="20782" y="3678163"/>
                <a:ext cx="4218709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12−−−−−−</m:t>
                      </m:r>
                      <m:f>
                        <m:fPr>
                          <m:ctrlPr>
                            <a:rPr lang="es-E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7B4B5A4-C26D-4A4D-AB53-F034C122C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2" y="3678163"/>
                <a:ext cx="4218709" cy="11564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9E299B8-45F0-4538-AD5C-5FC870BED872}"/>
                  </a:ext>
                </a:extLst>
              </p:cNvPr>
              <p:cNvSpPr txBox="1"/>
              <p:nvPr/>
            </p:nvSpPr>
            <p:spPr>
              <a:xfrm>
                <a:off x="20782" y="5143500"/>
                <a:ext cx="4218709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400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−−−−−−</m:t>
                      </m:r>
                      <m:f>
                        <m:fPr>
                          <m:ctrlPr>
                            <a:rPr lang="es-E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9E299B8-45F0-4538-AD5C-5FC870BED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2" y="5143500"/>
                <a:ext cx="4218709" cy="115647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C173A3EE-2DDB-4E6B-B17F-E7B4F7EFF523}"/>
                  </a:ext>
                </a:extLst>
              </p:cNvPr>
              <p:cNvSpPr txBox="1"/>
              <p:nvPr/>
            </p:nvSpPr>
            <p:spPr>
              <a:xfrm>
                <a:off x="20783" y="7010169"/>
                <a:ext cx="3027218" cy="20636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400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s-E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s-ES" sz="4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C173A3EE-2DDB-4E6B-B17F-E7B4F7EFF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3" y="7010169"/>
                <a:ext cx="3027218" cy="20636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190E3223-4AAE-4369-9204-4E5EF03C292D}"/>
                  </a:ext>
                </a:extLst>
              </p:cNvPr>
              <p:cNvSpPr txBox="1"/>
              <p:nvPr/>
            </p:nvSpPr>
            <p:spPr>
              <a:xfrm>
                <a:off x="2130136" y="7743667"/>
                <a:ext cx="3027218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190E3223-4AAE-4369-9204-4E5EF03C2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136" y="7743667"/>
                <a:ext cx="3027218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EB89E9DB-3EAF-417C-BCD9-8756DFF87CF6}"/>
                  </a:ext>
                </a:extLst>
              </p:cNvPr>
              <p:cNvSpPr txBox="1"/>
              <p:nvPr/>
            </p:nvSpPr>
            <p:spPr>
              <a:xfrm>
                <a:off x="13258799" y="3175770"/>
                <a:ext cx="3027218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EB89E9DB-3EAF-417C-BCD9-8756DFF87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8799" y="3175770"/>
                <a:ext cx="3027218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DBA8EC3F-1623-47EC-8D8D-C21B67B7D3D2}"/>
                  </a:ext>
                </a:extLst>
              </p:cNvPr>
              <p:cNvSpPr txBox="1"/>
              <p:nvPr/>
            </p:nvSpPr>
            <p:spPr>
              <a:xfrm>
                <a:off x="8305800" y="4234747"/>
                <a:ext cx="74676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4000" b="0" i="0" smtClean="0"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𝐻𝑜𝑚𝑏𝑟𝑒𝑠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 =12+18=30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DBA8EC3F-1623-47EC-8D8D-C21B67B7D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800" y="4234747"/>
                <a:ext cx="7467600" cy="6155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64F83CA0-CB6E-4B20-AC8B-1BA5F2382896}"/>
                  </a:ext>
                </a:extLst>
              </p:cNvPr>
              <p:cNvSpPr txBox="1"/>
              <p:nvPr/>
            </p:nvSpPr>
            <p:spPr>
              <a:xfrm>
                <a:off x="4239491" y="3700884"/>
                <a:ext cx="4218709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30−−−−−−</m:t>
                      </m:r>
                      <m:f>
                        <m:fPr>
                          <m:ctrlPr>
                            <a:rPr lang="es-E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64F83CA0-CB6E-4B20-AC8B-1BA5F2382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491" y="3700884"/>
                <a:ext cx="4218709" cy="115647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4C24DEE4-FB66-4FFD-94E6-C0E5C34428E5}"/>
                  </a:ext>
                </a:extLst>
              </p:cNvPr>
              <p:cNvSpPr txBox="1"/>
              <p:nvPr/>
            </p:nvSpPr>
            <p:spPr>
              <a:xfrm>
                <a:off x="4312227" y="5145359"/>
                <a:ext cx="4218709" cy="11564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400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−−−−−−</m:t>
                      </m:r>
                      <m:f>
                        <m:fPr>
                          <m:ctrlPr>
                            <a:rPr lang="es-E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4C24DEE4-FB66-4FFD-94E6-C0E5C3442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227" y="5145359"/>
                <a:ext cx="4218709" cy="115647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501BDD9-04C7-48B7-A6F8-A7E30BBAE77F}"/>
                  </a:ext>
                </a:extLst>
              </p:cNvPr>
              <p:cNvSpPr txBox="1"/>
              <p:nvPr/>
            </p:nvSpPr>
            <p:spPr>
              <a:xfrm>
                <a:off x="4907973" y="6676602"/>
                <a:ext cx="3027218" cy="21167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400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s-E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s-ES" sz="4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501BDD9-04C7-48B7-A6F8-A7E30BBAE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973" y="6676602"/>
                <a:ext cx="3027218" cy="211673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E7DF7428-E2E1-4962-AA24-3E8687DD956C}"/>
                  </a:ext>
                </a:extLst>
              </p:cNvPr>
              <p:cNvSpPr txBox="1"/>
              <p:nvPr/>
            </p:nvSpPr>
            <p:spPr>
              <a:xfrm>
                <a:off x="6767945" y="7400646"/>
                <a:ext cx="3027218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E7DF7428-E2E1-4962-AA24-3E8687DD9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945" y="7400646"/>
                <a:ext cx="3027218" cy="61555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158CF054-5AA1-4657-B326-1774252A51CE}"/>
                  </a:ext>
                </a:extLst>
              </p:cNvPr>
              <p:cNvSpPr txBox="1"/>
              <p:nvPr/>
            </p:nvSpPr>
            <p:spPr>
              <a:xfrm>
                <a:off x="8818417" y="6115295"/>
                <a:ext cx="74676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𝑚𝑖𝑒𝑚𝑏𝑟𝑜𝑠</m:t>
                      </m:r>
                      <m:r>
                        <a:rPr lang="es-ES" sz="40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30+60=90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158CF054-5AA1-4657-B326-1774252A5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8417" y="6115295"/>
                <a:ext cx="7467600" cy="61555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603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319354" y="1793342"/>
            <a:ext cx="17770041" cy="3772165"/>
            <a:chOff x="0" y="0"/>
            <a:chExt cx="6011100" cy="12760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011101" cy="1276016"/>
            </a:xfrm>
            <a:custGeom>
              <a:avLst/>
              <a:gdLst/>
              <a:ahLst/>
              <a:cxnLst/>
              <a:rect l="l" t="t" r="r" b="b"/>
              <a:pathLst>
                <a:path w="6011101" h="1276016">
                  <a:moveTo>
                    <a:pt x="0" y="0"/>
                  </a:moveTo>
                  <a:lnTo>
                    <a:pt x="6011101" y="0"/>
                  </a:lnTo>
                  <a:lnTo>
                    <a:pt x="6011101" y="1276016"/>
                  </a:lnTo>
                  <a:lnTo>
                    <a:pt x="0" y="12760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65123" y="594904"/>
            <a:ext cx="1956275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00794" y="6958926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7278" y="6958926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33763" y="6956546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700248" y="6958926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19354" y="2077890"/>
            <a:ext cx="17770041" cy="306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45"/>
              </a:lnSpc>
            </a:pP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Dos tercios de la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facultad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institución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educativa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son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mujeres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.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Doce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hombres de la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facultad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son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solteros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mientras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3/5 de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profesores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hombres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están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casados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. El número total de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miembros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de la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facultad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esa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528" spc="244" dirty="0" err="1">
                <a:solidFill>
                  <a:srgbClr val="000000"/>
                </a:solidFill>
                <a:latin typeface="Quicksand"/>
              </a:rPr>
              <a:t>institución</a:t>
            </a:r>
            <a:r>
              <a:rPr lang="en-US" sz="4528" spc="244" dirty="0">
                <a:solidFill>
                  <a:srgbClr val="000000"/>
                </a:solidFill>
                <a:latin typeface="Quicksand"/>
              </a:rPr>
              <a:t> es: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247870" y="8399302"/>
            <a:ext cx="2514883" cy="100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0"/>
              </a:lnSpc>
            </a:pPr>
            <a:r>
              <a:rPr lang="en-US" sz="3682" spc="198">
                <a:solidFill>
                  <a:srgbClr val="000000"/>
                </a:solidFill>
                <a:latin typeface="Quicksand"/>
              </a:rPr>
              <a:t>88 miembros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53316" y="8283759"/>
            <a:ext cx="2514883" cy="974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sz="3642" spc="196">
                <a:solidFill>
                  <a:srgbClr val="000000"/>
                </a:solidFill>
                <a:latin typeface="Quicksand"/>
              </a:rPr>
              <a:t>90 miembros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80840" y="8399433"/>
            <a:ext cx="2592806" cy="100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4"/>
              </a:lnSpc>
            </a:pPr>
            <a:r>
              <a:rPr lang="en-US" sz="3648" spc="197">
                <a:solidFill>
                  <a:srgbClr val="000000"/>
                </a:solidFill>
                <a:latin typeface="Quicksand"/>
              </a:rPr>
              <a:t>92 miembros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86285" y="8418292"/>
            <a:ext cx="2571098" cy="100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3"/>
              </a:lnSpc>
            </a:pPr>
            <a:r>
              <a:rPr lang="en-US" sz="3676" spc="198">
                <a:solidFill>
                  <a:srgbClr val="000000"/>
                </a:solidFill>
                <a:latin typeface="Quicksand"/>
              </a:rPr>
              <a:t>89 miembros</a:t>
            </a:r>
          </a:p>
        </p:txBody>
      </p:sp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7ED5FACD-A100-4C0C-BDE0-A3B89AE6E279}"/>
              </a:ext>
            </a:extLst>
          </p:cNvPr>
          <p:cNvSpPr/>
          <p:nvPr/>
        </p:nvSpPr>
        <p:spPr>
          <a:xfrm>
            <a:off x="6180073" y="6056780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695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57046" y="2243720"/>
            <a:ext cx="16005149" cy="411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74"/>
              </a:lnSpc>
            </a:pP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Un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barco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provisiones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para 20 días y 45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tripulantes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pero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, al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emprender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viaje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, se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quedan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tierra 9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marineros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. ¿Para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cuantos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días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llegarán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víveres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65123" y="8701420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22 días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4355" y="8688574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20 días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696960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25 días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688574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21 días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70">
            <a:extLst>
              <a:ext uri="{FF2B5EF4-FFF2-40B4-BE49-F238E27FC236}">
                <a16:creationId xmlns:a16="http://schemas.microsoft.com/office/drawing/2014/main" id="{48FF10FF-8E77-40EA-A7BC-174D1136039B}"/>
              </a:ext>
            </a:extLst>
          </p:cNvPr>
          <p:cNvSpPr txBox="1"/>
          <p:nvPr/>
        </p:nvSpPr>
        <p:spPr>
          <a:xfrm>
            <a:off x="190500" y="266700"/>
            <a:ext cx="17907000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Un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barco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provisiones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para 20 días y 45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tripulantes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pero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, al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emprender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viaje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, se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quedan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tierra 9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marineros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. ¿Para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cuantos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días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llegarán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26" dirty="0" err="1">
                <a:solidFill>
                  <a:srgbClr val="000000"/>
                </a:solidFill>
                <a:latin typeface="Quicksand"/>
              </a:rPr>
              <a:t>víveres</a:t>
            </a:r>
            <a:r>
              <a:rPr lang="en-US" sz="2400" spc="326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03986E7-3AB4-4D14-84A9-05590863BF6A}"/>
                  </a:ext>
                </a:extLst>
              </p:cNvPr>
              <p:cNvSpPr txBox="1"/>
              <p:nvPr/>
            </p:nvSpPr>
            <p:spPr>
              <a:xfrm>
                <a:off x="457200" y="2171700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45 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𝑡𝑟𝑖𝑝𝑢𝑙𝑎𝑛𝑡𝑒𝑠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−−−−−−−−−20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𝑎𝑠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03986E7-3AB4-4D14-84A9-05590863B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71700"/>
                <a:ext cx="9754379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31E69350-22D3-41F4-9876-07A6AF58B1EC}"/>
                  </a:ext>
                </a:extLst>
              </p:cNvPr>
              <p:cNvSpPr txBox="1"/>
              <p:nvPr/>
            </p:nvSpPr>
            <p:spPr>
              <a:xfrm>
                <a:off x="190500" y="3245703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𝑡𝑟𝑖𝑝𝑢𝑙𝑎𝑛𝑡𝑒𝑠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−−−−−−−−−−−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31E69350-22D3-41F4-9876-07A6AF58B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3245703"/>
                <a:ext cx="9754379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0BF9161A-D046-4466-95C3-C6A5C1E1FE09}"/>
                  </a:ext>
                </a:extLst>
              </p:cNvPr>
              <p:cNvSpPr txBox="1"/>
              <p:nvPr/>
            </p:nvSpPr>
            <p:spPr>
              <a:xfrm>
                <a:off x="169719" y="4635842"/>
                <a:ext cx="7297882" cy="12754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45 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𝑡𝑟𝑖𝑝𝑢𝑙𝑎𝑛𝑡𝑒𝑠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 ×20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í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𝑎𝑠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36 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𝑡𝑟𝑖𝑝𝑢𝑙𝑎𝑛𝑡𝑒𝑠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0BF9161A-D046-4466-95C3-C6A5C1E1F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19" y="4635842"/>
                <a:ext cx="7297882" cy="12754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0B91E546-962A-4634-A093-44B0E4672A54}"/>
                  </a:ext>
                </a:extLst>
              </p:cNvPr>
              <p:cNvSpPr txBox="1"/>
              <p:nvPr/>
            </p:nvSpPr>
            <p:spPr>
              <a:xfrm>
                <a:off x="7171460" y="4665843"/>
                <a:ext cx="3040119" cy="11719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900 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í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𝑎𝑠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36 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0B91E546-962A-4634-A093-44B0E4672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460" y="4665843"/>
                <a:ext cx="3040119" cy="11719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9D14F3D8-5C49-4474-857D-1D5056353A80}"/>
                  </a:ext>
                </a:extLst>
              </p:cNvPr>
              <p:cNvSpPr txBox="1"/>
              <p:nvPr/>
            </p:nvSpPr>
            <p:spPr>
              <a:xfrm>
                <a:off x="9677400" y="5006141"/>
                <a:ext cx="304011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=25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𝑎𝑠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9D14F3D8-5C49-4474-857D-1D5056353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400" y="5006141"/>
                <a:ext cx="3040119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1729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2705" y="594904"/>
            <a:ext cx="1581111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57046" y="2243720"/>
            <a:ext cx="16005149" cy="411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74"/>
              </a:lnSpc>
            </a:pP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Un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barco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tiene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provisiones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para 20 días y 45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tripulantes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pero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, al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emprender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viaje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, se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quedan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tierra 9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marineros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. ¿Para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cuantos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días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llegarán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051" spc="326" dirty="0" err="1">
                <a:solidFill>
                  <a:srgbClr val="000000"/>
                </a:solidFill>
                <a:latin typeface="Quicksand"/>
              </a:rPr>
              <a:t>víveres</a:t>
            </a:r>
            <a:r>
              <a:rPr lang="en-US" sz="6051" spc="326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65123" y="8701420"/>
            <a:ext cx="2592806" cy="5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sz="4105" spc="221">
                <a:solidFill>
                  <a:srgbClr val="000000"/>
                </a:solidFill>
                <a:latin typeface="Quicksand"/>
              </a:rPr>
              <a:t>22 días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4355" y="8688574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20 días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696960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25 días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7324" y="8688574"/>
            <a:ext cx="2592806" cy="56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sz="3999" spc="215">
                <a:solidFill>
                  <a:srgbClr val="000000"/>
                </a:solidFill>
                <a:latin typeface="Quicksand"/>
              </a:rPr>
              <a:t>21 días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6C2EADB4-53C2-4928-8CDD-25B8F7DD4591}"/>
              </a:ext>
            </a:extLst>
          </p:cNvPr>
          <p:cNvSpPr/>
          <p:nvPr/>
        </p:nvSpPr>
        <p:spPr>
          <a:xfrm>
            <a:off x="9300874" y="6242388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216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028700" y="150137"/>
            <a:ext cx="16389810" cy="3087959"/>
            <a:chOff x="0" y="0"/>
            <a:chExt cx="5544207" cy="10445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44207" cy="1044569"/>
            </a:xfrm>
            <a:custGeom>
              <a:avLst/>
              <a:gdLst/>
              <a:ahLst/>
              <a:cxnLst/>
              <a:rect l="l" t="t" r="r" b="b"/>
              <a:pathLst>
                <a:path w="5544207" h="1044569">
                  <a:moveTo>
                    <a:pt x="0" y="0"/>
                  </a:moveTo>
                  <a:lnTo>
                    <a:pt x="5544207" y="0"/>
                  </a:lnTo>
                  <a:lnTo>
                    <a:pt x="5544207" y="1044569"/>
                  </a:lnTo>
                  <a:lnTo>
                    <a:pt x="0" y="10445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 t="4918" b="7515"/>
          <a:stretch>
            <a:fillRect/>
          </a:stretch>
        </p:blipFill>
        <p:spPr>
          <a:xfrm>
            <a:off x="2484219" y="3238095"/>
            <a:ext cx="13319562" cy="6866814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33253" y="459474"/>
            <a:ext cx="16026047" cy="2538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3776" spc="203">
                <a:solidFill>
                  <a:srgbClr val="000000"/>
                </a:solidFill>
                <a:latin typeface="Quicksand"/>
              </a:rPr>
              <a:t>Responda las preguntas 22 a la 25 de acuerdo con la siguiente información</a:t>
            </a:r>
          </a:p>
          <a:p>
            <a:pPr>
              <a:lnSpc>
                <a:spcPts val="4040"/>
              </a:lnSpc>
            </a:pPr>
            <a:r>
              <a:rPr lang="en-US" sz="3776" spc="70">
                <a:solidFill>
                  <a:srgbClr val="000000"/>
                </a:solidFill>
                <a:latin typeface="Arimo"/>
              </a:rPr>
              <a:t>Una universidad recibe 600 aspirantes para uno de sus programas académicos. El proceso de admisión se ilustra en el siguiente esquema: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85002" y="5892865"/>
            <a:ext cx="16091140" cy="2602683"/>
            <a:chOff x="0" y="0"/>
            <a:chExt cx="3035380" cy="4909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35380" cy="490962"/>
            </a:xfrm>
            <a:custGeom>
              <a:avLst/>
              <a:gdLst/>
              <a:ahLst/>
              <a:cxnLst/>
              <a:rect l="l" t="t" r="r" b="b"/>
              <a:pathLst>
                <a:path w="3035380" h="490962">
                  <a:moveTo>
                    <a:pt x="0" y="0"/>
                  </a:moveTo>
                  <a:lnTo>
                    <a:pt x="3035380" y="0"/>
                  </a:lnTo>
                  <a:lnTo>
                    <a:pt x="3035380" y="490962"/>
                  </a:lnTo>
                  <a:lnTo>
                    <a:pt x="0" y="4909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65123" y="594904"/>
            <a:ext cx="1956275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22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85002" y="2129420"/>
            <a:ext cx="16148353" cy="3436087"/>
            <a:chOff x="0" y="0"/>
            <a:chExt cx="5462529" cy="116233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62529" cy="1162331"/>
            </a:xfrm>
            <a:custGeom>
              <a:avLst/>
              <a:gdLst/>
              <a:ahLst/>
              <a:cxnLst/>
              <a:rect l="l" t="t" r="r" b="b"/>
              <a:pathLst>
                <a:path w="5462529" h="1162331">
                  <a:moveTo>
                    <a:pt x="0" y="0"/>
                  </a:moveTo>
                  <a:lnTo>
                    <a:pt x="5462529" y="0"/>
                  </a:lnTo>
                  <a:lnTo>
                    <a:pt x="5462529" y="1162331"/>
                  </a:lnTo>
                  <a:lnTo>
                    <a:pt x="0" y="11623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014196" y="2525732"/>
            <a:ext cx="15861946" cy="271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16"/>
              </a:lnSpc>
            </a:pPr>
            <a:r>
              <a:rPr lang="en-US" sz="6651" spc="359">
                <a:solidFill>
                  <a:srgbClr val="000000"/>
                </a:solidFill>
                <a:latin typeface="Quicksand"/>
              </a:rPr>
              <a:t>Para que un aspirante sea admitido en este programa académico es suficiente que se encuentre entre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991625"/>
            <a:ext cx="15861946" cy="234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07"/>
              </a:lnSpc>
            </a:pPr>
            <a:r>
              <a:rPr lang="en-US" sz="4305" spc="232">
                <a:solidFill>
                  <a:srgbClr val="000000"/>
                </a:solidFill>
                <a:latin typeface="Quicksand"/>
              </a:rPr>
              <a:t>A. los mejores 16 puntajes de su grupo en la prueba I.</a:t>
            </a:r>
          </a:p>
          <a:p>
            <a:pPr>
              <a:lnSpc>
                <a:spcPts val="4607"/>
              </a:lnSpc>
            </a:pPr>
            <a:r>
              <a:rPr lang="en-US" sz="4305" spc="95">
                <a:solidFill>
                  <a:srgbClr val="000000"/>
                </a:solidFill>
                <a:latin typeface="Arimo"/>
              </a:rPr>
              <a:t>B. los mejores 24 puntajes de su grupo en la prueba II.</a:t>
            </a:r>
          </a:p>
          <a:p>
            <a:pPr>
              <a:lnSpc>
                <a:spcPts val="4607"/>
              </a:lnSpc>
            </a:pPr>
            <a:r>
              <a:rPr lang="en-US" sz="4305" spc="95">
                <a:solidFill>
                  <a:srgbClr val="000000"/>
                </a:solidFill>
                <a:latin typeface="Arimo"/>
              </a:rPr>
              <a:t>C. los mejores 64 puntajes de la prueba I.</a:t>
            </a:r>
          </a:p>
          <a:p>
            <a:pPr>
              <a:lnSpc>
                <a:spcPts val="4607"/>
              </a:lnSpc>
            </a:pPr>
            <a:r>
              <a:rPr lang="en-US" sz="4305" spc="95">
                <a:solidFill>
                  <a:srgbClr val="000000"/>
                </a:solidFill>
                <a:latin typeface="Arimo"/>
              </a:rPr>
              <a:t>D. los mejores 96 puntajes de la prueba II.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20" name="Estrella: 5 puntas 19">
            <a:extLst>
              <a:ext uri="{FF2B5EF4-FFF2-40B4-BE49-F238E27FC236}">
                <a16:creationId xmlns:a16="http://schemas.microsoft.com/office/drawing/2014/main" id="{2805B881-D612-44C6-934E-5455B7F4EC4C}"/>
              </a:ext>
            </a:extLst>
          </p:cNvPr>
          <p:cNvSpPr/>
          <p:nvPr/>
        </p:nvSpPr>
        <p:spPr>
          <a:xfrm>
            <a:off x="842674" y="6438900"/>
            <a:ext cx="681326" cy="59190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028700" y="150137"/>
            <a:ext cx="16389810" cy="3087959"/>
            <a:chOff x="0" y="0"/>
            <a:chExt cx="5544207" cy="10445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44207" cy="1044569"/>
            </a:xfrm>
            <a:custGeom>
              <a:avLst/>
              <a:gdLst/>
              <a:ahLst/>
              <a:cxnLst/>
              <a:rect l="l" t="t" r="r" b="b"/>
              <a:pathLst>
                <a:path w="5544207" h="1044569">
                  <a:moveTo>
                    <a:pt x="0" y="0"/>
                  </a:moveTo>
                  <a:lnTo>
                    <a:pt x="5544207" y="0"/>
                  </a:lnTo>
                  <a:lnTo>
                    <a:pt x="5544207" y="1044569"/>
                  </a:lnTo>
                  <a:lnTo>
                    <a:pt x="0" y="10445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 t="4918" b="7515"/>
          <a:stretch>
            <a:fillRect/>
          </a:stretch>
        </p:blipFill>
        <p:spPr>
          <a:xfrm>
            <a:off x="2484219" y="3238095"/>
            <a:ext cx="13319562" cy="6866814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33253" y="459474"/>
            <a:ext cx="16026047" cy="2538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3776" spc="203">
                <a:solidFill>
                  <a:srgbClr val="000000"/>
                </a:solidFill>
                <a:latin typeface="Quicksand"/>
              </a:rPr>
              <a:t>Responda las preguntas 22 a la 25 de acuerdo con la siguiente información</a:t>
            </a:r>
          </a:p>
          <a:p>
            <a:pPr>
              <a:lnSpc>
                <a:spcPts val="4040"/>
              </a:lnSpc>
            </a:pPr>
            <a:r>
              <a:rPr lang="en-US" sz="3776" spc="70">
                <a:solidFill>
                  <a:srgbClr val="000000"/>
                </a:solidFill>
                <a:latin typeface="Arimo"/>
              </a:rPr>
              <a:t>Una universidad recibe 600 aspirantes para uno de sus programas académicos. El proceso de admisión se ilustra en el siguiente esquema:</a:t>
            </a:r>
          </a:p>
        </p:txBody>
      </p:sp>
    </p:spTree>
    <p:extLst>
      <p:ext uri="{BB962C8B-B14F-4D97-AF65-F5344CB8AC3E}">
        <p14:creationId xmlns:p14="http://schemas.microsoft.com/office/powerpoint/2010/main" val="24723983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709038" y="6358547"/>
            <a:ext cx="15081113" cy="2595270"/>
            <a:chOff x="0" y="0"/>
            <a:chExt cx="2844851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4851" cy="489563"/>
            </a:xfrm>
            <a:custGeom>
              <a:avLst/>
              <a:gdLst/>
              <a:ahLst/>
              <a:cxnLst/>
              <a:rect l="l" t="t" r="r" b="b"/>
              <a:pathLst>
                <a:path w="2844851" h="489563">
                  <a:moveTo>
                    <a:pt x="0" y="0"/>
                  </a:moveTo>
                  <a:lnTo>
                    <a:pt x="2844851" y="0"/>
                  </a:lnTo>
                  <a:lnTo>
                    <a:pt x="2844851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65123" y="594904"/>
            <a:ext cx="1956275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85002" y="2129420"/>
            <a:ext cx="16148353" cy="3814580"/>
            <a:chOff x="0" y="0"/>
            <a:chExt cx="5462529" cy="12903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62529" cy="1290364"/>
            </a:xfrm>
            <a:custGeom>
              <a:avLst/>
              <a:gdLst/>
              <a:ahLst/>
              <a:cxnLst/>
              <a:rect l="l" t="t" r="r" b="b"/>
              <a:pathLst>
                <a:path w="5462529" h="1290364">
                  <a:moveTo>
                    <a:pt x="0" y="0"/>
                  </a:moveTo>
                  <a:lnTo>
                    <a:pt x="5462529" y="0"/>
                  </a:lnTo>
                  <a:lnTo>
                    <a:pt x="5462529" y="1290364"/>
                  </a:lnTo>
                  <a:lnTo>
                    <a:pt x="0" y="129036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928206" y="2195934"/>
            <a:ext cx="15861946" cy="361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62"/>
              </a:lnSpc>
            </a:pPr>
            <a:r>
              <a:rPr lang="en-US" sz="4451" spc="240">
                <a:solidFill>
                  <a:srgbClr val="000000"/>
                </a:solidFill>
                <a:latin typeface="Quicksand"/>
              </a:rPr>
              <a:t>A partir del esquema se desea calcular:</a:t>
            </a:r>
          </a:p>
          <a:p>
            <a:pPr>
              <a:lnSpc>
                <a:spcPts val="4762"/>
              </a:lnSpc>
            </a:pPr>
            <a:r>
              <a:rPr lang="en-US" sz="4451" spc="32">
                <a:solidFill>
                  <a:srgbClr val="000000"/>
                </a:solidFill>
                <a:latin typeface="Arimo"/>
              </a:rPr>
              <a:t>I. La máxima cantidad de personas admitidas por grupo.</a:t>
            </a:r>
          </a:p>
          <a:p>
            <a:pPr>
              <a:lnSpc>
                <a:spcPts val="4762"/>
              </a:lnSpc>
            </a:pPr>
            <a:r>
              <a:rPr lang="en-US" sz="4451" spc="32">
                <a:solidFill>
                  <a:srgbClr val="000000"/>
                </a:solidFill>
                <a:latin typeface="Arimo"/>
              </a:rPr>
              <a:t>II. El número de aspirantes que superan la prueba II.</a:t>
            </a:r>
          </a:p>
          <a:p>
            <a:pPr>
              <a:lnSpc>
                <a:spcPts val="4762"/>
              </a:lnSpc>
            </a:pPr>
            <a:r>
              <a:rPr lang="en-US" sz="4451" spc="32">
                <a:solidFill>
                  <a:srgbClr val="000000"/>
                </a:solidFill>
                <a:latin typeface="Arimo"/>
              </a:rPr>
              <a:t>III. La cantidad de personas que superan la prueba I.</a:t>
            </a:r>
          </a:p>
          <a:p>
            <a:pPr>
              <a:lnSpc>
                <a:spcPts val="4762"/>
              </a:lnSpc>
            </a:pPr>
            <a:r>
              <a:rPr lang="en-US" sz="4451" spc="32">
                <a:solidFill>
                  <a:srgbClr val="000000"/>
                </a:solidFill>
                <a:latin typeface="Arimo"/>
              </a:rPr>
              <a:t>Es posible determinar: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13208" y="6506214"/>
            <a:ext cx="15906982" cy="234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07"/>
              </a:lnSpc>
            </a:pPr>
            <a:r>
              <a:rPr lang="en-US" sz="4305" spc="232">
                <a:solidFill>
                  <a:srgbClr val="000000"/>
                </a:solidFill>
                <a:latin typeface="Quicksand"/>
              </a:rPr>
              <a:t>A. I solamente.</a:t>
            </a:r>
          </a:p>
          <a:p>
            <a:pPr>
              <a:lnSpc>
                <a:spcPts val="4607"/>
              </a:lnSpc>
            </a:pPr>
            <a:r>
              <a:rPr lang="en-US" sz="4305" spc="95">
                <a:solidFill>
                  <a:srgbClr val="000000"/>
                </a:solidFill>
                <a:latin typeface="Arimo"/>
              </a:rPr>
              <a:t>B. I y II solamente.</a:t>
            </a:r>
          </a:p>
          <a:p>
            <a:pPr>
              <a:lnSpc>
                <a:spcPts val="4607"/>
              </a:lnSpc>
            </a:pPr>
            <a:r>
              <a:rPr lang="en-US" sz="4305" spc="95">
                <a:solidFill>
                  <a:srgbClr val="000000"/>
                </a:solidFill>
                <a:latin typeface="Arimo"/>
              </a:rPr>
              <a:t>C. III solamente.</a:t>
            </a:r>
          </a:p>
          <a:p>
            <a:pPr>
              <a:lnSpc>
                <a:spcPts val="4607"/>
              </a:lnSpc>
            </a:pPr>
            <a:r>
              <a:rPr lang="en-US" sz="4305" spc="95">
                <a:solidFill>
                  <a:srgbClr val="000000"/>
                </a:solidFill>
                <a:latin typeface="Arimo"/>
              </a:rPr>
              <a:t>D. II y III solamente.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20" name="Estrella: 5 puntas 19">
            <a:extLst>
              <a:ext uri="{FF2B5EF4-FFF2-40B4-BE49-F238E27FC236}">
                <a16:creationId xmlns:a16="http://schemas.microsoft.com/office/drawing/2014/main" id="{36400417-9D2B-41DE-91A4-1BCD9FEE7D62}"/>
              </a:ext>
            </a:extLst>
          </p:cNvPr>
          <p:cNvSpPr/>
          <p:nvPr/>
        </p:nvSpPr>
        <p:spPr>
          <a:xfrm>
            <a:off x="1927444" y="6456947"/>
            <a:ext cx="681326" cy="59190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028700" y="150137"/>
            <a:ext cx="16389810" cy="3087959"/>
            <a:chOff x="0" y="0"/>
            <a:chExt cx="5544207" cy="10445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44207" cy="1044569"/>
            </a:xfrm>
            <a:custGeom>
              <a:avLst/>
              <a:gdLst/>
              <a:ahLst/>
              <a:cxnLst/>
              <a:rect l="l" t="t" r="r" b="b"/>
              <a:pathLst>
                <a:path w="5544207" h="1044569">
                  <a:moveTo>
                    <a:pt x="0" y="0"/>
                  </a:moveTo>
                  <a:lnTo>
                    <a:pt x="5544207" y="0"/>
                  </a:lnTo>
                  <a:lnTo>
                    <a:pt x="5544207" y="1044569"/>
                  </a:lnTo>
                  <a:lnTo>
                    <a:pt x="0" y="10445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 t="4918" b="7515"/>
          <a:stretch>
            <a:fillRect/>
          </a:stretch>
        </p:blipFill>
        <p:spPr>
          <a:xfrm>
            <a:off x="2484219" y="3238095"/>
            <a:ext cx="13319562" cy="6866814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33253" y="459474"/>
            <a:ext cx="16026047" cy="2538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3776" spc="203">
                <a:solidFill>
                  <a:srgbClr val="000000"/>
                </a:solidFill>
                <a:latin typeface="Quicksand"/>
              </a:rPr>
              <a:t>Responda las preguntas 22 a la 25 de acuerdo con la siguiente información</a:t>
            </a:r>
          </a:p>
          <a:p>
            <a:pPr>
              <a:lnSpc>
                <a:spcPts val="4040"/>
              </a:lnSpc>
            </a:pPr>
            <a:r>
              <a:rPr lang="en-US" sz="3776" spc="70">
                <a:solidFill>
                  <a:srgbClr val="000000"/>
                </a:solidFill>
                <a:latin typeface="Arimo"/>
              </a:rPr>
              <a:t>Una universidad recibe 600 aspirantes para uno de sus programas académicos. El proceso de admisión se ilustra en el siguiente esquema:</a:t>
            </a:r>
          </a:p>
        </p:txBody>
      </p:sp>
    </p:spTree>
    <p:extLst>
      <p:ext uri="{BB962C8B-B14F-4D97-AF65-F5344CB8AC3E}">
        <p14:creationId xmlns:p14="http://schemas.microsoft.com/office/powerpoint/2010/main" val="33963528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85002" y="2129420"/>
            <a:ext cx="16148353" cy="3014080"/>
            <a:chOff x="0" y="0"/>
            <a:chExt cx="5462529" cy="10195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62529" cy="1019578"/>
            </a:xfrm>
            <a:custGeom>
              <a:avLst/>
              <a:gdLst/>
              <a:ahLst/>
              <a:cxnLst/>
              <a:rect l="l" t="t" r="r" b="b"/>
              <a:pathLst>
                <a:path w="5462529" h="1019578">
                  <a:moveTo>
                    <a:pt x="0" y="0"/>
                  </a:moveTo>
                  <a:lnTo>
                    <a:pt x="5462529" y="0"/>
                  </a:lnTo>
                  <a:lnTo>
                    <a:pt x="5462529" y="1019578"/>
                  </a:lnTo>
                  <a:lnTo>
                    <a:pt x="0" y="10195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2632877" y="5307599"/>
            <a:ext cx="13022246" cy="4790326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65123" y="594904"/>
            <a:ext cx="1956275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8206" y="2196095"/>
            <a:ext cx="15861946" cy="291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25"/>
              </a:lnSpc>
            </a:pPr>
            <a:r>
              <a:rPr lang="en-US" sz="5351" spc="288">
                <a:solidFill>
                  <a:srgbClr val="000000"/>
                </a:solidFill>
                <a:latin typeface="Quicksand"/>
              </a:rPr>
              <a:t>La tabla muestra el puntaje promedio obtenido en cada prueba y el número de personas que superó cada prueba de un grupo de 600 aspirantes.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270156" y="5944000"/>
            <a:ext cx="16148353" cy="4153925"/>
            <a:chOff x="0" y="0"/>
            <a:chExt cx="5462529" cy="14051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62529" cy="1405155"/>
            </a:xfrm>
            <a:custGeom>
              <a:avLst/>
              <a:gdLst/>
              <a:ahLst/>
              <a:cxnLst/>
              <a:rect l="l" t="t" r="r" b="b"/>
              <a:pathLst>
                <a:path w="5462529" h="1405155">
                  <a:moveTo>
                    <a:pt x="0" y="0"/>
                  </a:moveTo>
                  <a:lnTo>
                    <a:pt x="5462529" y="0"/>
                  </a:lnTo>
                  <a:lnTo>
                    <a:pt x="5462529" y="1405155"/>
                  </a:lnTo>
                  <a:lnTo>
                    <a:pt x="0" y="140515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055114" y="1793342"/>
            <a:ext cx="10844131" cy="3989091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65123" y="594904"/>
            <a:ext cx="1956275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09038" y="6074502"/>
            <a:ext cx="15550262" cy="4023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72"/>
              </a:lnSpc>
            </a:pPr>
            <a:r>
              <a:rPr lang="en-US" sz="4273" spc="230">
                <a:solidFill>
                  <a:srgbClr val="000000"/>
                </a:solidFill>
                <a:latin typeface="Quicksand"/>
              </a:rPr>
              <a:t>La tabla presenta una inconsistencia en</a:t>
            </a:r>
          </a:p>
          <a:p>
            <a:pPr>
              <a:lnSpc>
                <a:spcPts val="4572"/>
              </a:lnSpc>
            </a:pPr>
            <a:r>
              <a:rPr lang="en-US" sz="4273" spc="76">
                <a:solidFill>
                  <a:srgbClr val="000000"/>
                </a:solidFill>
                <a:latin typeface="Arimo"/>
              </a:rPr>
              <a:t>A. el número de personas que aprobaron la prueba II en el grupo C.</a:t>
            </a:r>
          </a:p>
          <a:p>
            <a:pPr>
              <a:lnSpc>
                <a:spcPts val="4572"/>
              </a:lnSpc>
            </a:pPr>
            <a:r>
              <a:rPr lang="en-US" sz="4273" spc="76">
                <a:solidFill>
                  <a:srgbClr val="000000"/>
                </a:solidFill>
                <a:latin typeface="Arimo"/>
              </a:rPr>
              <a:t>B. el puntaje promedio del grupo A en la prueba I.</a:t>
            </a:r>
          </a:p>
          <a:p>
            <a:pPr>
              <a:lnSpc>
                <a:spcPts val="4572"/>
              </a:lnSpc>
            </a:pPr>
            <a:r>
              <a:rPr lang="en-US" sz="4273" spc="76">
                <a:solidFill>
                  <a:srgbClr val="000000"/>
                </a:solidFill>
                <a:latin typeface="Arimo"/>
              </a:rPr>
              <a:t>C. el número total de personas que aprobaron la prueba I.</a:t>
            </a:r>
          </a:p>
          <a:p>
            <a:pPr>
              <a:lnSpc>
                <a:spcPts val="4572"/>
              </a:lnSpc>
            </a:pPr>
            <a:r>
              <a:rPr lang="en-US" sz="4273" spc="76">
                <a:solidFill>
                  <a:srgbClr val="000000"/>
                </a:solidFill>
                <a:latin typeface="Arimo"/>
              </a:rPr>
              <a:t>D. el puntaje promedio del grupo B en la prueba II.</a:t>
            </a:r>
          </a:p>
        </p:txBody>
      </p:sp>
      <p:sp>
        <p:nvSpPr>
          <p:cNvPr id="18" name="Estrella: 5 puntas 17">
            <a:extLst>
              <a:ext uri="{FF2B5EF4-FFF2-40B4-BE49-F238E27FC236}">
                <a16:creationId xmlns:a16="http://schemas.microsoft.com/office/drawing/2014/main" id="{0E95B59C-1C31-4F0C-A1C5-7CDCB0A6747A}"/>
              </a:ext>
            </a:extLst>
          </p:cNvPr>
          <p:cNvSpPr/>
          <p:nvPr/>
        </p:nvSpPr>
        <p:spPr>
          <a:xfrm>
            <a:off x="1549829" y="6591686"/>
            <a:ext cx="681326" cy="59190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028700" y="150137"/>
            <a:ext cx="16389810" cy="3087959"/>
            <a:chOff x="0" y="0"/>
            <a:chExt cx="5544207" cy="10445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44207" cy="1044569"/>
            </a:xfrm>
            <a:custGeom>
              <a:avLst/>
              <a:gdLst/>
              <a:ahLst/>
              <a:cxnLst/>
              <a:rect l="l" t="t" r="r" b="b"/>
              <a:pathLst>
                <a:path w="5544207" h="1044569">
                  <a:moveTo>
                    <a:pt x="0" y="0"/>
                  </a:moveTo>
                  <a:lnTo>
                    <a:pt x="5544207" y="0"/>
                  </a:lnTo>
                  <a:lnTo>
                    <a:pt x="5544207" y="1044569"/>
                  </a:lnTo>
                  <a:lnTo>
                    <a:pt x="0" y="10445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 t="4918" b="7515"/>
          <a:stretch>
            <a:fillRect/>
          </a:stretch>
        </p:blipFill>
        <p:spPr>
          <a:xfrm>
            <a:off x="2484219" y="3238095"/>
            <a:ext cx="13319562" cy="6866814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33253" y="459474"/>
            <a:ext cx="16026047" cy="2538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3776" spc="203">
                <a:solidFill>
                  <a:srgbClr val="000000"/>
                </a:solidFill>
                <a:latin typeface="Quicksand"/>
              </a:rPr>
              <a:t>Responda las preguntas 22 a la 25 de acuerdo con la siguiente información</a:t>
            </a:r>
          </a:p>
          <a:p>
            <a:pPr>
              <a:lnSpc>
                <a:spcPts val="4040"/>
              </a:lnSpc>
            </a:pPr>
            <a:r>
              <a:rPr lang="en-US" sz="3776" spc="70">
                <a:solidFill>
                  <a:srgbClr val="000000"/>
                </a:solidFill>
                <a:latin typeface="Arimo"/>
              </a:rPr>
              <a:t>Una universidad recibe 600 aspirantes para uno de sus programas académicos. El proceso de admisión se ilustra en el siguiente esquema:</a:t>
            </a:r>
          </a:p>
        </p:txBody>
      </p:sp>
    </p:spTree>
    <p:extLst>
      <p:ext uri="{BB962C8B-B14F-4D97-AF65-F5344CB8AC3E}">
        <p14:creationId xmlns:p14="http://schemas.microsoft.com/office/powerpoint/2010/main" val="25033147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352318" y="6411714"/>
            <a:ext cx="16066192" cy="2595270"/>
            <a:chOff x="0" y="0"/>
            <a:chExt cx="3030673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30673" cy="489563"/>
            </a:xfrm>
            <a:custGeom>
              <a:avLst/>
              <a:gdLst/>
              <a:ahLst/>
              <a:cxnLst/>
              <a:rect l="l" t="t" r="r" b="b"/>
              <a:pathLst>
                <a:path w="3030673" h="489563">
                  <a:moveTo>
                    <a:pt x="0" y="0"/>
                  </a:moveTo>
                  <a:lnTo>
                    <a:pt x="3030673" y="0"/>
                  </a:lnTo>
                  <a:lnTo>
                    <a:pt x="303067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65123" y="594904"/>
            <a:ext cx="1956275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25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85002" y="2129420"/>
            <a:ext cx="16148353" cy="3942370"/>
            <a:chOff x="0" y="0"/>
            <a:chExt cx="5462529" cy="13335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62529" cy="1333592"/>
            </a:xfrm>
            <a:custGeom>
              <a:avLst/>
              <a:gdLst/>
              <a:ahLst/>
              <a:cxnLst/>
              <a:rect l="l" t="t" r="r" b="b"/>
              <a:pathLst>
                <a:path w="5462529" h="1333592">
                  <a:moveTo>
                    <a:pt x="0" y="0"/>
                  </a:moveTo>
                  <a:lnTo>
                    <a:pt x="5462529" y="0"/>
                  </a:lnTo>
                  <a:lnTo>
                    <a:pt x="5462529" y="1333592"/>
                  </a:lnTo>
                  <a:lnTo>
                    <a:pt x="0" y="13335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976188" y="2280245"/>
            <a:ext cx="15861946" cy="3847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76"/>
              </a:lnSpc>
            </a:pP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La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universidad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publica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lista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con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resultados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de la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prueba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II de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todos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aspirantes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que la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presentaron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. Uno de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ellos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obtuvo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puesto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95 y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superó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puntaje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mínimo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lo que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considera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que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está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dentro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los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admitidos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. La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conclusión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del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aspirante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no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necesariamente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es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válida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651" spc="251" dirty="0" err="1">
                <a:solidFill>
                  <a:srgbClr val="000000"/>
                </a:solidFill>
                <a:latin typeface="Quicksand"/>
              </a:rPr>
              <a:t>porque</a:t>
            </a:r>
            <a:r>
              <a:rPr lang="en-US" sz="4651" spc="251" dirty="0">
                <a:solidFill>
                  <a:srgbClr val="000000"/>
                </a:solidFill>
                <a:latin typeface="Quicksand"/>
              </a:rPr>
              <a:t>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58711" y="6517584"/>
            <a:ext cx="15659799" cy="2489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2"/>
              </a:lnSpc>
            </a:pPr>
            <a:r>
              <a:rPr lang="en-US" sz="3666" spc="197">
                <a:solidFill>
                  <a:srgbClr val="000000"/>
                </a:solidFill>
                <a:latin typeface="Quicksand"/>
              </a:rPr>
              <a:t>A. La cantidad máxima de admitidos es menor a 95.</a:t>
            </a:r>
          </a:p>
          <a:p>
            <a:pPr>
              <a:lnSpc>
                <a:spcPts val="3922"/>
              </a:lnSpc>
            </a:pPr>
            <a:r>
              <a:rPr lang="en-US" sz="3666" spc="68">
                <a:solidFill>
                  <a:srgbClr val="000000"/>
                </a:solidFill>
                <a:latin typeface="Arimo"/>
              </a:rPr>
              <a:t>B. Es necesario conocer el puntaje de la prueba I.</a:t>
            </a:r>
          </a:p>
          <a:p>
            <a:pPr>
              <a:lnSpc>
                <a:spcPts val="3922"/>
              </a:lnSpc>
            </a:pPr>
            <a:r>
              <a:rPr lang="en-US" sz="3666" spc="68">
                <a:solidFill>
                  <a:srgbClr val="000000"/>
                </a:solidFill>
                <a:latin typeface="Arimo"/>
              </a:rPr>
              <a:t>C. Se necesita conocer los puntajes de su grupo en la prueba II.</a:t>
            </a:r>
          </a:p>
          <a:p>
            <a:pPr>
              <a:lnSpc>
                <a:spcPts val="3922"/>
              </a:lnSpc>
            </a:pPr>
            <a:r>
              <a:rPr lang="en-US" sz="3666" spc="68">
                <a:solidFill>
                  <a:srgbClr val="000000"/>
                </a:solidFill>
                <a:latin typeface="Arimo"/>
              </a:rPr>
              <a:t>D. Se desconoce si el aspirante superó los 50 puntos en la prueba I.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20" name="Estrella: 5 puntas 19">
            <a:extLst>
              <a:ext uri="{FF2B5EF4-FFF2-40B4-BE49-F238E27FC236}">
                <a16:creationId xmlns:a16="http://schemas.microsoft.com/office/drawing/2014/main" id="{E727E2C3-3FF8-4217-B08C-D6A14D439A4E}"/>
              </a:ext>
            </a:extLst>
          </p:cNvPr>
          <p:cNvSpPr/>
          <p:nvPr/>
        </p:nvSpPr>
        <p:spPr>
          <a:xfrm>
            <a:off x="1563777" y="7466330"/>
            <a:ext cx="681326" cy="59190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65123" y="594904"/>
            <a:ext cx="1956275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4314079"/>
            <a:chOff x="0" y="0"/>
            <a:chExt cx="5462529" cy="1459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459330"/>
            </a:xfrm>
            <a:custGeom>
              <a:avLst/>
              <a:gdLst/>
              <a:ahLst/>
              <a:cxnLst/>
              <a:rect l="l" t="t" r="r" b="b"/>
              <a:pathLst>
                <a:path w="5462529" h="1459330">
                  <a:moveTo>
                    <a:pt x="0" y="0"/>
                  </a:moveTo>
                  <a:lnTo>
                    <a:pt x="5462529" y="0"/>
                  </a:lnTo>
                  <a:lnTo>
                    <a:pt x="5462529" y="1459330"/>
                  </a:lnTo>
                  <a:lnTo>
                    <a:pt x="0" y="1459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28206" y="2542373"/>
            <a:ext cx="15861946" cy="379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76"/>
              </a:lnSpc>
            </a:pPr>
            <a:r>
              <a:rPr lang="en-US" sz="4651" spc="251">
                <a:solidFill>
                  <a:srgbClr val="000000"/>
                </a:solidFill>
                <a:latin typeface="Quicksand"/>
              </a:rPr>
              <a:t>Tomás perdió su empleo a tiempo parcial, lo que redujo las rentas de su pareja en un 20%. Su mujer Leticia decide efectuar horas suplementarias con el fin de compensar esta pérdida. ¿Por cuánto deberá multiplicar su salario con el fin de que la renta de la pareja vuelva a su nivel original?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65123" y="8949662"/>
            <a:ext cx="2575552" cy="45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3"/>
              </a:lnSpc>
            </a:pPr>
            <a:r>
              <a:rPr lang="en-US" sz="3283" spc="177">
                <a:solidFill>
                  <a:srgbClr val="000000"/>
                </a:solidFill>
                <a:latin typeface="Quicksand"/>
              </a:rPr>
              <a:t>1,20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6331608" y="8950097"/>
            <a:ext cx="2575552" cy="45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3"/>
              </a:lnSpc>
            </a:pPr>
            <a:r>
              <a:rPr lang="en-US" sz="3283" spc="177">
                <a:solidFill>
                  <a:srgbClr val="000000"/>
                </a:solidFill>
                <a:latin typeface="Quicksand"/>
              </a:rPr>
              <a:t>1,10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80840" y="8950097"/>
            <a:ext cx="2575552" cy="45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3"/>
              </a:lnSpc>
            </a:pPr>
            <a:r>
              <a:rPr lang="en-US" sz="3283" spc="177">
                <a:solidFill>
                  <a:srgbClr val="000000"/>
                </a:solidFill>
                <a:latin typeface="Quicksand"/>
              </a:rPr>
              <a:t>1,05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47324" y="8949662"/>
            <a:ext cx="2575552" cy="45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3"/>
              </a:lnSpc>
            </a:pPr>
            <a:r>
              <a:rPr lang="en-US" sz="3283" spc="177">
                <a:solidFill>
                  <a:srgbClr val="000000"/>
                </a:solidFill>
                <a:latin typeface="Quicksand"/>
              </a:rPr>
              <a:t>1,15</a:t>
            </a:r>
          </a:p>
        </p:txBody>
      </p:sp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DEB0E965-2A31-4B59-AE4E-130FAD66DA2F}"/>
              </a:ext>
            </a:extLst>
          </p:cNvPr>
          <p:cNvSpPr/>
          <p:nvPr/>
        </p:nvSpPr>
        <p:spPr>
          <a:xfrm>
            <a:off x="3079015" y="6371120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65123" y="594904"/>
            <a:ext cx="1956275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3436087"/>
            <a:chOff x="0" y="0"/>
            <a:chExt cx="5462529" cy="1162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162331"/>
            </a:xfrm>
            <a:custGeom>
              <a:avLst/>
              <a:gdLst/>
              <a:ahLst/>
              <a:cxnLst/>
              <a:rect l="l" t="t" r="r" b="b"/>
              <a:pathLst>
                <a:path w="5462529" h="1162331">
                  <a:moveTo>
                    <a:pt x="0" y="0"/>
                  </a:moveTo>
                  <a:lnTo>
                    <a:pt x="5462529" y="0"/>
                  </a:lnTo>
                  <a:lnTo>
                    <a:pt x="5462529" y="1162331"/>
                  </a:lnTo>
                  <a:lnTo>
                    <a:pt x="0" y="11623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76188" y="2205620"/>
            <a:ext cx="15861946" cy="3182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260"/>
              </a:lnSpc>
            </a:pP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Tres amigos A, B y C, 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deciden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repartirse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caja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 de bolitas. A 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recibe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 el 34% del total, B el 20% y C se 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quedó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 con 23. ¿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Cuántas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 bolitas 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tenía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caja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65123" y="8949662"/>
            <a:ext cx="2575552" cy="45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3"/>
              </a:lnSpc>
            </a:pPr>
            <a:r>
              <a:rPr lang="en-US" sz="3283" spc="177">
                <a:solidFill>
                  <a:srgbClr val="000000"/>
                </a:solidFill>
                <a:latin typeface="Quicksand"/>
              </a:rPr>
              <a:t>40 bolitas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6331608" y="8950097"/>
            <a:ext cx="2575552" cy="45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3"/>
              </a:lnSpc>
            </a:pPr>
            <a:r>
              <a:rPr lang="en-US" sz="3283" spc="177">
                <a:solidFill>
                  <a:srgbClr val="000000"/>
                </a:solidFill>
                <a:latin typeface="Quicksand"/>
              </a:rPr>
              <a:t>60 bolitas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80840" y="8950097"/>
            <a:ext cx="2575552" cy="45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3"/>
              </a:lnSpc>
            </a:pPr>
            <a:r>
              <a:rPr lang="en-US" sz="3283" spc="177">
                <a:solidFill>
                  <a:srgbClr val="000000"/>
                </a:solidFill>
                <a:latin typeface="Quicksand"/>
              </a:rPr>
              <a:t>45 bolitas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47324" y="8949662"/>
            <a:ext cx="2575552" cy="45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3"/>
              </a:lnSpc>
            </a:pPr>
            <a:r>
              <a:rPr lang="en-US" sz="3283" spc="177">
                <a:solidFill>
                  <a:srgbClr val="000000"/>
                </a:solidFill>
                <a:latin typeface="Quicksand"/>
              </a:rPr>
              <a:t>50 bolitas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70">
            <a:extLst>
              <a:ext uri="{FF2B5EF4-FFF2-40B4-BE49-F238E27FC236}">
                <a16:creationId xmlns:a16="http://schemas.microsoft.com/office/drawing/2014/main" id="{48FF10FF-8E77-40EA-A7BC-174D1136039B}"/>
              </a:ext>
            </a:extLst>
          </p:cNvPr>
          <p:cNvSpPr txBox="1"/>
          <p:nvPr/>
        </p:nvSpPr>
        <p:spPr>
          <a:xfrm>
            <a:off x="190500" y="266700"/>
            <a:ext cx="17907000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spc="315" dirty="0">
                <a:solidFill>
                  <a:srgbClr val="000000"/>
                </a:solidFill>
                <a:latin typeface="Quicksand"/>
              </a:rPr>
              <a:t>Tres amigos A, B y C, </a:t>
            </a:r>
            <a:r>
              <a:rPr lang="en-US" sz="2400" spc="315" dirty="0" err="1">
                <a:solidFill>
                  <a:srgbClr val="000000"/>
                </a:solidFill>
                <a:latin typeface="Quicksand"/>
              </a:rPr>
              <a:t>deciden</a:t>
            </a:r>
            <a:r>
              <a:rPr lang="en-US" sz="2400" spc="31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15" dirty="0" err="1">
                <a:solidFill>
                  <a:srgbClr val="000000"/>
                </a:solidFill>
                <a:latin typeface="Quicksand"/>
              </a:rPr>
              <a:t>repartirse</a:t>
            </a:r>
            <a:r>
              <a:rPr lang="en-US" sz="2400" spc="31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1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2400" spc="31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15" dirty="0" err="1">
                <a:solidFill>
                  <a:srgbClr val="000000"/>
                </a:solidFill>
                <a:latin typeface="Quicksand"/>
              </a:rPr>
              <a:t>caja</a:t>
            </a:r>
            <a:r>
              <a:rPr lang="en-US" sz="2400" spc="315" dirty="0">
                <a:solidFill>
                  <a:srgbClr val="000000"/>
                </a:solidFill>
                <a:latin typeface="Quicksand"/>
              </a:rPr>
              <a:t> de bolitas. A </a:t>
            </a:r>
            <a:r>
              <a:rPr lang="en-US" sz="2400" spc="315" dirty="0" err="1">
                <a:solidFill>
                  <a:srgbClr val="000000"/>
                </a:solidFill>
                <a:latin typeface="Quicksand"/>
              </a:rPr>
              <a:t>recibe</a:t>
            </a:r>
            <a:r>
              <a:rPr lang="en-US" sz="2400" spc="315" dirty="0">
                <a:solidFill>
                  <a:srgbClr val="000000"/>
                </a:solidFill>
                <a:latin typeface="Quicksand"/>
              </a:rPr>
              <a:t> el 34% del total, B el 20% y C se </a:t>
            </a:r>
            <a:r>
              <a:rPr lang="en-US" sz="2400" spc="315" dirty="0" err="1">
                <a:solidFill>
                  <a:srgbClr val="000000"/>
                </a:solidFill>
                <a:latin typeface="Quicksand"/>
              </a:rPr>
              <a:t>quedó</a:t>
            </a:r>
            <a:r>
              <a:rPr lang="en-US" sz="2400" spc="315" dirty="0">
                <a:solidFill>
                  <a:srgbClr val="000000"/>
                </a:solidFill>
                <a:latin typeface="Quicksand"/>
              </a:rPr>
              <a:t> con 23. ¿</a:t>
            </a:r>
            <a:r>
              <a:rPr lang="en-US" sz="2400" spc="315" dirty="0" err="1">
                <a:solidFill>
                  <a:srgbClr val="000000"/>
                </a:solidFill>
                <a:latin typeface="Quicksand"/>
              </a:rPr>
              <a:t>Cuántas</a:t>
            </a:r>
            <a:r>
              <a:rPr lang="en-US" sz="2400" spc="315" dirty="0">
                <a:solidFill>
                  <a:srgbClr val="000000"/>
                </a:solidFill>
                <a:latin typeface="Quicksand"/>
              </a:rPr>
              <a:t> bolitas </a:t>
            </a:r>
            <a:r>
              <a:rPr lang="en-US" sz="2400" spc="315" dirty="0" err="1">
                <a:solidFill>
                  <a:srgbClr val="000000"/>
                </a:solidFill>
                <a:latin typeface="Quicksand"/>
              </a:rPr>
              <a:t>tenía</a:t>
            </a:r>
            <a:r>
              <a:rPr lang="en-US" sz="2400" spc="315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2400" spc="315" dirty="0" err="1">
                <a:solidFill>
                  <a:srgbClr val="000000"/>
                </a:solidFill>
                <a:latin typeface="Quicksand"/>
              </a:rPr>
              <a:t>caja</a:t>
            </a:r>
            <a:r>
              <a:rPr lang="en-US" sz="2400" spc="315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03986E7-3AB4-4D14-84A9-05590863BF6A}"/>
                  </a:ext>
                </a:extLst>
              </p:cNvPr>
              <p:cNvSpPr txBox="1"/>
              <p:nvPr/>
            </p:nvSpPr>
            <p:spPr>
              <a:xfrm>
                <a:off x="190500" y="1409700"/>
                <a:ext cx="304722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=34%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03986E7-3AB4-4D14-84A9-05590863B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1409700"/>
                <a:ext cx="3047220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369B70B-8A39-4DDC-998D-55E0BB1318AE}"/>
                  </a:ext>
                </a:extLst>
              </p:cNvPr>
              <p:cNvSpPr txBox="1"/>
              <p:nvPr/>
            </p:nvSpPr>
            <p:spPr>
              <a:xfrm>
                <a:off x="3237720" y="1409700"/>
                <a:ext cx="304722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=20%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369B70B-8A39-4DDC-998D-55E0BB131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720" y="1409700"/>
                <a:ext cx="3047220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FBDF5EDD-14EC-479B-81E4-24CD49A77896}"/>
                  </a:ext>
                </a:extLst>
              </p:cNvPr>
              <p:cNvSpPr txBox="1"/>
              <p:nvPr/>
            </p:nvSpPr>
            <p:spPr>
              <a:xfrm>
                <a:off x="6096780" y="1409986"/>
                <a:ext cx="304722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=23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FBDF5EDD-14EC-479B-81E4-24CD49A77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780" y="1409986"/>
                <a:ext cx="3047220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04FFAE4-E1AE-4363-8BE4-AC8014029C91}"/>
                  </a:ext>
                </a:extLst>
              </p:cNvPr>
              <p:cNvSpPr txBox="1"/>
              <p:nvPr/>
            </p:nvSpPr>
            <p:spPr>
              <a:xfrm>
                <a:off x="8955840" y="1413164"/>
                <a:ext cx="304722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=46%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04FFAE4-E1AE-4363-8BE4-AC8014029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840" y="1413164"/>
                <a:ext cx="3047220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CE414956-7AF8-498F-BA54-BB42506E47AB}"/>
                  </a:ext>
                </a:extLst>
              </p:cNvPr>
              <p:cNvSpPr txBox="1"/>
              <p:nvPr/>
            </p:nvSpPr>
            <p:spPr>
              <a:xfrm>
                <a:off x="1447800" y="3009900"/>
                <a:ext cx="1025007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23 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𝑏𝑜𝑙𝑖𝑡𝑎𝑠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−−−−−−−−−−46%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CE414956-7AF8-498F-BA54-BB42506E4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3009900"/>
                <a:ext cx="10250070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92A08A12-9883-449D-A548-6BF11B48BCCF}"/>
                  </a:ext>
                </a:extLst>
              </p:cNvPr>
              <p:cNvSpPr txBox="1"/>
              <p:nvPr/>
            </p:nvSpPr>
            <p:spPr>
              <a:xfrm>
                <a:off x="1759917" y="3839363"/>
                <a:ext cx="1025007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−−−−−−−−−−−−−100%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92A08A12-9883-449D-A548-6BF11B48B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917" y="3839363"/>
                <a:ext cx="10250070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7548BA3E-C1DB-4E94-A46A-E162FE0257BC}"/>
                  </a:ext>
                </a:extLst>
              </p:cNvPr>
              <p:cNvSpPr txBox="1"/>
              <p:nvPr/>
            </p:nvSpPr>
            <p:spPr>
              <a:xfrm>
                <a:off x="1746062" y="5136572"/>
                <a:ext cx="6559738" cy="11927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23 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𝑏𝑜𝑙𝑖𝑡𝑎𝑠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×100%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46%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7548BA3E-C1DB-4E94-A46A-E162FE025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062" y="5136572"/>
                <a:ext cx="6559738" cy="11927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28192FA6-A9AF-4BE5-90FA-C782C95F3BBD}"/>
                  </a:ext>
                </a:extLst>
              </p:cNvPr>
              <p:cNvSpPr txBox="1"/>
              <p:nvPr/>
            </p:nvSpPr>
            <p:spPr>
              <a:xfrm>
                <a:off x="1481461" y="7050360"/>
                <a:ext cx="48034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50 </m:t>
                      </m:r>
                      <m:r>
                        <m:rPr>
                          <m:sty m:val="p"/>
                        </m:rPr>
                        <a:rPr lang="es-ES" sz="4000" b="0" i="0" smtClean="0">
                          <a:latin typeface="Cambria Math" panose="02040503050406030204" pitchFamily="18" charset="0"/>
                        </a:rPr>
                        <m:t>bolitas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28192FA6-A9AF-4BE5-90FA-C782C95F3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461" y="7050360"/>
                <a:ext cx="4803479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66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65123" y="594904"/>
            <a:ext cx="1956275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00794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727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33763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0248" y="7209744"/>
            <a:ext cx="2086958" cy="11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85002" y="2129420"/>
            <a:ext cx="16148353" cy="3436087"/>
            <a:chOff x="0" y="0"/>
            <a:chExt cx="5462529" cy="11623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62529" cy="1162331"/>
            </a:xfrm>
            <a:custGeom>
              <a:avLst/>
              <a:gdLst/>
              <a:ahLst/>
              <a:cxnLst/>
              <a:rect l="l" t="t" r="r" b="b"/>
              <a:pathLst>
                <a:path w="5462529" h="1162331">
                  <a:moveTo>
                    <a:pt x="0" y="0"/>
                  </a:moveTo>
                  <a:lnTo>
                    <a:pt x="5462529" y="0"/>
                  </a:lnTo>
                  <a:lnTo>
                    <a:pt x="5462529" y="1162331"/>
                  </a:lnTo>
                  <a:lnTo>
                    <a:pt x="0" y="116233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76188" y="2205620"/>
            <a:ext cx="15861946" cy="3182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260"/>
              </a:lnSpc>
            </a:pP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Tres amigos A, B y C, 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deciden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repartirse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una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caja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 de bolitas. A 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recibe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 el 34% del total, B el 20% y C se 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quedó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 con 23. ¿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Cuántas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 bolitas 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tenía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5851" spc="315" dirty="0" err="1">
                <a:solidFill>
                  <a:srgbClr val="000000"/>
                </a:solidFill>
                <a:latin typeface="Quicksand"/>
              </a:rPr>
              <a:t>caja</a:t>
            </a:r>
            <a:r>
              <a:rPr lang="en-US" sz="5851" spc="315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65123" y="8949662"/>
            <a:ext cx="2575552" cy="45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3"/>
              </a:lnSpc>
            </a:pPr>
            <a:r>
              <a:rPr lang="en-US" sz="3283" spc="177">
                <a:solidFill>
                  <a:srgbClr val="000000"/>
                </a:solidFill>
                <a:latin typeface="Quicksand"/>
              </a:rPr>
              <a:t>40 bolitas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6331608" y="8950097"/>
            <a:ext cx="2575552" cy="45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3"/>
              </a:lnSpc>
            </a:pPr>
            <a:r>
              <a:rPr lang="en-US" sz="3283" spc="177">
                <a:solidFill>
                  <a:srgbClr val="000000"/>
                </a:solidFill>
                <a:latin typeface="Quicksand"/>
              </a:rPr>
              <a:t>60 bolitas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80840" y="8950097"/>
            <a:ext cx="2575552" cy="45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3"/>
              </a:lnSpc>
            </a:pPr>
            <a:r>
              <a:rPr lang="en-US" sz="3283" spc="177">
                <a:solidFill>
                  <a:srgbClr val="000000"/>
                </a:solidFill>
                <a:latin typeface="Quicksand"/>
              </a:rPr>
              <a:t>45 bolitas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47324" y="8949662"/>
            <a:ext cx="2575552" cy="45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3"/>
              </a:lnSpc>
            </a:pPr>
            <a:r>
              <a:rPr lang="en-US" sz="3283" spc="177">
                <a:solidFill>
                  <a:srgbClr val="000000"/>
                </a:solidFill>
                <a:latin typeface="Quicksand"/>
              </a:rPr>
              <a:t>50 bolitas</a:t>
            </a:r>
          </a:p>
        </p:txBody>
      </p:sp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C02C7946-4695-4464-B9DC-8E6826D6FB7E}"/>
              </a:ext>
            </a:extLst>
          </p:cNvPr>
          <p:cNvSpPr/>
          <p:nvPr/>
        </p:nvSpPr>
        <p:spPr>
          <a:xfrm>
            <a:off x="12286703" y="6320900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463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47870" y="594904"/>
            <a:ext cx="1973528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39928" y="7311871"/>
            <a:ext cx="1608690" cy="1103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4"/>
              </a:lnSpc>
            </a:pPr>
            <a:r>
              <a:rPr lang="en-US" sz="8004" spc="113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19354" y="1793342"/>
            <a:ext cx="17552237" cy="4150657"/>
            <a:chOff x="0" y="0"/>
            <a:chExt cx="5937423" cy="14040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37423" cy="1404050"/>
            </a:xfrm>
            <a:custGeom>
              <a:avLst/>
              <a:gdLst/>
              <a:ahLst/>
              <a:cxnLst/>
              <a:rect l="l" t="t" r="r" b="b"/>
              <a:pathLst>
                <a:path w="5937423" h="1404050">
                  <a:moveTo>
                    <a:pt x="0" y="0"/>
                  </a:moveTo>
                  <a:lnTo>
                    <a:pt x="5937423" y="0"/>
                  </a:lnTo>
                  <a:lnTo>
                    <a:pt x="5937423" y="1404050"/>
                  </a:lnTo>
                  <a:lnTo>
                    <a:pt x="0" y="1404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565800" y="2217068"/>
            <a:ext cx="17156400" cy="334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73"/>
              </a:lnSpc>
            </a:pP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Si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viaje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estudios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van 40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alumnos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, el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precio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su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pasaje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es de $1875. Pero, si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sólo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van 25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alumnos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, ¿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cuál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será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precio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que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pagaría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uno de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estos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25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alumnos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si el valor del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viaje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para el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grupo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no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varía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47870" y="8585156"/>
            <a:ext cx="2592806" cy="636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2"/>
              </a:lnSpc>
            </a:pPr>
            <a:r>
              <a:rPr lang="en-US" sz="4487" spc="242">
                <a:solidFill>
                  <a:srgbClr val="000000"/>
                </a:solidFill>
                <a:latin typeface="Quicksand"/>
              </a:rPr>
              <a:t>$2.800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6806413" y="7311871"/>
            <a:ext cx="1608690" cy="1103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4"/>
              </a:lnSpc>
            </a:pPr>
            <a:r>
              <a:rPr lang="en-US" sz="8004" spc="113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14355" y="8614947"/>
            <a:ext cx="2592806" cy="60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3"/>
              </a:lnSpc>
            </a:pPr>
            <a:r>
              <a:rPr lang="en-US" sz="4414" spc="238">
                <a:solidFill>
                  <a:srgbClr val="000000"/>
                </a:solidFill>
                <a:latin typeface="Quicksand"/>
              </a:rPr>
              <a:t>$3.000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72897" y="7311871"/>
            <a:ext cx="1608690" cy="1103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4"/>
              </a:lnSpc>
            </a:pPr>
            <a:r>
              <a:rPr lang="en-US" sz="8004" spc="113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60318" y="7311871"/>
            <a:ext cx="1608690" cy="1103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4"/>
              </a:lnSpc>
            </a:pPr>
            <a:r>
              <a:rPr lang="en-US" sz="8004" spc="113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64578" y="8585156"/>
            <a:ext cx="2592806" cy="636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2"/>
              </a:lnSpc>
            </a:pPr>
            <a:r>
              <a:rPr lang="en-US" sz="4487" spc="242">
                <a:solidFill>
                  <a:srgbClr val="000000"/>
                </a:solidFill>
                <a:latin typeface="Quicksand"/>
              </a:rPr>
              <a:t>$2.900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80840" y="8652020"/>
            <a:ext cx="2592806" cy="60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3"/>
              </a:lnSpc>
            </a:pPr>
            <a:r>
              <a:rPr lang="en-US" sz="4414" spc="238">
                <a:solidFill>
                  <a:srgbClr val="000000"/>
                </a:solidFill>
                <a:latin typeface="Quicksand"/>
              </a:rPr>
              <a:t>$3.100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70">
            <a:extLst>
              <a:ext uri="{FF2B5EF4-FFF2-40B4-BE49-F238E27FC236}">
                <a16:creationId xmlns:a16="http://schemas.microsoft.com/office/drawing/2014/main" id="{48FF10FF-8E77-40EA-A7BC-174D1136039B}"/>
              </a:ext>
            </a:extLst>
          </p:cNvPr>
          <p:cNvSpPr txBox="1"/>
          <p:nvPr/>
        </p:nvSpPr>
        <p:spPr>
          <a:xfrm>
            <a:off x="190500" y="266700"/>
            <a:ext cx="17907000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Si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viaje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estudios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van 40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alumnos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, el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precio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su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pasaje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es de $1875. Pero, si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sólo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van 25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alumnos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, ¿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cuál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será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precio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que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pagaría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uno de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estos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25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alumnos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si el valor del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viaje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para el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grupo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 no </a:t>
            </a:r>
            <a:r>
              <a:rPr lang="en-US" sz="2400" spc="266" dirty="0" err="1">
                <a:solidFill>
                  <a:srgbClr val="000000"/>
                </a:solidFill>
                <a:latin typeface="Quicksand"/>
              </a:rPr>
              <a:t>varía</a:t>
            </a:r>
            <a:r>
              <a:rPr lang="en-US" sz="2400" spc="266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04FFAE4-E1AE-4363-8BE4-AC8014029C91}"/>
                  </a:ext>
                </a:extLst>
              </p:cNvPr>
              <p:cNvSpPr txBox="1"/>
              <p:nvPr/>
            </p:nvSpPr>
            <p:spPr>
              <a:xfrm>
                <a:off x="107373" y="2095500"/>
                <a:ext cx="9754378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𝑃𝑎𝑔𝑜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=40 ×$1875=$75000 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04FFAE4-E1AE-4363-8BE4-AC8014029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73" y="2095500"/>
                <a:ext cx="9754378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7465BAF3-7E99-45C6-BBEF-126E8A239846}"/>
                  </a:ext>
                </a:extLst>
              </p:cNvPr>
              <p:cNvSpPr txBox="1"/>
              <p:nvPr/>
            </p:nvSpPr>
            <p:spPr>
              <a:xfrm>
                <a:off x="107373" y="3339524"/>
                <a:ext cx="9754378" cy="18251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𝑃𝑎𝑔𝑜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𝑐𝑜𝑛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𝑙𝑜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25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𝑒𝑠𝑡𝑢𝑑𝑖𝑎𝑛𝑡𝑒𝑠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$7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500</m:t>
                          </m:r>
                          <m:r>
                            <a:rPr lang="es-E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s-ES" sz="4000" b="0" dirty="0"/>
              </a:p>
              <a:p>
                <a:pPr/>
                <a:endParaRPr lang="es-CO" sz="4000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7465BAF3-7E99-45C6-BBEF-126E8A239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73" y="3339524"/>
                <a:ext cx="9754378" cy="1825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EDCDF40-241D-4627-9247-4ACF865DAC6A}"/>
                  </a:ext>
                </a:extLst>
              </p:cNvPr>
              <p:cNvSpPr txBox="1"/>
              <p:nvPr/>
            </p:nvSpPr>
            <p:spPr>
              <a:xfrm>
                <a:off x="190500" y="5080007"/>
                <a:ext cx="9754378" cy="18251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𝑃𝑎𝑔𝑜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𝑐𝑜𝑛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𝑙𝑜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25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𝑒𝑠𝑡𝑢𝑑𝑖𝑎𝑛𝑡𝑒𝑠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$7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500</m:t>
                          </m:r>
                          <m:r>
                            <a:rPr lang="es-E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s-ES" sz="4000" b="0" dirty="0"/>
              </a:p>
              <a:p>
                <a:pPr/>
                <a:endParaRPr lang="es-CO" sz="4000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EDCDF40-241D-4627-9247-4ACF865DA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5080007"/>
                <a:ext cx="9754378" cy="1825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85837E3D-4CA0-4DFE-860D-6BD893BFF5DC}"/>
                  </a:ext>
                </a:extLst>
              </p:cNvPr>
              <p:cNvSpPr txBox="1"/>
              <p:nvPr/>
            </p:nvSpPr>
            <p:spPr>
              <a:xfrm>
                <a:off x="197427" y="7002672"/>
                <a:ext cx="9754378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𝑃𝑎𝑔𝑜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𝑐𝑜𝑛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𝑙𝑜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25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𝑒𝑠𝑡𝑢𝑑𝑖𝑎𝑛𝑡𝑒𝑠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=$25000</m:t>
                      </m:r>
                    </m:oMath>
                  </m:oMathPara>
                </a14:m>
                <a:endParaRPr lang="es-ES" sz="4000" b="0" dirty="0"/>
              </a:p>
              <a:p>
                <a:pPr/>
                <a:endParaRPr lang="es-CO" sz="400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85837E3D-4CA0-4DFE-860D-6BD893BFF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27" y="7002672"/>
                <a:ext cx="9754378" cy="12311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188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47870" y="594904"/>
            <a:ext cx="1973528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39928" y="7311871"/>
            <a:ext cx="1608690" cy="1103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4"/>
              </a:lnSpc>
            </a:pPr>
            <a:r>
              <a:rPr lang="en-US" sz="8004" spc="1136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19354" y="1793342"/>
            <a:ext cx="17552237" cy="4150657"/>
            <a:chOff x="0" y="0"/>
            <a:chExt cx="5937423" cy="14040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37423" cy="1404050"/>
            </a:xfrm>
            <a:custGeom>
              <a:avLst/>
              <a:gdLst/>
              <a:ahLst/>
              <a:cxnLst/>
              <a:rect l="l" t="t" r="r" b="b"/>
              <a:pathLst>
                <a:path w="5937423" h="1404050">
                  <a:moveTo>
                    <a:pt x="0" y="0"/>
                  </a:moveTo>
                  <a:lnTo>
                    <a:pt x="5937423" y="0"/>
                  </a:lnTo>
                  <a:lnTo>
                    <a:pt x="5937423" y="1404050"/>
                  </a:lnTo>
                  <a:lnTo>
                    <a:pt x="0" y="1404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565800" y="2217068"/>
            <a:ext cx="17156400" cy="334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73"/>
              </a:lnSpc>
            </a:pP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Si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un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viaje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estudios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van 40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alumnos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, el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precio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de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su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pasaje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es de $1875. Pero, si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sólo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van 25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alumnos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, ¿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cuál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será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precio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que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pagaría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cada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uno de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estos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25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alumnos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si el valor del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viaje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para el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grupo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 no </a:t>
            </a:r>
            <a:r>
              <a:rPr lang="en-US" sz="4928" spc="266" dirty="0" err="1">
                <a:solidFill>
                  <a:srgbClr val="000000"/>
                </a:solidFill>
                <a:latin typeface="Quicksand"/>
              </a:rPr>
              <a:t>varía</a:t>
            </a:r>
            <a:r>
              <a:rPr lang="en-US" sz="4928" spc="266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47870" y="8585156"/>
            <a:ext cx="2592806" cy="636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2"/>
              </a:lnSpc>
            </a:pPr>
            <a:r>
              <a:rPr lang="en-US" sz="4487" spc="242">
                <a:solidFill>
                  <a:srgbClr val="000000"/>
                </a:solidFill>
                <a:latin typeface="Quicksand"/>
              </a:rPr>
              <a:t>$2.800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6806413" y="7311871"/>
            <a:ext cx="1608690" cy="1103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4"/>
              </a:lnSpc>
            </a:pPr>
            <a:r>
              <a:rPr lang="en-US" sz="8004" spc="1136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14355" y="8614947"/>
            <a:ext cx="2592806" cy="60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3"/>
              </a:lnSpc>
            </a:pPr>
            <a:r>
              <a:rPr lang="en-US" sz="4414" spc="238">
                <a:solidFill>
                  <a:srgbClr val="000000"/>
                </a:solidFill>
                <a:latin typeface="Quicksand"/>
              </a:rPr>
              <a:t>$3.000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72897" y="7311871"/>
            <a:ext cx="1608690" cy="1103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4"/>
              </a:lnSpc>
            </a:pPr>
            <a:r>
              <a:rPr lang="en-US" sz="8004" spc="1136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60318" y="7311871"/>
            <a:ext cx="1608690" cy="1103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4"/>
              </a:lnSpc>
            </a:pPr>
            <a:r>
              <a:rPr lang="en-US" sz="8004" spc="1136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64578" y="8585156"/>
            <a:ext cx="2592806" cy="636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2"/>
              </a:lnSpc>
            </a:pPr>
            <a:r>
              <a:rPr lang="en-US" sz="4487" spc="242">
                <a:solidFill>
                  <a:srgbClr val="000000"/>
                </a:solidFill>
                <a:latin typeface="Quicksand"/>
              </a:rPr>
              <a:t>$2.900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80840" y="8652020"/>
            <a:ext cx="2592806" cy="60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3"/>
              </a:lnSpc>
            </a:pPr>
            <a:r>
              <a:rPr lang="en-US" sz="4414" spc="238">
                <a:solidFill>
                  <a:srgbClr val="000000"/>
                </a:solidFill>
                <a:latin typeface="Quicksand"/>
              </a:rPr>
              <a:t>$3.100</a:t>
            </a:r>
          </a:p>
        </p:txBody>
      </p:sp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3DBA87DE-8970-4919-881B-73EFB2D032DF}"/>
              </a:ext>
            </a:extLst>
          </p:cNvPr>
          <p:cNvSpPr/>
          <p:nvPr/>
        </p:nvSpPr>
        <p:spPr>
          <a:xfrm>
            <a:off x="6074320" y="6302036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954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47870" y="594904"/>
            <a:ext cx="1973528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12708" y="6931835"/>
            <a:ext cx="1608690" cy="108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7804" spc="1108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19354" y="1793342"/>
            <a:ext cx="17552237" cy="4800945"/>
            <a:chOff x="0" y="0"/>
            <a:chExt cx="5937423" cy="162402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37423" cy="1624023"/>
            </a:xfrm>
            <a:custGeom>
              <a:avLst/>
              <a:gdLst/>
              <a:ahLst/>
              <a:cxnLst/>
              <a:rect l="l" t="t" r="r" b="b"/>
              <a:pathLst>
                <a:path w="5937423" h="1624023">
                  <a:moveTo>
                    <a:pt x="0" y="0"/>
                  </a:moveTo>
                  <a:lnTo>
                    <a:pt x="5937423" y="0"/>
                  </a:lnTo>
                  <a:lnTo>
                    <a:pt x="5937423" y="1624023"/>
                  </a:lnTo>
                  <a:lnTo>
                    <a:pt x="0" y="162402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527375" y="2164322"/>
            <a:ext cx="17156400" cy="4314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71"/>
              </a:lnSpc>
            </a:pP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frutería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venden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fruta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sin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semilla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y con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semilla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. Si las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frutas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con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carozo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son el triple de las que no lo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tienen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y el total de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frutas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negocio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son 120, ¿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cuántas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frutas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no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poseen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carozo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47870" y="8076258"/>
            <a:ext cx="2592806" cy="1326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3"/>
              </a:lnSpc>
            </a:pPr>
            <a:r>
              <a:rPr lang="en-US" sz="4787" spc="258">
                <a:solidFill>
                  <a:srgbClr val="000000"/>
                </a:solidFill>
                <a:latin typeface="Quicksand"/>
              </a:rPr>
              <a:t>28 frutas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6679193" y="6931835"/>
            <a:ext cx="1608690" cy="108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7804" spc="1108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14355" y="8094850"/>
            <a:ext cx="2592806" cy="13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4815" spc="260">
                <a:solidFill>
                  <a:srgbClr val="000000"/>
                </a:solidFill>
                <a:latin typeface="Quicksand"/>
              </a:rPr>
              <a:t>32 frutas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45678" y="6912152"/>
            <a:ext cx="1608690" cy="108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7804" spc="1108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076258"/>
            <a:ext cx="2592806" cy="132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790" spc="258">
                <a:solidFill>
                  <a:srgbClr val="000000"/>
                </a:solidFill>
                <a:latin typeface="Quicksand"/>
              </a:rPr>
              <a:t>31 frutas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12163" y="6931835"/>
            <a:ext cx="1608690" cy="108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7804" spc="1108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47324" y="8105477"/>
            <a:ext cx="2610059" cy="129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1"/>
              </a:lnSpc>
            </a:pPr>
            <a:r>
              <a:rPr lang="en-US" sz="4748" spc="256">
                <a:solidFill>
                  <a:srgbClr val="000000"/>
                </a:solidFill>
                <a:latin typeface="Quicksand"/>
              </a:rPr>
              <a:t>30 frutas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70">
            <a:extLst>
              <a:ext uri="{FF2B5EF4-FFF2-40B4-BE49-F238E27FC236}">
                <a16:creationId xmlns:a16="http://schemas.microsoft.com/office/drawing/2014/main" id="{48FF10FF-8E77-40EA-A7BC-174D1136039B}"/>
              </a:ext>
            </a:extLst>
          </p:cNvPr>
          <p:cNvSpPr txBox="1"/>
          <p:nvPr/>
        </p:nvSpPr>
        <p:spPr>
          <a:xfrm>
            <a:off x="190500" y="266700"/>
            <a:ext cx="17907000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spc="34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341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2400" spc="341" dirty="0" err="1">
                <a:solidFill>
                  <a:srgbClr val="000000"/>
                </a:solidFill>
                <a:latin typeface="Quicksand"/>
              </a:rPr>
              <a:t>frutería</a:t>
            </a:r>
            <a:r>
              <a:rPr lang="en-US" sz="2400" spc="34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41" dirty="0" err="1">
                <a:solidFill>
                  <a:srgbClr val="000000"/>
                </a:solidFill>
                <a:latin typeface="Quicksand"/>
              </a:rPr>
              <a:t>venden</a:t>
            </a:r>
            <a:r>
              <a:rPr lang="en-US" sz="2400" spc="34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41" dirty="0" err="1">
                <a:solidFill>
                  <a:srgbClr val="000000"/>
                </a:solidFill>
                <a:latin typeface="Quicksand"/>
              </a:rPr>
              <a:t>fruta</a:t>
            </a:r>
            <a:r>
              <a:rPr lang="en-US" sz="2400" spc="341" dirty="0">
                <a:solidFill>
                  <a:srgbClr val="000000"/>
                </a:solidFill>
                <a:latin typeface="Quicksand"/>
              </a:rPr>
              <a:t> sin </a:t>
            </a:r>
            <a:r>
              <a:rPr lang="en-US" sz="2400" spc="341" dirty="0" err="1">
                <a:solidFill>
                  <a:srgbClr val="000000"/>
                </a:solidFill>
                <a:latin typeface="Quicksand"/>
              </a:rPr>
              <a:t>semilla</a:t>
            </a:r>
            <a:r>
              <a:rPr lang="en-US" sz="2400" spc="341" dirty="0">
                <a:solidFill>
                  <a:srgbClr val="000000"/>
                </a:solidFill>
                <a:latin typeface="Quicksand"/>
              </a:rPr>
              <a:t> y con </a:t>
            </a:r>
            <a:r>
              <a:rPr lang="en-US" sz="2400" spc="341" dirty="0" err="1">
                <a:solidFill>
                  <a:srgbClr val="000000"/>
                </a:solidFill>
                <a:latin typeface="Quicksand"/>
              </a:rPr>
              <a:t>semilla</a:t>
            </a:r>
            <a:r>
              <a:rPr lang="en-US" sz="2400" spc="341" dirty="0">
                <a:solidFill>
                  <a:srgbClr val="000000"/>
                </a:solidFill>
                <a:latin typeface="Quicksand"/>
              </a:rPr>
              <a:t>. Si las </a:t>
            </a:r>
            <a:r>
              <a:rPr lang="en-US" sz="2400" spc="341" dirty="0" err="1">
                <a:solidFill>
                  <a:srgbClr val="000000"/>
                </a:solidFill>
                <a:latin typeface="Quicksand"/>
              </a:rPr>
              <a:t>frutas</a:t>
            </a:r>
            <a:r>
              <a:rPr lang="en-US" sz="2400" spc="341" dirty="0">
                <a:solidFill>
                  <a:srgbClr val="000000"/>
                </a:solidFill>
                <a:latin typeface="Quicksand"/>
              </a:rPr>
              <a:t> con </a:t>
            </a:r>
            <a:r>
              <a:rPr lang="en-US" sz="2400" spc="341" dirty="0" err="1">
                <a:solidFill>
                  <a:srgbClr val="000000"/>
                </a:solidFill>
                <a:latin typeface="Quicksand"/>
              </a:rPr>
              <a:t>carozo</a:t>
            </a:r>
            <a:r>
              <a:rPr lang="en-US" sz="2400" spc="341" dirty="0">
                <a:solidFill>
                  <a:srgbClr val="000000"/>
                </a:solidFill>
                <a:latin typeface="Quicksand"/>
              </a:rPr>
              <a:t> son el triple de las que no lo </a:t>
            </a:r>
            <a:r>
              <a:rPr lang="en-US" sz="2400" spc="341" dirty="0" err="1">
                <a:solidFill>
                  <a:srgbClr val="000000"/>
                </a:solidFill>
                <a:latin typeface="Quicksand"/>
              </a:rPr>
              <a:t>tienen</a:t>
            </a:r>
            <a:r>
              <a:rPr lang="en-US" sz="2400" spc="341" dirty="0">
                <a:solidFill>
                  <a:srgbClr val="000000"/>
                </a:solidFill>
                <a:latin typeface="Quicksand"/>
              </a:rPr>
              <a:t> y el total de </a:t>
            </a:r>
            <a:r>
              <a:rPr lang="en-US" sz="2400" spc="341" dirty="0" err="1">
                <a:solidFill>
                  <a:srgbClr val="000000"/>
                </a:solidFill>
                <a:latin typeface="Quicksand"/>
              </a:rPr>
              <a:t>frutas</a:t>
            </a:r>
            <a:r>
              <a:rPr lang="en-US" sz="2400" spc="34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4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2400" spc="341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2400" spc="341" dirty="0" err="1">
                <a:solidFill>
                  <a:srgbClr val="000000"/>
                </a:solidFill>
                <a:latin typeface="Quicksand"/>
              </a:rPr>
              <a:t>negocio</a:t>
            </a:r>
            <a:r>
              <a:rPr lang="en-US" sz="2400" spc="341" dirty="0">
                <a:solidFill>
                  <a:srgbClr val="000000"/>
                </a:solidFill>
                <a:latin typeface="Quicksand"/>
              </a:rPr>
              <a:t> son 120, ¿</a:t>
            </a:r>
            <a:r>
              <a:rPr lang="en-US" sz="2400" spc="341" dirty="0" err="1">
                <a:solidFill>
                  <a:srgbClr val="000000"/>
                </a:solidFill>
                <a:latin typeface="Quicksand"/>
              </a:rPr>
              <a:t>cuántas</a:t>
            </a:r>
            <a:r>
              <a:rPr lang="en-US" sz="2400" spc="34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41" dirty="0" err="1">
                <a:solidFill>
                  <a:srgbClr val="000000"/>
                </a:solidFill>
                <a:latin typeface="Quicksand"/>
              </a:rPr>
              <a:t>frutas</a:t>
            </a:r>
            <a:r>
              <a:rPr lang="en-US" sz="2400" spc="341" dirty="0">
                <a:solidFill>
                  <a:srgbClr val="000000"/>
                </a:solidFill>
                <a:latin typeface="Quicksand"/>
              </a:rPr>
              <a:t> no </a:t>
            </a:r>
            <a:r>
              <a:rPr lang="en-US" sz="2400" spc="341" dirty="0" err="1">
                <a:solidFill>
                  <a:srgbClr val="000000"/>
                </a:solidFill>
                <a:latin typeface="Quicksand"/>
              </a:rPr>
              <a:t>poseen</a:t>
            </a:r>
            <a:r>
              <a:rPr lang="en-US" sz="2400" spc="34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41" dirty="0" err="1">
                <a:solidFill>
                  <a:srgbClr val="000000"/>
                </a:solidFill>
                <a:latin typeface="Quicksand"/>
              </a:rPr>
              <a:t>carozo</a:t>
            </a:r>
            <a:r>
              <a:rPr lang="en-US" sz="2400" spc="341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04FFAE4-E1AE-4363-8BE4-AC8014029C91}"/>
                  </a:ext>
                </a:extLst>
              </p:cNvPr>
              <p:cNvSpPr txBox="1"/>
              <p:nvPr/>
            </p:nvSpPr>
            <p:spPr>
              <a:xfrm>
                <a:off x="107373" y="2095500"/>
                <a:ext cx="690302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𝐶𝑜𝑛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𝑐𝑎𝑟𝑜𝑧𝑜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=3×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𝑆𝑖𝑛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𝑐𝑎𝑟𝑜𝑧𝑜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04FFAE4-E1AE-4363-8BE4-AC8014029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73" y="2095500"/>
                <a:ext cx="6903027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10F281F-CDD1-4382-B3DD-2615E8C9FE3C}"/>
                  </a:ext>
                </a:extLst>
              </p:cNvPr>
              <p:cNvSpPr txBox="1"/>
              <p:nvPr/>
            </p:nvSpPr>
            <p:spPr>
              <a:xfrm>
                <a:off x="7467600" y="2095500"/>
                <a:ext cx="80772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𝐶𝑜𝑛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𝑐𝑎𝑟𝑜𝑧𝑜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4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𝑐𝑎𝑟𝑜𝑧𝑜</m:t>
                          </m:r>
                        </m:e>
                      </m:func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=120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10F281F-CDD1-4382-B3DD-2615E8C9F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2095500"/>
                <a:ext cx="8077200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937A3B6-E1CD-4F4A-A9CD-3CF2F26081E4}"/>
                  </a:ext>
                </a:extLst>
              </p:cNvPr>
              <p:cNvSpPr txBox="1"/>
              <p:nvPr/>
            </p:nvSpPr>
            <p:spPr>
              <a:xfrm>
                <a:off x="7488382" y="3031747"/>
                <a:ext cx="80772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3.</m:t>
                      </m:r>
                      <m:func>
                        <m:func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4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𝑐𝑎𝑟𝑜𝑧𝑜</m:t>
                          </m:r>
                        </m:e>
                      </m:func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4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𝑐𝑎𝑟𝑜𝑧𝑜</m:t>
                          </m:r>
                        </m:e>
                      </m:func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=120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937A3B6-E1CD-4F4A-A9CD-3CF2F2608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382" y="3031747"/>
                <a:ext cx="8077200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D16CC21-6D65-4DD2-A90F-1D8D77320905}"/>
                  </a:ext>
                </a:extLst>
              </p:cNvPr>
              <p:cNvSpPr txBox="1"/>
              <p:nvPr/>
            </p:nvSpPr>
            <p:spPr>
              <a:xfrm>
                <a:off x="7502237" y="3990885"/>
                <a:ext cx="80772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4.</m:t>
                      </m:r>
                      <m:func>
                        <m:func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4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𝑐𝑎𝑟𝑜𝑧𝑜</m:t>
                          </m:r>
                        </m:e>
                      </m:func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=120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D16CC21-6D65-4DD2-A90F-1D8D77320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237" y="3990885"/>
                <a:ext cx="8077200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C65B988-BCFE-419A-A156-60AA1D0C48F4}"/>
                  </a:ext>
                </a:extLst>
              </p:cNvPr>
              <p:cNvSpPr txBox="1"/>
              <p:nvPr/>
            </p:nvSpPr>
            <p:spPr>
              <a:xfrm>
                <a:off x="7467600" y="4997112"/>
                <a:ext cx="8077200" cy="11524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4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𝑐𝑎𝑟𝑜𝑧𝑜</m:t>
                          </m:r>
                        </m:e>
                      </m:func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C65B988-BCFE-419A-A156-60AA1D0C4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4997112"/>
                <a:ext cx="8077200" cy="11524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E326F67-F2F7-4CC7-BD45-78EE462004F6}"/>
                  </a:ext>
                </a:extLst>
              </p:cNvPr>
              <p:cNvSpPr txBox="1"/>
              <p:nvPr/>
            </p:nvSpPr>
            <p:spPr>
              <a:xfrm>
                <a:off x="7696200" y="6509108"/>
                <a:ext cx="80772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4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𝑐𝑎𝑟𝑜𝑧𝑜</m:t>
                          </m:r>
                        </m:e>
                      </m:func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E326F67-F2F7-4CC7-BD45-78EE46200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6509108"/>
                <a:ext cx="8077200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855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47870" y="594904"/>
            <a:ext cx="1973528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29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12708" y="6931835"/>
            <a:ext cx="1608690" cy="108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7804" spc="1108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19354" y="1793342"/>
            <a:ext cx="17552237" cy="4800945"/>
            <a:chOff x="0" y="0"/>
            <a:chExt cx="5937423" cy="162402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37423" cy="1624023"/>
            </a:xfrm>
            <a:custGeom>
              <a:avLst/>
              <a:gdLst/>
              <a:ahLst/>
              <a:cxnLst/>
              <a:rect l="l" t="t" r="r" b="b"/>
              <a:pathLst>
                <a:path w="5937423" h="1624023">
                  <a:moveTo>
                    <a:pt x="0" y="0"/>
                  </a:moveTo>
                  <a:lnTo>
                    <a:pt x="5937423" y="0"/>
                  </a:lnTo>
                  <a:lnTo>
                    <a:pt x="5937423" y="1624023"/>
                  </a:lnTo>
                  <a:lnTo>
                    <a:pt x="0" y="162402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527375" y="2164322"/>
            <a:ext cx="17156400" cy="4314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71"/>
              </a:lnSpc>
            </a:pP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la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frutería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venden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fruta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sin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semilla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y con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semilla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. Si las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frutas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con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carozo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son el triple de las que no lo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tienen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y el total de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frutas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en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el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negocio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son 120, ¿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cuántas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frutas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no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poseen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328" spc="341" dirty="0" err="1">
                <a:solidFill>
                  <a:srgbClr val="000000"/>
                </a:solidFill>
                <a:latin typeface="Quicksand"/>
              </a:rPr>
              <a:t>carozo</a:t>
            </a:r>
            <a:r>
              <a:rPr lang="en-US" sz="6328" spc="341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47870" y="8076258"/>
            <a:ext cx="2592806" cy="1326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3"/>
              </a:lnSpc>
            </a:pPr>
            <a:r>
              <a:rPr lang="en-US" sz="4787" spc="258">
                <a:solidFill>
                  <a:srgbClr val="000000"/>
                </a:solidFill>
                <a:latin typeface="Quicksand"/>
              </a:rPr>
              <a:t>28 frutas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6679193" y="6931835"/>
            <a:ext cx="1608690" cy="108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7804" spc="1108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14355" y="8094850"/>
            <a:ext cx="2592806" cy="13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4815" spc="260">
                <a:solidFill>
                  <a:srgbClr val="000000"/>
                </a:solidFill>
                <a:latin typeface="Quicksand"/>
              </a:rPr>
              <a:t>32 frutas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45678" y="6912152"/>
            <a:ext cx="1608690" cy="108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7804" spc="1108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076258"/>
            <a:ext cx="2592806" cy="132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790" spc="258">
                <a:solidFill>
                  <a:srgbClr val="000000"/>
                </a:solidFill>
                <a:latin typeface="Quicksand"/>
              </a:rPr>
              <a:t>31 frutas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12163" y="6931835"/>
            <a:ext cx="1608690" cy="108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7804" spc="1108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47324" y="8105477"/>
            <a:ext cx="2610059" cy="129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1"/>
              </a:lnSpc>
            </a:pPr>
            <a:r>
              <a:rPr lang="en-US" sz="4748" spc="256">
                <a:solidFill>
                  <a:srgbClr val="000000"/>
                </a:solidFill>
                <a:latin typeface="Quicksand"/>
              </a:rPr>
              <a:t>30 frutas</a:t>
            </a:r>
          </a:p>
        </p:txBody>
      </p:sp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A14B58F3-6755-4C1B-B0D5-0B90B10E7B8D}"/>
              </a:ext>
            </a:extLst>
          </p:cNvPr>
          <p:cNvSpPr/>
          <p:nvPr/>
        </p:nvSpPr>
        <p:spPr>
          <a:xfrm>
            <a:off x="12331665" y="6156877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575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47870" y="594904"/>
            <a:ext cx="1973528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30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12708" y="6931835"/>
            <a:ext cx="1608690" cy="108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7804" spc="1108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19354" y="1793342"/>
            <a:ext cx="17552237" cy="4800945"/>
            <a:chOff x="0" y="0"/>
            <a:chExt cx="5937423" cy="162402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37423" cy="1624023"/>
            </a:xfrm>
            <a:custGeom>
              <a:avLst/>
              <a:gdLst/>
              <a:ahLst/>
              <a:cxnLst/>
              <a:rect l="l" t="t" r="r" b="b"/>
              <a:pathLst>
                <a:path w="5937423" h="1624023">
                  <a:moveTo>
                    <a:pt x="0" y="0"/>
                  </a:moveTo>
                  <a:lnTo>
                    <a:pt x="5937423" y="0"/>
                  </a:lnTo>
                  <a:lnTo>
                    <a:pt x="5937423" y="1624023"/>
                  </a:lnTo>
                  <a:lnTo>
                    <a:pt x="0" y="162402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527375" y="1929118"/>
            <a:ext cx="17156400" cy="4549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9"/>
              </a:lnSpc>
            </a:pP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Si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compro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un cd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ahora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costará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25%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más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de lo que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costaba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hace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dos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semanas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. Si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subió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$2000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semana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, ¿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cuánto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costaba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el cd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hace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2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semanas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47870" y="8723958"/>
            <a:ext cx="2592806" cy="679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3"/>
              </a:lnSpc>
            </a:pPr>
            <a:r>
              <a:rPr lang="en-US" sz="4787" spc="258">
                <a:solidFill>
                  <a:srgbClr val="000000"/>
                </a:solidFill>
                <a:latin typeface="Quicksand"/>
              </a:rPr>
              <a:t>$15.000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6679193" y="6931835"/>
            <a:ext cx="1608690" cy="108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7804" spc="1108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14355" y="8742550"/>
            <a:ext cx="2592806" cy="660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4815" spc="260">
                <a:solidFill>
                  <a:srgbClr val="000000"/>
                </a:solidFill>
                <a:latin typeface="Quicksand"/>
              </a:rPr>
              <a:t>$16.000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45678" y="6912152"/>
            <a:ext cx="1608690" cy="108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7804" spc="1108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723958"/>
            <a:ext cx="2592806" cy="6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790" spc="258">
                <a:solidFill>
                  <a:srgbClr val="000000"/>
                </a:solidFill>
                <a:latin typeface="Quicksand"/>
              </a:rPr>
              <a:t>$18.000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12163" y="6931835"/>
            <a:ext cx="1608690" cy="108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7804" spc="1108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47324" y="8743652"/>
            <a:ext cx="2610059" cy="659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1"/>
              </a:lnSpc>
            </a:pPr>
            <a:r>
              <a:rPr lang="en-US" sz="4748" spc="256">
                <a:solidFill>
                  <a:srgbClr val="000000"/>
                </a:solidFill>
                <a:latin typeface="Quicksand"/>
              </a:rPr>
              <a:t>$20.000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adroTexto 70">
            <a:extLst>
              <a:ext uri="{FF2B5EF4-FFF2-40B4-BE49-F238E27FC236}">
                <a16:creationId xmlns:a16="http://schemas.microsoft.com/office/drawing/2014/main" id="{48FF10FF-8E77-40EA-A7BC-174D1136039B}"/>
              </a:ext>
            </a:extLst>
          </p:cNvPr>
          <p:cNvSpPr txBox="1"/>
          <p:nvPr/>
        </p:nvSpPr>
        <p:spPr>
          <a:xfrm>
            <a:off x="190500" y="266700"/>
            <a:ext cx="17907000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spc="363" dirty="0">
                <a:solidFill>
                  <a:srgbClr val="000000"/>
                </a:solidFill>
                <a:latin typeface="Quicksand"/>
              </a:rPr>
              <a:t>Si </a:t>
            </a:r>
            <a:r>
              <a:rPr lang="en-US" sz="2400" spc="363" dirty="0" err="1">
                <a:solidFill>
                  <a:srgbClr val="000000"/>
                </a:solidFill>
                <a:latin typeface="Quicksand"/>
              </a:rPr>
              <a:t>compro</a:t>
            </a:r>
            <a:r>
              <a:rPr lang="en-US" sz="2400" spc="363" dirty="0">
                <a:solidFill>
                  <a:srgbClr val="000000"/>
                </a:solidFill>
                <a:latin typeface="Quicksand"/>
              </a:rPr>
              <a:t> un cd </a:t>
            </a:r>
            <a:r>
              <a:rPr lang="en-US" sz="2400" spc="363" dirty="0" err="1">
                <a:solidFill>
                  <a:srgbClr val="000000"/>
                </a:solidFill>
                <a:latin typeface="Quicksand"/>
              </a:rPr>
              <a:t>ahora</a:t>
            </a:r>
            <a:r>
              <a:rPr lang="en-US" sz="2400" spc="363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2400" spc="363" dirty="0" err="1">
                <a:solidFill>
                  <a:srgbClr val="000000"/>
                </a:solidFill>
                <a:latin typeface="Quicksand"/>
              </a:rPr>
              <a:t>costará</a:t>
            </a:r>
            <a:r>
              <a:rPr lang="en-US" sz="2400" spc="363" dirty="0">
                <a:solidFill>
                  <a:srgbClr val="000000"/>
                </a:solidFill>
                <a:latin typeface="Quicksand"/>
              </a:rPr>
              <a:t> 25% </a:t>
            </a:r>
            <a:r>
              <a:rPr lang="en-US" sz="2400" spc="363" dirty="0" err="1">
                <a:solidFill>
                  <a:srgbClr val="000000"/>
                </a:solidFill>
                <a:latin typeface="Quicksand"/>
              </a:rPr>
              <a:t>más</a:t>
            </a:r>
            <a:r>
              <a:rPr lang="en-US" sz="2400" spc="363" dirty="0">
                <a:solidFill>
                  <a:srgbClr val="000000"/>
                </a:solidFill>
                <a:latin typeface="Quicksand"/>
              </a:rPr>
              <a:t> de lo que </a:t>
            </a:r>
            <a:r>
              <a:rPr lang="en-US" sz="2400" spc="363" dirty="0" err="1">
                <a:solidFill>
                  <a:srgbClr val="000000"/>
                </a:solidFill>
                <a:latin typeface="Quicksand"/>
              </a:rPr>
              <a:t>costaba</a:t>
            </a:r>
            <a:r>
              <a:rPr lang="en-US" sz="2400" spc="36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63" dirty="0" err="1">
                <a:solidFill>
                  <a:srgbClr val="000000"/>
                </a:solidFill>
                <a:latin typeface="Quicksand"/>
              </a:rPr>
              <a:t>hace</a:t>
            </a:r>
            <a:r>
              <a:rPr lang="en-US" sz="2400" spc="363" dirty="0">
                <a:solidFill>
                  <a:srgbClr val="000000"/>
                </a:solidFill>
                <a:latin typeface="Quicksand"/>
              </a:rPr>
              <a:t> dos </a:t>
            </a:r>
            <a:r>
              <a:rPr lang="en-US" sz="2400" spc="363" dirty="0" err="1">
                <a:solidFill>
                  <a:srgbClr val="000000"/>
                </a:solidFill>
                <a:latin typeface="Quicksand"/>
              </a:rPr>
              <a:t>semanas</a:t>
            </a:r>
            <a:r>
              <a:rPr lang="en-US" sz="2400" spc="363" dirty="0">
                <a:solidFill>
                  <a:srgbClr val="000000"/>
                </a:solidFill>
                <a:latin typeface="Quicksand"/>
              </a:rPr>
              <a:t>. Si </a:t>
            </a:r>
            <a:r>
              <a:rPr lang="en-US" sz="2400" spc="363" dirty="0" err="1">
                <a:solidFill>
                  <a:srgbClr val="000000"/>
                </a:solidFill>
                <a:latin typeface="Quicksand"/>
              </a:rPr>
              <a:t>subió</a:t>
            </a:r>
            <a:r>
              <a:rPr lang="en-US" sz="2400" spc="363" dirty="0">
                <a:solidFill>
                  <a:srgbClr val="000000"/>
                </a:solidFill>
                <a:latin typeface="Quicksand"/>
              </a:rPr>
              <a:t> $2000 </a:t>
            </a:r>
            <a:r>
              <a:rPr lang="en-US" sz="2400" spc="363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2400" spc="36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63" dirty="0" err="1">
                <a:solidFill>
                  <a:srgbClr val="000000"/>
                </a:solidFill>
                <a:latin typeface="Quicksand"/>
              </a:rPr>
              <a:t>semana</a:t>
            </a:r>
            <a:r>
              <a:rPr lang="en-US" sz="2400" spc="363" dirty="0">
                <a:solidFill>
                  <a:srgbClr val="000000"/>
                </a:solidFill>
                <a:latin typeface="Quicksand"/>
              </a:rPr>
              <a:t>, ¿</a:t>
            </a:r>
            <a:r>
              <a:rPr lang="en-US" sz="2400" spc="363" dirty="0" err="1">
                <a:solidFill>
                  <a:srgbClr val="000000"/>
                </a:solidFill>
                <a:latin typeface="Quicksand"/>
              </a:rPr>
              <a:t>cuánto</a:t>
            </a:r>
            <a:r>
              <a:rPr lang="en-US" sz="2400" spc="36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400" spc="363" dirty="0" err="1">
                <a:solidFill>
                  <a:srgbClr val="000000"/>
                </a:solidFill>
                <a:latin typeface="Quicksand"/>
              </a:rPr>
              <a:t>costaba</a:t>
            </a:r>
            <a:r>
              <a:rPr lang="en-US" sz="2400" spc="363" dirty="0">
                <a:solidFill>
                  <a:srgbClr val="000000"/>
                </a:solidFill>
                <a:latin typeface="Quicksand"/>
              </a:rPr>
              <a:t> el cd </a:t>
            </a:r>
            <a:r>
              <a:rPr lang="en-US" sz="2400" spc="363" dirty="0" err="1">
                <a:solidFill>
                  <a:srgbClr val="000000"/>
                </a:solidFill>
                <a:latin typeface="Quicksand"/>
              </a:rPr>
              <a:t>hace</a:t>
            </a:r>
            <a:r>
              <a:rPr lang="en-US" sz="2400" spc="363" dirty="0">
                <a:solidFill>
                  <a:srgbClr val="000000"/>
                </a:solidFill>
                <a:latin typeface="Quicksand"/>
              </a:rPr>
              <a:t> 2 </a:t>
            </a:r>
            <a:r>
              <a:rPr lang="en-US" sz="2400" spc="363" dirty="0" err="1">
                <a:solidFill>
                  <a:srgbClr val="000000"/>
                </a:solidFill>
                <a:latin typeface="Quicksand"/>
              </a:rPr>
              <a:t>semanas</a:t>
            </a:r>
            <a:r>
              <a:rPr lang="en-US" sz="2400" spc="363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/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𝑅𝐸𝑆𝑂𝐿𝑉𝐼𝐸𝑁𝐷𝑂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𝐸𝐿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𝐸𝐽𝐸𝑅𝐶𝐼𝐶𝐼𝑂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1B1E278-055F-4888-A7B6-A101FEA8B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420" y="9358708"/>
                <a:ext cx="97543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04FFAE4-E1AE-4363-8BE4-AC8014029C91}"/>
                  </a:ext>
                </a:extLst>
              </p:cNvPr>
              <p:cNvSpPr txBox="1"/>
              <p:nvPr/>
            </p:nvSpPr>
            <p:spPr>
              <a:xfrm>
                <a:off x="183573" y="2171700"/>
                <a:ext cx="10972801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4000" b="0" i="0" smtClean="0">
                          <a:latin typeface="Cambria Math" panose="02040503050406030204" pitchFamily="18" charset="0"/>
                        </a:rPr>
                        <m:t>increment</m:t>
                      </m:r>
                      <m:r>
                        <a:rPr lang="es-ES" sz="4000" b="0" i="0" smtClean="0">
                          <a:latin typeface="Cambria Math" panose="02040503050406030204" pitchFamily="18" charset="0"/>
                        </a:rPr>
                        <m:t>ó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25%=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𝑑𝑜𝑠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𝑠𝑒𝑚𝑎𝑛𝑎𝑠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=$4000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04FFAE4-E1AE-4363-8BE4-AC8014029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73" y="2171700"/>
                <a:ext cx="10972801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BF25C13-B183-4AC3-AF59-077D7A9551DD}"/>
                  </a:ext>
                </a:extLst>
              </p:cNvPr>
              <p:cNvSpPr txBox="1"/>
              <p:nvPr/>
            </p:nvSpPr>
            <p:spPr>
              <a:xfrm>
                <a:off x="457200" y="3553479"/>
                <a:ext cx="10972801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25%−−−−−−−−−−−−$4000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BF25C13-B183-4AC3-AF59-077D7A955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553479"/>
                <a:ext cx="10972801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9BB122FF-97CD-434F-9003-0546D90F3AB7}"/>
                  </a:ext>
                </a:extLst>
              </p:cNvPr>
              <p:cNvSpPr txBox="1"/>
              <p:nvPr/>
            </p:nvSpPr>
            <p:spPr>
              <a:xfrm>
                <a:off x="190500" y="4448370"/>
                <a:ext cx="10972801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%−−−−−−−−−−−−−−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9BB122FF-97CD-434F-9003-0546D90F3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4448370"/>
                <a:ext cx="10972801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38A42E10-1424-4C9F-BB1B-CE0752C77560}"/>
                  </a:ext>
                </a:extLst>
              </p:cNvPr>
              <p:cNvSpPr txBox="1"/>
              <p:nvPr/>
            </p:nvSpPr>
            <p:spPr>
              <a:xfrm>
                <a:off x="190501" y="5847382"/>
                <a:ext cx="6591300" cy="12175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100%</m:t>
                          </m:r>
                          <m:r>
                            <a:rPr lang="es-E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×$4000</m:t>
                          </m:r>
                        </m:num>
                        <m:den>
                          <m:r>
                            <a:rPr lang="es-ES" sz="4000" b="0" i="1" smtClean="0">
                              <a:latin typeface="Cambria Math" panose="02040503050406030204" pitchFamily="18" charset="0"/>
                            </a:rPr>
                            <m:t>25%</m:t>
                          </m:r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38A42E10-1424-4C9F-BB1B-CE0752C77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1" y="5847382"/>
                <a:ext cx="6591300" cy="12175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A273473-873F-4EE0-BD9B-193C94083B2B}"/>
                  </a:ext>
                </a:extLst>
              </p:cNvPr>
              <p:cNvSpPr txBox="1"/>
              <p:nvPr/>
            </p:nvSpPr>
            <p:spPr>
              <a:xfrm>
                <a:off x="0" y="7596280"/>
                <a:ext cx="65913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4000" b="0" i="1" smtClean="0">
                          <a:latin typeface="Cambria Math" panose="02040503050406030204" pitchFamily="18" charset="0"/>
                        </a:rPr>
                        <m:t>=$16000</m:t>
                      </m:r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A273473-873F-4EE0-BD9B-193C94083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596280"/>
                <a:ext cx="6591300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73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656258" flipV="1">
            <a:off x="13457739" y="4295819"/>
            <a:ext cx="5179775" cy="600553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-6405197">
            <a:off x="2856496" y="-2227095"/>
            <a:ext cx="6419936" cy="791363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883412" y="3975755"/>
            <a:ext cx="5330268" cy="704828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278248">
            <a:off x="-393423" y="2259222"/>
            <a:ext cx="6897074" cy="661257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6813" y="-2335684"/>
            <a:ext cx="5591696" cy="648312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5655698" y="264058"/>
            <a:ext cx="9401685" cy="1447249"/>
            <a:chOff x="0" y="0"/>
            <a:chExt cx="3180323" cy="4895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0323" cy="489563"/>
            </a:xfrm>
            <a:custGeom>
              <a:avLst/>
              <a:gdLst/>
              <a:ahLst/>
              <a:cxnLst/>
              <a:rect l="l" t="t" r="r" b="b"/>
              <a:pathLst>
                <a:path w="3180323" h="489563">
                  <a:moveTo>
                    <a:pt x="0" y="0"/>
                  </a:moveTo>
                  <a:lnTo>
                    <a:pt x="3180323" y="0"/>
                  </a:lnTo>
                  <a:lnTo>
                    <a:pt x="3180323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265123" y="264058"/>
            <a:ext cx="1956275" cy="1447249"/>
            <a:chOff x="0" y="0"/>
            <a:chExt cx="661752" cy="489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1752" cy="489563"/>
            </a:xfrm>
            <a:custGeom>
              <a:avLst/>
              <a:gdLst/>
              <a:ahLst/>
              <a:cxnLst/>
              <a:rect l="l" t="t" r="r" b="b"/>
              <a:pathLst>
                <a:path w="661752" h="489563">
                  <a:moveTo>
                    <a:pt x="0" y="0"/>
                  </a:moveTo>
                  <a:lnTo>
                    <a:pt x="661752" y="0"/>
                  </a:lnTo>
                  <a:lnTo>
                    <a:pt x="661752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247870" y="6807377"/>
            <a:ext cx="2592806" cy="2595270"/>
            <a:chOff x="0" y="0"/>
            <a:chExt cx="489098" cy="489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314355" y="6807377"/>
            <a:ext cx="2592806" cy="2595270"/>
            <a:chOff x="0" y="0"/>
            <a:chExt cx="489098" cy="4895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447324" y="6807377"/>
            <a:ext cx="2592806" cy="2595270"/>
            <a:chOff x="0" y="0"/>
            <a:chExt cx="489098" cy="489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80840" y="6807377"/>
            <a:ext cx="2592806" cy="2595270"/>
            <a:chOff x="0" y="0"/>
            <a:chExt cx="489098" cy="4895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9098" cy="489563"/>
            </a:xfrm>
            <a:custGeom>
              <a:avLst/>
              <a:gdLst/>
              <a:ahLst/>
              <a:cxnLst/>
              <a:rect l="l" t="t" r="r" b="b"/>
              <a:pathLst>
                <a:path w="489098" h="489563">
                  <a:moveTo>
                    <a:pt x="0" y="0"/>
                  </a:moveTo>
                  <a:lnTo>
                    <a:pt x="489098" y="0"/>
                  </a:lnTo>
                  <a:lnTo>
                    <a:pt x="489098" y="489563"/>
                  </a:lnTo>
                  <a:lnTo>
                    <a:pt x="0" y="4895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762753" y="775194"/>
            <a:ext cx="9187575" cy="8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5711" spc="536">
                <a:solidFill>
                  <a:srgbClr val="000000"/>
                </a:solidFill>
                <a:latin typeface="League Spartan"/>
              </a:rPr>
              <a:t>APTITUD NUMÉRICA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47870" y="594904"/>
            <a:ext cx="1973528" cy="119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sz="8567" spc="1216">
                <a:solidFill>
                  <a:srgbClr val="000000"/>
                </a:solidFill>
                <a:latin typeface="League Spartan"/>
              </a:rPr>
              <a:t>30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12708" y="6931835"/>
            <a:ext cx="1608690" cy="108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7804" spc="1108">
                <a:solidFill>
                  <a:srgbClr val="000000"/>
                </a:solidFill>
                <a:latin typeface="League Spartan"/>
              </a:rPr>
              <a:t>A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19354" y="1793342"/>
            <a:ext cx="17552237" cy="4800945"/>
            <a:chOff x="0" y="0"/>
            <a:chExt cx="5937423" cy="162402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37423" cy="1624023"/>
            </a:xfrm>
            <a:custGeom>
              <a:avLst/>
              <a:gdLst/>
              <a:ahLst/>
              <a:cxnLst/>
              <a:rect l="l" t="t" r="r" b="b"/>
              <a:pathLst>
                <a:path w="5937423" h="1624023">
                  <a:moveTo>
                    <a:pt x="0" y="0"/>
                  </a:moveTo>
                  <a:lnTo>
                    <a:pt x="5937423" y="0"/>
                  </a:lnTo>
                  <a:lnTo>
                    <a:pt x="5937423" y="1624023"/>
                  </a:lnTo>
                  <a:lnTo>
                    <a:pt x="0" y="162402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527375" y="1929118"/>
            <a:ext cx="17156400" cy="4549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9"/>
              </a:lnSpc>
            </a:pP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Si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compro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un cd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ahora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costará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25%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más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de lo que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costaba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hace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dos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semanas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. Si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subió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$2000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por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semana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, ¿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cuánto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costaba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el cd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hace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 2 </a:t>
            </a:r>
            <a:r>
              <a:rPr lang="en-US" sz="6728" spc="363" dirty="0" err="1">
                <a:solidFill>
                  <a:srgbClr val="000000"/>
                </a:solidFill>
                <a:latin typeface="Quicksand"/>
              </a:rPr>
              <a:t>semanas</a:t>
            </a:r>
            <a:r>
              <a:rPr lang="en-US" sz="6728" spc="363" dirty="0">
                <a:solidFill>
                  <a:srgbClr val="000000"/>
                </a:solidFill>
                <a:latin typeface="Quicksand"/>
              </a:rPr>
              <a:t>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47870" y="8723958"/>
            <a:ext cx="2592806" cy="679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3"/>
              </a:lnSpc>
            </a:pPr>
            <a:r>
              <a:rPr lang="en-US" sz="4787" spc="258">
                <a:solidFill>
                  <a:srgbClr val="000000"/>
                </a:solidFill>
                <a:latin typeface="Quicksand"/>
              </a:rPr>
              <a:t>$15.000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19354" y="8708240"/>
            <a:ext cx="1389685" cy="1389685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6679193" y="6931835"/>
            <a:ext cx="1608690" cy="108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7804" spc="1108">
                <a:solidFill>
                  <a:srgbClr val="000000"/>
                </a:solidFill>
                <a:latin typeface="League Spartan"/>
              </a:rPr>
              <a:t>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14355" y="8742550"/>
            <a:ext cx="2592806" cy="660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4815" spc="260">
                <a:solidFill>
                  <a:srgbClr val="000000"/>
                </a:solidFill>
                <a:latin typeface="Quicksand"/>
              </a:rPr>
              <a:t>$16.000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45678" y="6912152"/>
            <a:ext cx="1608690" cy="108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7804" spc="1108">
                <a:solidFill>
                  <a:srgbClr val="000000"/>
                </a:solidFill>
                <a:latin typeface="League Spartan"/>
              </a:rPr>
              <a:t>C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0840" y="8723958"/>
            <a:ext cx="2592806" cy="6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790" spc="258">
                <a:solidFill>
                  <a:srgbClr val="000000"/>
                </a:solidFill>
                <a:latin typeface="Quicksand"/>
              </a:rPr>
              <a:t>$18.000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12163" y="6931835"/>
            <a:ext cx="1608690" cy="108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7804" spc="1108">
                <a:solidFill>
                  <a:srgbClr val="000000"/>
                </a:solidFill>
                <a:latin typeface="League Spartan"/>
              </a:rPr>
              <a:t>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47324" y="8743652"/>
            <a:ext cx="2610059" cy="659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1"/>
              </a:lnSpc>
            </a:pPr>
            <a:r>
              <a:rPr lang="en-US" sz="4748" spc="256">
                <a:solidFill>
                  <a:srgbClr val="000000"/>
                </a:solidFill>
                <a:latin typeface="Quicksand"/>
              </a:rPr>
              <a:t>$20.000</a:t>
            </a:r>
          </a:p>
        </p:txBody>
      </p:sp>
      <p:sp>
        <p:nvSpPr>
          <p:cNvPr id="33" name="Estrella: 5 puntas 32">
            <a:extLst>
              <a:ext uri="{FF2B5EF4-FFF2-40B4-BE49-F238E27FC236}">
                <a16:creationId xmlns:a16="http://schemas.microsoft.com/office/drawing/2014/main" id="{940E1B06-DFAE-4389-9234-E5CE9E8ACEA1}"/>
              </a:ext>
            </a:extLst>
          </p:cNvPr>
          <p:cNvSpPr/>
          <p:nvPr/>
        </p:nvSpPr>
        <p:spPr>
          <a:xfrm>
            <a:off x="6074320" y="6057900"/>
            <a:ext cx="2725718" cy="23615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4666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5091</TotalTime>
  <Words>6554</Words>
  <Application>Microsoft Office PowerPoint</Application>
  <PresentationFormat>Personalizado</PresentationFormat>
  <Paragraphs>898</Paragraphs>
  <Slides>88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88</vt:i4>
      </vt:variant>
    </vt:vector>
  </HeadingPairs>
  <TitlesOfParts>
    <vt:vector size="96" baseType="lpstr">
      <vt:lpstr>Arial</vt:lpstr>
      <vt:lpstr>Quicksand</vt:lpstr>
      <vt:lpstr>League Spartan</vt:lpstr>
      <vt:lpstr>Century Gothic</vt:lpstr>
      <vt:lpstr>Cambria Math</vt:lpstr>
      <vt:lpstr>Arimo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APTITUD NUMÉRICA</dc:title>
  <dc:creator>HP PC</dc:creator>
  <cp:lastModifiedBy>HP PC</cp:lastModifiedBy>
  <cp:revision>28</cp:revision>
  <dcterms:created xsi:type="dcterms:W3CDTF">2006-08-16T00:00:00Z</dcterms:created>
  <dcterms:modified xsi:type="dcterms:W3CDTF">2022-03-19T11:46:06Z</dcterms:modified>
  <dc:identifier>DAE4Ez_6O-4</dc:identifier>
</cp:coreProperties>
</file>